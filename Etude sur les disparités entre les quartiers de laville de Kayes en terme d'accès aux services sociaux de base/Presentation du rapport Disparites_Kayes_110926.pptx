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charts/chart7.xml" ContentType="application/vnd.openxmlformats-officedocument.drawingml.chart+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9.xml" ContentType="application/vnd.openxmlformats-officedocument.presentationml.notesSlide+xml"/>
  <Override PartName="/ppt/charts/chart8.xml" ContentType="application/vnd.openxmlformats-officedocument.drawingml.chart+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0.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65" r:id="rId4"/>
    <p:sldId id="258" r:id="rId5"/>
    <p:sldId id="259" r:id="rId6"/>
    <p:sldId id="281" r:id="rId7"/>
    <p:sldId id="261" r:id="rId8"/>
    <p:sldId id="286" r:id="rId9"/>
    <p:sldId id="262" r:id="rId10"/>
    <p:sldId id="263" r:id="rId11"/>
    <p:sldId id="264" r:id="rId12"/>
    <p:sldId id="285" r:id="rId13"/>
    <p:sldId id="266" r:id="rId14"/>
    <p:sldId id="267" r:id="rId15"/>
    <p:sldId id="268" r:id="rId16"/>
    <p:sldId id="269" r:id="rId17"/>
    <p:sldId id="270" r:id="rId18"/>
    <p:sldId id="271" r:id="rId19"/>
    <p:sldId id="272" r:id="rId20"/>
    <p:sldId id="273" r:id="rId21"/>
    <p:sldId id="274" r:id="rId22"/>
    <p:sldId id="275" r:id="rId23"/>
    <p:sldId id="282" r:id="rId24"/>
    <p:sldId id="276" r:id="rId25"/>
    <p:sldId id="277" r:id="rId26"/>
    <p:sldId id="278" r:id="rId27"/>
    <p:sldId id="279" r:id="rId28"/>
    <p:sldId id="283" r:id="rId29"/>
    <p:sldId id="284" r:id="rId3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53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032" y="726"/>
      </p:cViewPr>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 /></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 /></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 /></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 /></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 /></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 /></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 /></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 /></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 /></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Population</c:v>
          </c:tx>
          <c:spPr>
            <a:solidFill>
              <a:srgbClr val="276A8C"/>
            </a:solidFill>
          </c:spPr>
          <c:invertIfNegative val="1"/>
          <c:dLbls>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Kayes N’di</c:v>
                </c:pt>
                <c:pt idx="1">
                  <c:v>Lafiabougou</c:v>
                </c:pt>
                <c:pt idx="2">
                  <c:v>Plateau</c:v>
                </c:pt>
                <c:pt idx="3">
                  <c:v>Liberté</c:v>
                </c:pt>
                <c:pt idx="4">
                  <c:v>Khasso</c:v>
                </c:pt>
                <c:pt idx="5">
                  <c:v>Légal-Ségou</c:v>
                </c:pt>
              </c:strCache>
            </c:strRef>
          </c:cat>
          <c:val>
            <c:numRef>
              <c:f>'Chart Data'!$B$2:$B$7</c:f>
              <c:numCache>
                <c:formatCode>General</c:formatCode>
                <c:ptCount val="6"/>
                <c:pt idx="0">
                  <c:v>49172</c:v>
                </c:pt>
                <c:pt idx="1">
                  <c:v>41096</c:v>
                </c:pt>
                <c:pt idx="2">
                  <c:v>31375</c:v>
                </c:pt>
                <c:pt idx="3">
                  <c:v>29678</c:v>
                </c:pt>
                <c:pt idx="4">
                  <c:v>26693</c:v>
                </c:pt>
                <c:pt idx="5">
                  <c:v>26476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D32-4129-97ED-518B5BF76CF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txPr>
    <a:bodyPr/>
    <a:lstStyle/>
    <a:p>
      <a:pPr>
        <a:defRPr sz="1200" b="1">
          <a:solidFill>
            <a:schemeClr val="tx1"/>
          </a:solidFill>
        </a:defRPr>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Abonnés</c:v>
          </c:tx>
          <c:spPr>
            <a:solidFill>
              <a:srgbClr val="276A8C"/>
            </a:solidFill>
          </c:spPr>
          <c:invertIfNegative val="1"/>
          <c:dLbls>
            <c:spPr>
              <a:noFill/>
              <a:ln>
                <a:noFill/>
              </a:ln>
              <a:effectLst/>
            </c:spPr>
            <c:txPr>
              <a:bodyPr anchorCtr="1"/>
              <a:lstStyle/>
              <a:p>
                <a:pPr>
                  <a:defRPr>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Kayes N’di</c:v>
                </c:pt>
                <c:pt idx="1">
                  <c:v>Lafiabougou</c:v>
                </c:pt>
                <c:pt idx="2">
                  <c:v>Plateau</c:v>
                </c:pt>
                <c:pt idx="3">
                  <c:v>Légal-Ségou</c:v>
                </c:pt>
                <c:pt idx="4">
                  <c:v>Khasso</c:v>
                </c:pt>
                <c:pt idx="5">
                  <c:v>Liberté</c:v>
                </c:pt>
              </c:strCache>
            </c:strRef>
          </c:cat>
          <c:val>
            <c:numRef>
              <c:f>'Chart Data'!$B$2:$B$7</c:f>
              <c:numCache>
                <c:formatCode>General</c:formatCode>
                <c:ptCount val="6"/>
                <c:pt idx="0">
                  <c:v>4309</c:v>
                </c:pt>
                <c:pt idx="1">
                  <c:v>4013</c:v>
                </c:pt>
                <c:pt idx="2">
                  <c:v>3951</c:v>
                </c:pt>
                <c:pt idx="3">
                  <c:v>2060</c:v>
                </c:pt>
                <c:pt idx="4">
                  <c:v>1536</c:v>
                </c:pt>
                <c:pt idx="5">
                  <c:v>1013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188-4F52-B9CD-4AF64BB809BC}"/>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Taux</c:v>
          </c:tx>
          <c:spPr>
            <a:solidFill>
              <a:srgbClr val="58A6B5"/>
            </a:solidFill>
          </c:spPr>
          <c:invertIfNegative val="1"/>
          <c:dLbls>
            <c:spPr>
              <a:noFill/>
              <a:ln>
                <a:noFill/>
              </a:ln>
              <a:effectLst/>
            </c:spPr>
            <c:txPr>
              <a:bodyPr/>
              <a:lstStyle/>
              <a:p>
                <a:pPr>
                  <a:defRPr sz="1200"/>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Plateau</c:v>
                </c:pt>
                <c:pt idx="1">
                  <c:v>Lafiabougou</c:v>
                </c:pt>
                <c:pt idx="2">
                  <c:v>Kayes N’di</c:v>
                </c:pt>
                <c:pt idx="3">
                  <c:v>Khasso</c:v>
                </c:pt>
                <c:pt idx="4">
                  <c:v>Légal-Ségou</c:v>
                </c:pt>
                <c:pt idx="5">
                  <c:v>Liberté</c:v>
                </c:pt>
              </c:strCache>
            </c:strRef>
          </c:cat>
          <c:val>
            <c:numRef>
              <c:f>'Chart Data'!$B$2:$B$7</c:f>
              <c:numCache>
                <c:formatCode>General</c:formatCode>
                <c:ptCount val="6"/>
                <c:pt idx="0">
                  <c:v>98.23</c:v>
                </c:pt>
                <c:pt idx="1">
                  <c:v>76.17</c:v>
                </c:pt>
                <c:pt idx="2">
                  <c:v>68.349999999999994</c:v>
                </c:pt>
                <c:pt idx="3">
                  <c:v>64.45</c:v>
                </c:pt>
                <c:pt idx="4">
                  <c:v>60.69</c:v>
                </c:pt>
                <c:pt idx="5">
                  <c:v>38.22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3C5-482E-9304-36DBC799ED6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lstStyle/>
          <a:p>
            <a:pPr>
              <a:defRPr sz="1200"/>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txPr>
    <a:bodyPr/>
    <a:lstStyle/>
    <a:p>
      <a:pPr>
        <a:defRPr b="1">
          <a:solidFill>
            <a:schemeClr val="tx1"/>
          </a:solidFill>
        </a:defRPr>
      </a:pPr>
      <a:endParaRPr lang="fr-F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m³/j</c:v>
          </c:tx>
          <c:spPr>
            <a:solidFill>
              <a:srgbClr val="276A8C"/>
            </a:solidFill>
          </c:spPr>
          <c:invertIfNegative val="1"/>
          <c:dLbls>
            <c:spPr>
              <a:noFill/>
              <a:ln>
                <a:noFill/>
              </a:ln>
              <a:effectLst/>
            </c:spPr>
            <c:txPr>
              <a:bodyPr anchorCtr="1"/>
              <a:lstStyle/>
              <a:p>
                <a:pPr>
                  <a:defRPr sz="1100" b="1">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Liberté</c:v>
                </c:pt>
                <c:pt idx="1">
                  <c:v>Kayes N’di</c:v>
                </c:pt>
                <c:pt idx="2">
                  <c:v>Légal-Ségou</c:v>
                </c:pt>
                <c:pt idx="3">
                  <c:v>Lafiabougou</c:v>
                </c:pt>
                <c:pt idx="4">
                  <c:v>Khasso</c:v>
                </c:pt>
                <c:pt idx="5">
                  <c:v>Plateau</c:v>
                </c:pt>
              </c:strCache>
            </c:strRef>
          </c:cat>
          <c:val>
            <c:numRef>
              <c:f>'Chart Data'!$B$2:$B$7</c:f>
              <c:numCache>
                <c:formatCode>General</c:formatCode>
                <c:ptCount val="6"/>
                <c:pt idx="0">
                  <c:v>916.6</c:v>
                </c:pt>
                <c:pt idx="1">
                  <c:v>778.1</c:v>
                </c:pt>
                <c:pt idx="2">
                  <c:v>520.4</c:v>
                </c:pt>
                <c:pt idx="3">
                  <c:v>489.8</c:v>
                </c:pt>
                <c:pt idx="4">
                  <c:v>474.5</c:v>
                </c:pt>
                <c:pt idx="5">
                  <c:v>27.9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B1A-48CF-9EF6-CEADCF96699E}"/>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100"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v>Accès</c:v>
          </c:tx>
          <c:spPr>
            <a:solidFill>
              <a:srgbClr val="4E8C6A"/>
            </a:solidFill>
          </c:spPr>
          <c:invertIfNegative val="1"/>
          <c:dLbls>
            <c:spPr>
              <a:noFill/>
              <a:ln>
                <a:noFill/>
              </a:ln>
              <a:effectLst/>
            </c:spPr>
            <c:txPr>
              <a:bodyPr anchorCtr="1"/>
              <a:lstStyle/>
              <a:p>
                <a:pPr>
                  <a:defRPr b="1">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Khasso</c:v>
                </c:pt>
                <c:pt idx="1">
                  <c:v>Légal-Ségou</c:v>
                </c:pt>
                <c:pt idx="2">
                  <c:v>Liberté</c:v>
                </c:pt>
                <c:pt idx="3">
                  <c:v>Lafiabougou</c:v>
                </c:pt>
                <c:pt idx="4">
                  <c:v>Kayes N’di</c:v>
                </c:pt>
                <c:pt idx="5">
                  <c:v>Plateau</c:v>
                </c:pt>
              </c:strCache>
            </c:strRef>
          </c:cat>
          <c:val>
            <c:numRef>
              <c:f>'Chart Data'!$B$2:$B$7</c:f>
              <c:numCache>
                <c:formatCode>0%</c:formatCode>
                <c:ptCount val="6"/>
                <c:pt idx="0">
                  <c:v>1</c:v>
                </c:pt>
                <c:pt idx="1">
                  <c:v>1</c:v>
                </c:pt>
                <c:pt idx="2">
                  <c:v>1</c:v>
                </c:pt>
                <c:pt idx="3">
                  <c:v>0.82</c:v>
                </c:pt>
                <c:pt idx="4">
                  <c:v>0.63</c:v>
                </c:pt>
                <c:pt idx="5">
                  <c:v>0.56999999999999995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984-4881-8254-AF54F61084E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050"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ax val="1.1000000000000001"/>
          <c:min val="0"/>
        </c:scaling>
        <c:delete val="0"/>
        <c:axPos val="l"/>
        <c:numFmt formatCode="0%" sourceLinked="1"/>
        <c:majorTickMark val="none"/>
        <c:minorTickMark val="none"/>
        <c:tickLblPos val="nextTo"/>
        <c:spPr>
          <a:ln w="9525">
            <a:solidFill>
              <a:srgbClr val="D4D4D4"/>
            </a:solidFill>
            <a:prstDash val="solid"/>
          </a:ln>
        </c:spPr>
        <c:txPr>
          <a:bodyPr anchorCtr="1"/>
          <a:lstStyle/>
          <a:p>
            <a:pPr>
              <a:defRPr b="1">
                <a:solidFill>
                  <a:schemeClr val="tx1"/>
                </a:solidFill>
                <a:latin typeface="DejaVu Sans"/>
                <a:ea typeface="DejaVu Sans"/>
                <a:cs typeface="DejaVu Sans"/>
              </a:defRPr>
            </a:pPr>
            <a:endParaRPr lang="fr-FR"/>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Structures</c:v>
          </c:tx>
          <c:spPr>
            <a:solidFill>
              <a:srgbClr val="58A6B5"/>
            </a:solidFill>
          </c:spPr>
          <c:invertIfNegative val="1"/>
          <c:dLbls>
            <c:spPr>
              <a:noFill/>
              <a:ln>
                <a:noFill/>
              </a:ln>
              <a:effectLst/>
            </c:spPr>
            <c:txPr>
              <a:bodyPr anchorCtr="1"/>
              <a:lstStyle/>
              <a:p>
                <a:pPr>
                  <a:defRPr b="1">
                    <a:solidFill>
                      <a:schemeClr val="tx1"/>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Plateau</c:v>
                </c:pt>
                <c:pt idx="1">
                  <c:v>Kayes N’di</c:v>
                </c:pt>
                <c:pt idx="2">
                  <c:v>Lafiabougou</c:v>
                </c:pt>
                <c:pt idx="3">
                  <c:v>Légal-Ségou</c:v>
                </c:pt>
                <c:pt idx="4">
                  <c:v>Liberté</c:v>
                </c:pt>
                <c:pt idx="5">
                  <c:v>Khasso</c:v>
                </c:pt>
              </c:strCache>
            </c:strRef>
          </c:cat>
          <c:val>
            <c:numRef>
              <c:f>'Chart Data'!$B$2:$B$7</c:f>
              <c:numCache>
                <c:formatCode>General</c:formatCode>
                <c:ptCount val="6"/>
                <c:pt idx="0">
                  <c:v>16</c:v>
                </c:pt>
                <c:pt idx="1">
                  <c:v>7</c:v>
                </c:pt>
                <c:pt idx="2">
                  <c:v>7</c:v>
                </c:pt>
                <c:pt idx="3">
                  <c:v>6</c:v>
                </c:pt>
                <c:pt idx="4">
                  <c:v>5</c:v>
                </c:pt>
                <c:pt idx="5">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DF2-4F4B-AE98-7F4765B5B840}"/>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stacked"/>
        <c:varyColors val="0"/>
        <c:ser>
          <c:idx val="0"/>
          <c:order val="0"/>
          <c:tx>
            <c:v>Existants</c:v>
          </c:tx>
          <c:spPr>
            <a:solidFill>
              <a:srgbClr val="4E8C6A"/>
            </a:solidFill>
          </c:spPr>
          <c:invertIfNegative val="1"/>
          <c:dLbls>
            <c:spPr>
              <a:noFill/>
              <a:ln>
                <a:noFill/>
              </a:ln>
              <a:effectLst/>
            </c:spPr>
            <c:txPr>
              <a:bodyPr anchorCtr="1"/>
              <a:lstStyle/>
              <a:p>
                <a:pPr>
                  <a:defRPr sz="1100" b="1">
                    <a:latin typeface="DejaVu Sans"/>
                    <a:ea typeface="DejaVu Sans"/>
                    <a:cs typeface="DejaVu San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Kayes N’di</c:v>
                </c:pt>
                <c:pt idx="1">
                  <c:v>Lafiabougou</c:v>
                </c:pt>
                <c:pt idx="2">
                  <c:v>Liberté</c:v>
                </c:pt>
                <c:pt idx="3">
                  <c:v>Légal-Ségou</c:v>
                </c:pt>
                <c:pt idx="4">
                  <c:v>Khasso</c:v>
                </c:pt>
                <c:pt idx="5">
                  <c:v>Plateau</c:v>
                </c:pt>
              </c:strCache>
            </c:strRef>
          </c:cat>
          <c:val>
            <c:numRef>
              <c:f>'Chart Data'!$B$2:$B$7</c:f>
              <c:numCache>
                <c:formatCode>General</c:formatCode>
                <c:ptCount val="6"/>
                <c:pt idx="0">
                  <c:v>1</c:v>
                </c:pt>
                <c:pt idx="1">
                  <c:v>2</c:v>
                </c:pt>
                <c:pt idx="2">
                  <c:v>0</c:v>
                </c:pt>
                <c:pt idx="3">
                  <c:v>0</c:v>
                </c:pt>
                <c:pt idx="4">
                  <c:v>1</c:v>
                </c:pt>
                <c:pt idx="5">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985-4C5A-B2E9-83DCF80FEE92}"/>
            </c:ext>
          </c:extLst>
        </c:ser>
        <c:ser>
          <c:idx val="1"/>
          <c:order val="1"/>
          <c:tx>
            <c:v>Déficit</c:v>
          </c:tx>
          <c:spPr>
            <a:solidFill>
              <a:srgbClr val="C94B45"/>
            </a:solidFill>
          </c:spPr>
          <c:invertIfNegative val="1"/>
          <c:dLbls>
            <c:spPr>
              <a:noFill/>
              <a:ln>
                <a:noFill/>
              </a:ln>
              <a:effectLst/>
            </c:spPr>
            <c:txPr>
              <a:bodyPr anchorCtr="1"/>
              <a:lstStyle/>
              <a:p>
                <a:pPr>
                  <a:defRPr sz="1100" b="1">
                    <a:latin typeface="DejaVu Sans"/>
                    <a:ea typeface="DejaVu Sans"/>
                    <a:cs typeface="DejaVu Sans"/>
                  </a:defRPr>
                </a:pPr>
                <a:endParaRPr lang="fr-F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Data'!$C$2:$C$7</c:f>
              <c:strCache>
                <c:ptCount val="6"/>
                <c:pt idx="0">
                  <c:v>Kayes N’di</c:v>
                </c:pt>
                <c:pt idx="1">
                  <c:v>Lafiabougou</c:v>
                </c:pt>
                <c:pt idx="2">
                  <c:v>Liberté</c:v>
                </c:pt>
                <c:pt idx="3">
                  <c:v>Légal-Ségou</c:v>
                </c:pt>
                <c:pt idx="4">
                  <c:v>Khasso</c:v>
                </c:pt>
                <c:pt idx="5">
                  <c:v>Plateau</c:v>
                </c:pt>
              </c:strCache>
            </c:strRef>
          </c:cat>
          <c:val>
            <c:numRef>
              <c:f>'Chart Data'!$D$2:$D$7</c:f>
              <c:numCache>
                <c:formatCode>General</c:formatCode>
                <c:ptCount val="6"/>
                <c:pt idx="0">
                  <c:v>9</c:v>
                </c:pt>
                <c:pt idx="1">
                  <c:v>6</c:v>
                </c:pt>
                <c:pt idx="2">
                  <c:v>6</c:v>
                </c:pt>
                <c:pt idx="3">
                  <c:v>5</c:v>
                </c:pt>
                <c:pt idx="4">
                  <c:v>4</c:v>
                </c:pt>
                <c:pt idx="5">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985-4C5A-B2E9-83DCF80FEE92}"/>
            </c:ext>
          </c:extLst>
        </c:ser>
        <c:dLbls>
          <c:dLblPos val="ctr"/>
          <c:showLegendKey val="0"/>
          <c:showVal val="1"/>
          <c:showCatName val="0"/>
          <c:showSerName val="0"/>
          <c:showPercent val="0"/>
          <c:showBubbleSize val="0"/>
        </c:dLbls>
        <c:gapWidth val="150"/>
        <c:overlap val="10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legend>
      <c:legendPos val="b"/>
      <c:layout>
        <c:manualLayout>
          <c:xMode val="edge"/>
          <c:yMode val="edge"/>
          <c:x val="0.3606805774278215"/>
          <c:y val="0.91505010737294212"/>
          <c:w val="0.23863871391076119"/>
          <c:h val="6.67680744452398E-2"/>
        </c:manualLayout>
      </c:layout>
      <c:overlay val="0"/>
      <c:txPr>
        <a:bodyPr anchorCtr="1"/>
        <a:lstStyle/>
        <a:p>
          <a:pPr>
            <a:defRPr sz="1200">
              <a:latin typeface="DejaVu Sans"/>
              <a:ea typeface="DejaVu Sans"/>
              <a:cs typeface="DejaVu Sans"/>
            </a:defRPr>
          </a:pPr>
          <a:endParaRPr lang="fr-FR"/>
        </a:p>
      </c:txPr>
    </c:legend>
    <c:plotVisOnly val="1"/>
    <c:dispBlanksAs val="zero"/>
    <c:showDLblsOverMax val="1"/>
  </c:chart>
  <c:spPr>
    <a:solidFill>
      <a:srgbClr val="FFFFFF"/>
    </a:solid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v>Établissements</c:v>
          </c:tx>
          <c:spPr>
            <a:solidFill>
              <a:srgbClr val="276A8C"/>
            </a:solidFill>
          </c:spPr>
          <c:invertIfNegative val="1"/>
          <c:dLbls>
            <c:spPr>
              <a:noFill/>
              <a:ln>
                <a:noFill/>
              </a:ln>
              <a:effectLst/>
            </c:spPr>
            <c:txPr>
              <a:bodyPr anchorCtr="1"/>
              <a:lstStyle/>
              <a:p>
                <a:pPr>
                  <a:defRPr sz="1100" b="1">
                    <a:solidFill>
                      <a:schemeClr val="tx1"/>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Lafiabougou</c:v>
                </c:pt>
                <c:pt idx="1">
                  <c:v>Plateau</c:v>
                </c:pt>
                <c:pt idx="2">
                  <c:v>Légal-Ségou</c:v>
                </c:pt>
                <c:pt idx="3">
                  <c:v>Khasso</c:v>
                </c:pt>
                <c:pt idx="4">
                  <c:v>Kayes N’di</c:v>
                </c:pt>
                <c:pt idx="5">
                  <c:v>Liberté</c:v>
                </c:pt>
              </c:strCache>
            </c:strRef>
          </c:cat>
          <c:val>
            <c:numRef>
              <c:f>'Chart Data'!$B$2:$B$7</c:f>
              <c:numCache>
                <c:formatCode>General</c:formatCode>
                <c:ptCount val="6"/>
                <c:pt idx="0">
                  <c:v>59</c:v>
                </c:pt>
                <c:pt idx="1">
                  <c:v>49</c:v>
                </c:pt>
                <c:pt idx="2">
                  <c:v>34</c:v>
                </c:pt>
                <c:pt idx="3">
                  <c:v>25</c:v>
                </c:pt>
                <c:pt idx="4">
                  <c:v>24</c:v>
                </c:pt>
                <c:pt idx="5">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7FA-49E0-A695-6AF82A30F73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200"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ax val="65"/>
          <c:min val="0"/>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DejaVu Sans"/>
                <a:ea typeface="DejaVu Sans"/>
                <a:cs typeface="DejaVu Sans"/>
              </a:defRPr>
            </a:pPr>
            <a:endParaRPr lang="fr-FR"/>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Élèves/classe</c:v>
          </c:tx>
          <c:spPr>
            <a:solidFill>
              <a:srgbClr val="D9823B"/>
            </a:solidFill>
          </c:spPr>
          <c:invertIfNegative val="1"/>
          <c:dLbls>
            <c:spPr>
              <a:noFill/>
              <a:ln>
                <a:noFill/>
              </a:ln>
              <a:effectLst/>
            </c:spPr>
            <c:txPr>
              <a:bodyPr anchorCtr="1"/>
              <a:lstStyle/>
              <a:p>
                <a:pPr>
                  <a:defRPr b="1">
                    <a:solidFill>
                      <a:schemeClr val="tx1"/>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Liberté B 2e</c:v>
                </c:pt>
                <c:pt idx="1">
                  <c:v>Kayes N’di I</c:v>
                </c:pt>
                <c:pt idx="2">
                  <c:v>Lafia III</c:v>
                </c:pt>
                <c:pt idx="3">
                  <c:v>CS HFOS</c:v>
                </c:pt>
                <c:pt idx="4">
                  <c:v>Lafia II</c:v>
                </c:pt>
                <c:pt idx="5">
                  <c:v>Bencounda A</c:v>
                </c:pt>
              </c:strCache>
            </c:strRef>
          </c:cat>
          <c:val>
            <c:numRef>
              <c:f>'Chart Data'!$B$2:$B$7</c:f>
              <c:numCache>
                <c:formatCode>General</c:formatCode>
                <c:ptCount val="6"/>
                <c:pt idx="0">
                  <c:v>195</c:v>
                </c:pt>
                <c:pt idx="1">
                  <c:v>170</c:v>
                </c:pt>
                <c:pt idx="2">
                  <c:v>148</c:v>
                </c:pt>
                <c:pt idx="3">
                  <c:v>144</c:v>
                </c:pt>
                <c:pt idx="4">
                  <c:v>143</c:v>
                </c:pt>
                <c:pt idx="5">
                  <c:v>139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4DA-42C6-81B7-9B1E932F6BA1}"/>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0"/>
        <c:ser>
          <c:idx val="0"/>
          <c:order val="0"/>
          <c:tx>
            <c:v>Millions FCFA TTC</c:v>
          </c:tx>
          <c:spPr>
            <a:solidFill>
              <a:srgbClr val="276A8C"/>
            </a:solidFill>
          </c:spPr>
          <c:invertIfNegative val="1"/>
          <c:dLbls>
            <c:spPr>
              <a:noFill/>
              <a:ln>
                <a:noFill/>
              </a:ln>
              <a:effectLst/>
            </c:spPr>
            <c:txPr>
              <a:bodyPr anchorCtr="1"/>
              <a:lstStyle/>
              <a:p>
                <a:pPr>
                  <a:defRPr sz="1100" b="1">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Écoles 1er cycle</c:v>
                </c:pt>
                <c:pt idx="1">
                  <c:v>CSCOM</c:v>
                </c:pt>
                <c:pt idx="2">
                  <c:v>Forages</c:v>
                </c:pt>
                <c:pt idx="3">
                  <c:v>Écoles 2e cycle</c:v>
                </c:pt>
                <c:pt idx="4">
                  <c:v>Dépôt</c:v>
                </c:pt>
              </c:strCache>
            </c:strRef>
          </c:cat>
          <c:val>
            <c:numRef>
              <c:f>'Chart Data'!$B$2:$B$6</c:f>
              <c:numCache>
                <c:formatCode>General</c:formatCode>
                <c:ptCount val="5"/>
                <c:pt idx="0">
                  <c:v>254.5</c:v>
                </c:pt>
                <c:pt idx="1">
                  <c:v>194.3</c:v>
                </c:pt>
                <c:pt idx="2">
                  <c:v>143.9</c:v>
                </c:pt>
                <c:pt idx="3">
                  <c:v>120.2</c:v>
                </c:pt>
                <c:pt idx="4">
                  <c:v>53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D9B-4D90-A310-26AE482459C7}"/>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4D4D4"/>
            </a:solidFill>
            <a:prstDash val="solid"/>
          </a:ln>
        </c:spPr>
        <c:txPr>
          <a:bodyPr anchorCtr="1"/>
          <a:lstStyle/>
          <a:p>
            <a:pPr>
              <a:defRPr sz="1100" b="1">
                <a:solidFill>
                  <a:schemeClr val="tx1"/>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0NoLn">
    <dgm:fillClrLst meth="repeat">
      <a:schemeClr val="accent2"/>
    </dgm:fillClrLst>
    <dgm:linClrLst meth="repeat">
      <a:schemeClr val="lt1">
        <a:alpha val="0"/>
      </a:schemeClr>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1NoLn">
    <dgm:fillClrLst>
      <a:schemeClr val="accent3"/>
      <a:schemeClr val="accent4"/>
    </dgm:fillClrLst>
    <dgm:linClrLst meth="repeat">
      <a:schemeClr val="lt1">
        <a:alpha val="0"/>
      </a:schemeClr>
    </dgm:linClrLst>
    <dgm:effectClrLst/>
    <dgm:txLinClrLst/>
    <dgm:txFillClrLst/>
    <dgm:txEffectClrLst/>
  </dgm:styleLbl>
  <dgm:styleLbl name="ltNode1NoLn">
    <dgm:fillClrLst>
      <a:schemeClr val="accent3">
        <a:tint val="75000"/>
      </a:schemeClr>
      <a:schemeClr val="accent4">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2NoLn">
    <dgm:fillClrLst>
      <a:schemeClr val="accent4"/>
    </dgm:fillClrLst>
    <dgm:linClrLst meth="repeat">
      <a:schemeClr val="lt1">
        <a:alpha val="0"/>
      </a:schemeClr>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3NoLn">
    <dgm:fillClrLst>
      <a:schemeClr val="accent5"/>
    </dgm:fillClrLst>
    <dgm:linClrLst meth="repeat">
      <a:schemeClr val="lt1">
        <a:alpha val="0"/>
      </a:schemeClr>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node4NoLn">
    <dgm:fillClrLst>
      <a:schemeClr val="accent6"/>
    </dgm:fillClrLst>
    <dgm:linClrLst meth="repeat">
      <a:schemeClr val="lt1">
        <a:alpha val="0"/>
      </a:schemeClr>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45EAB93-AF16-4222-8467-1BD6C9D5E1E2}" type="doc">
      <dgm:prSet loTypeId="urn:microsoft.com/office/officeart/2008/layout/VerticalCurvedList" loCatId="list" qsTypeId="urn:microsoft.com/office/officeart/2005/8/quickstyle/3d1#1" qsCatId="3D" csTypeId="urn:microsoft.com/office/officeart/2005/8/colors/colorful3#1" csCatId="colorful" phldr="1"/>
      <dgm:spPr/>
      <dgm:t>
        <a:bodyPr/>
        <a:lstStyle/>
        <a:p>
          <a:endParaRPr lang="fr-FR"/>
        </a:p>
      </dgm:t>
    </dgm:pt>
    <dgm:pt modelId="{B48E9C03-7AAC-4901-B72D-C8ED46900FF9}">
      <dgm:prSet phldrT="[Texte]"/>
      <dgm:spPr/>
      <dgm:t>
        <a:bodyPr/>
        <a:lstStyle/>
        <a:p>
          <a:r>
            <a:rPr lang="fr-FR" b="0">
              <a:latin typeface="DejaVu Sans"/>
              <a:ea typeface="DejaVu Sans"/>
              <a:cs typeface="DejaVu Sans"/>
            </a:rPr>
            <a:t>La Politique Nationale de la Ville, adoptée en 2014, vise un développement urbain sûr et équilibré</a:t>
          </a:r>
          <a:endParaRPr lang="fr-FR" dirty="0"/>
        </a:p>
      </dgm:t>
    </dgm:pt>
    <dgm:pt modelId="{4BE5EC19-EF50-4C92-ABCB-584F217F4CAD}" type="parTrans" cxnId="{B3318E65-A073-43A9-95B0-7C4B37FE7EEC}">
      <dgm:prSet/>
      <dgm:spPr/>
      <dgm:t>
        <a:bodyPr/>
        <a:lstStyle/>
        <a:p>
          <a:endParaRPr lang="fr-FR"/>
        </a:p>
      </dgm:t>
    </dgm:pt>
    <dgm:pt modelId="{7718996A-5654-49AB-8CB5-456C3D623107}" type="sibTrans" cxnId="{B3318E65-A073-43A9-95B0-7C4B37FE7EEC}">
      <dgm:prSet/>
      <dgm:spPr/>
      <dgm:t>
        <a:bodyPr/>
        <a:lstStyle/>
        <a:p>
          <a:endParaRPr lang="fr-FR"/>
        </a:p>
      </dgm:t>
    </dgm:pt>
    <dgm:pt modelId="{CCD5FEDB-51B1-4348-8D7A-0B07967CC9B0}">
      <dgm:prSet phldrT="[Texte]"/>
      <dgm:spPr/>
      <dgm:t>
        <a:bodyPr/>
        <a:lstStyle/>
        <a:p>
          <a:r>
            <a:rPr lang="fr-FR" b="0">
              <a:latin typeface="DejaVu Sans"/>
              <a:ea typeface="DejaVu Sans"/>
              <a:cs typeface="DejaVu Sans"/>
            </a:rPr>
            <a:t>L’ONAV, créé en 2016, produit des connaissances pour mieux maîtriser la croissance des villes </a:t>
          </a:r>
          <a:endParaRPr lang="fr-FR" dirty="0"/>
        </a:p>
      </dgm:t>
    </dgm:pt>
    <dgm:pt modelId="{12678581-85E5-4C73-801B-F9F0EEFEA15D}" type="parTrans" cxnId="{58762BDB-FF1E-4056-BD1B-5F6A4160F393}">
      <dgm:prSet/>
      <dgm:spPr/>
      <dgm:t>
        <a:bodyPr/>
        <a:lstStyle/>
        <a:p>
          <a:endParaRPr lang="fr-FR"/>
        </a:p>
      </dgm:t>
    </dgm:pt>
    <dgm:pt modelId="{67E4C0D3-A4FF-4E98-8CE9-09A33EFD2453}" type="sibTrans" cxnId="{58762BDB-FF1E-4056-BD1B-5F6A4160F393}">
      <dgm:prSet/>
      <dgm:spPr/>
      <dgm:t>
        <a:bodyPr/>
        <a:lstStyle/>
        <a:p>
          <a:endParaRPr lang="fr-FR"/>
        </a:p>
      </dgm:t>
    </dgm:pt>
    <dgm:pt modelId="{528DBBCE-EE3D-49B6-A3BA-5A56F3197B61}">
      <dgm:prSet phldrT="[Texte]"/>
      <dgm:spPr/>
      <dgm:t>
        <a:bodyPr/>
        <a:lstStyle/>
        <a:p>
          <a:r>
            <a:rPr lang="fr-FR" b="0">
              <a:latin typeface="DejaVu Sans"/>
              <a:ea typeface="DejaVu Sans"/>
              <a:cs typeface="DejaVu Sans"/>
            </a:rPr>
            <a:t>À Kayes, les disparités intra-urbaines restent insuffisamment documentées</a:t>
          </a:r>
          <a:endParaRPr lang="fr-FR" dirty="0"/>
        </a:p>
      </dgm:t>
    </dgm:pt>
    <dgm:pt modelId="{49C68AD6-4487-46F6-9065-C58C1EBB5EBD}" type="parTrans" cxnId="{02A2D98D-A3E0-41CF-B84D-DD24D91B1D30}">
      <dgm:prSet/>
      <dgm:spPr/>
      <dgm:t>
        <a:bodyPr/>
        <a:lstStyle/>
        <a:p>
          <a:endParaRPr lang="fr-FR"/>
        </a:p>
      </dgm:t>
    </dgm:pt>
    <dgm:pt modelId="{ECB824CC-7FA9-4CFA-AD69-45BB82564AF1}" type="sibTrans" cxnId="{02A2D98D-A3E0-41CF-B84D-DD24D91B1D30}">
      <dgm:prSet/>
      <dgm:spPr/>
      <dgm:t>
        <a:bodyPr/>
        <a:lstStyle/>
        <a:p>
          <a:endParaRPr lang="fr-FR"/>
        </a:p>
      </dgm:t>
    </dgm:pt>
    <dgm:pt modelId="{0A520478-63E7-4B11-968E-136C7CBE0387}">
      <dgm:prSet phldrT="[Texte]"/>
      <dgm:spPr/>
      <dgm:t>
        <a:bodyPr/>
        <a:lstStyle/>
        <a:p>
          <a:r>
            <a:rPr lang="fr-FR" b="0" dirty="0">
              <a:latin typeface="DejaVu Sans"/>
              <a:ea typeface="DejaVu Sans"/>
              <a:cs typeface="DejaVu Sans"/>
            </a:rPr>
            <a:t>L’étude doit fournir des éléments objectifs pour orienter la planification et les investissements</a:t>
          </a:r>
          <a:endParaRPr lang="fr-FR" dirty="0"/>
        </a:p>
      </dgm:t>
    </dgm:pt>
    <dgm:pt modelId="{5FC98481-3326-41E9-B1AC-7ACE794DBD46}" type="parTrans" cxnId="{D33CD1B6-0999-4E56-A834-F00F025CCBDB}">
      <dgm:prSet/>
      <dgm:spPr/>
      <dgm:t>
        <a:bodyPr/>
        <a:lstStyle/>
        <a:p>
          <a:endParaRPr lang="fr-FR"/>
        </a:p>
      </dgm:t>
    </dgm:pt>
    <dgm:pt modelId="{A8B1F20F-7189-4914-A76C-7C7ABC26D1CF}" type="sibTrans" cxnId="{D33CD1B6-0999-4E56-A834-F00F025CCBDB}">
      <dgm:prSet/>
      <dgm:spPr/>
      <dgm:t>
        <a:bodyPr/>
        <a:lstStyle/>
        <a:p>
          <a:endParaRPr lang="fr-FR"/>
        </a:p>
      </dgm:t>
    </dgm:pt>
    <dgm:pt modelId="{21B2E19F-A3B4-43CE-B977-5F85D406E949}" type="pres">
      <dgm:prSet presAssocID="{745EAB93-AF16-4222-8467-1BD6C9D5E1E2}" presName="Name0" presStyleCnt="0">
        <dgm:presLayoutVars>
          <dgm:chMax val="7"/>
          <dgm:chPref val="7"/>
          <dgm:dir/>
        </dgm:presLayoutVars>
      </dgm:prSet>
      <dgm:spPr/>
    </dgm:pt>
    <dgm:pt modelId="{31AA4948-178A-4298-9ED7-2D1349B0DFFE}" type="pres">
      <dgm:prSet presAssocID="{745EAB93-AF16-4222-8467-1BD6C9D5E1E2}" presName="Name1" presStyleCnt="0"/>
      <dgm:spPr/>
    </dgm:pt>
    <dgm:pt modelId="{3DA3AA72-2BC0-438F-AD16-3BE165DADE68}" type="pres">
      <dgm:prSet presAssocID="{745EAB93-AF16-4222-8467-1BD6C9D5E1E2}" presName="cycle" presStyleCnt="0"/>
      <dgm:spPr/>
    </dgm:pt>
    <dgm:pt modelId="{10316093-E315-4BD1-87A0-E097B6ADB8BF}" type="pres">
      <dgm:prSet presAssocID="{745EAB93-AF16-4222-8467-1BD6C9D5E1E2}" presName="srcNode" presStyleLbl="node1" presStyleIdx="0" presStyleCnt="4"/>
      <dgm:spPr/>
    </dgm:pt>
    <dgm:pt modelId="{CB3F8771-E986-4AF5-B4E1-BB697E6688B4}" type="pres">
      <dgm:prSet presAssocID="{745EAB93-AF16-4222-8467-1BD6C9D5E1E2}" presName="conn" presStyleLbl="parChTrans1D2" presStyleIdx="0" presStyleCnt="1"/>
      <dgm:spPr/>
    </dgm:pt>
    <dgm:pt modelId="{EE6E65C4-7224-4EE2-8682-3CC141E3E81D}" type="pres">
      <dgm:prSet presAssocID="{745EAB93-AF16-4222-8467-1BD6C9D5E1E2}" presName="extraNode" presStyleLbl="node1" presStyleIdx="0" presStyleCnt="4"/>
      <dgm:spPr/>
    </dgm:pt>
    <dgm:pt modelId="{5E399BCF-2551-4D64-B0F9-07673EDDBDC6}" type="pres">
      <dgm:prSet presAssocID="{745EAB93-AF16-4222-8467-1BD6C9D5E1E2}" presName="dstNode" presStyleLbl="node1" presStyleIdx="0" presStyleCnt="4"/>
      <dgm:spPr/>
    </dgm:pt>
    <dgm:pt modelId="{A457E10F-5550-45D7-92C1-C5E06CD511D8}" type="pres">
      <dgm:prSet presAssocID="{B48E9C03-7AAC-4901-B72D-C8ED46900FF9}" presName="text_1" presStyleLbl="node1" presStyleIdx="0" presStyleCnt="4">
        <dgm:presLayoutVars>
          <dgm:bulletEnabled val="1"/>
        </dgm:presLayoutVars>
      </dgm:prSet>
      <dgm:spPr/>
    </dgm:pt>
    <dgm:pt modelId="{C5EFE93A-5D9E-4C8B-963F-F1177E6855DB}" type="pres">
      <dgm:prSet presAssocID="{B48E9C03-7AAC-4901-B72D-C8ED46900FF9}" presName="accent_1" presStyleCnt="0"/>
      <dgm:spPr/>
    </dgm:pt>
    <dgm:pt modelId="{EF0589F6-BFA9-4324-A5D6-427B6C363902}" type="pres">
      <dgm:prSet presAssocID="{B48E9C03-7AAC-4901-B72D-C8ED46900FF9}" presName="accentRepeatNode" presStyleLbl="solidFgAcc1" presStyleIdx="0" presStyleCnt="4"/>
      <dgm:spPr/>
    </dgm:pt>
    <dgm:pt modelId="{EFB991D5-01AC-4107-907A-4960A41D34A4}" type="pres">
      <dgm:prSet presAssocID="{CCD5FEDB-51B1-4348-8D7A-0B07967CC9B0}" presName="text_2" presStyleLbl="node1" presStyleIdx="1" presStyleCnt="4">
        <dgm:presLayoutVars>
          <dgm:bulletEnabled val="1"/>
        </dgm:presLayoutVars>
      </dgm:prSet>
      <dgm:spPr/>
    </dgm:pt>
    <dgm:pt modelId="{F665509D-FC83-46ED-B7C0-06EF07562957}" type="pres">
      <dgm:prSet presAssocID="{CCD5FEDB-51B1-4348-8D7A-0B07967CC9B0}" presName="accent_2" presStyleCnt="0"/>
      <dgm:spPr/>
    </dgm:pt>
    <dgm:pt modelId="{56EF6982-2737-448D-8066-E376092C4603}" type="pres">
      <dgm:prSet presAssocID="{CCD5FEDB-51B1-4348-8D7A-0B07967CC9B0}" presName="accentRepeatNode" presStyleLbl="solidFgAcc1" presStyleIdx="1" presStyleCnt="4"/>
      <dgm:spPr/>
    </dgm:pt>
    <dgm:pt modelId="{CE6E5107-F199-4239-8E4A-43F6B859BC6A}" type="pres">
      <dgm:prSet presAssocID="{528DBBCE-EE3D-49B6-A3BA-5A56F3197B61}" presName="text_3" presStyleLbl="node1" presStyleIdx="2" presStyleCnt="4">
        <dgm:presLayoutVars>
          <dgm:bulletEnabled val="1"/>
        </dgm:presLayoutVars>
      </dgm:prSet>
      <dgm:spPr/>
    </dgm:pt>
    <dgm:pt modelId="{6651A807-9A30-4665-A2F0-B1747F4EF586}" type="pres">
      <dgm:prSet presAssocID="{528DBBCE-EE3D-49B6-A3BA-5A56F3197B61}" presName="accent_3" presStyleCnt="0"/>
      <dgm:spPr/>
    </dgm:pt>
    <dgm:pt modelId="{1A7D3966-3340-4763-9337-DCA692E64C8B}" type="pres">
      <dgm:prSet presAssocID="{528DBBCE-EE3D-49B6-A3BA-5A56F3197B61}" presName="accentRepeatNode" presStyleLbl="solidFgAcc1" presStyleIdx="2" presStyleCnt="4"/>
      <dgm:spPr/>
    </dgm:pt>
    <dgm:pt modelId="{63A62B22-1A8C-47DF-A9DE-C72106F4BE25}" type="pres">
      <dgm:prSet presAssocID="{0A520478-63E7-4B11-968E-136C7CBE0387}" presName="text_4" presStyleLbl="node1" presStyleIdx="3" presStyleCnt="4">
        <dgm:presLayoutVars>
          <dgm:bulletEnabled val="1"/>
        </dgm:presLayoutVars>
      </dgm:prSet>
      <dgm:spPr/>
    </dgm:pt>
    <dgm:pt modelId="{BC5D7102-1D69-43FE-AB20-13A10B05C0E6}" type="pres">
      <dgm:prSet presAssocID="{0A520478-63E7-4B11-968E-136C7CBE0387}" presName="accent_4" presStyleCnt="0"/>
      <dgm:spPr/>
    </dgm:pt>
    <dgm:pt modelId="{A2B8D34D-F3E0-47E1-8289-7BB01B3B44CF}" type="pres">
      <dgm:prSet presAssocID="{0A520478-63E7-4B11-968E-136C7CBE0387}" presName="accentRepeatNode" presStyleLbl="solidFgAcc1" presStyleIdx="3" presStyleCnt="4"/>
      <dgm:spPr/>
    </dgm:pt>
  </dgm:ptLst>
  <dgm:cxnLst>
    <dgm:cxn modelId="{8295261D-9B03-4045-A93A-02EAF90404C9}" type="presOf" srcId="{528DBBCE-EE3D-49B6-A3BA-5A56F3197B61}" destId="{CE6E5107-F199-4239-8E4A-43F6B859BC6A}" srcOrd="0" destOrd="0" presId="urn:microsoft.com/office/officeart/2008/layout/VerticalCurvedList"/>
    <dgm:cxn modelId="{B3318E65-A073-43A9-95B0-7C4B37FE7EEC}" srcId="{745EAB93-AF16-4222-8467-1BD6C9D5E1E2}" destId="{B48E9C03-7AAC-4901-B72D-C8ED46900FF9}" srcOrd="0" destOrd="0" parTransId="{4BE5EC19-EF50-4C92-ABCB-584F217F4CAD}" sibTransId="{7718996A-5654-49AB-8CB5-456C3D623107}"/>
    <dgm:cxn modelId="{6DB63047-E316-43DF-B264-AC73BEDFE132}" type="presOf" srcId="{745EAB93-AF16-4222-8467-1BD6C9D5E1E2}" destId="{21B2E19F-A3B4-43CE-B977-5F85D406E949}" srcOrd="0" destOrd="0" presId="urn:microsoft.com/office/officeart/2008/layout/VerticalCurvedList"/>
    <dgm:cxn modelId="{19DF9552-2353-467C-84A6-F589383D48F6}" type="presOf" srcId="{CCD5FEDB-51B1-4348-8D7A-0B07967CC9B0}" destId="{EFB991D5-01AC-4107-907A-4960A41D34A4}" srcOrd="0" destOrd="0" presId="urn:microsoft.com/office/officeart/2008/layout/VerticalCurvedList"/>
    <dgm:cxn modelId="{5A182B7F-365C-4A6F-B908-E7E50979DB75}" type="presOf" srcId="{B48E9C03-7AAC-4901-B72D-C8ED46900FF9}" destId="{A457E10F-5550-45D7-92C1-C5E06CD511D8}" srcOrd="0" destOrd="0" presId="urn:microsoft.com/office/officeart/2008/layout/VerticalCurvedList"/>
    <dgm:cxn modelId="{02A2D98D-A3E0-41CF-B84D-DD24D91B1D30}" srcId="{745EAB93-AF16-4222-8467-1BD6C9D5E1E2}" destId="{528DBBCE-EE3D-49B6-A3BA-5A56F3197B61}" srcOrd="2" destOrd="0" parTransId="{49C68AD6-4487-46F6-9065-C58C1EBB5EBD}" sibTransId="{ECB824CC-7FA9-4CFA-AD69-45BB82564AF1}"/>
    <dgm:cxn modelId="{D33CD1B6-0999-4E56-A834-F00F025CCBDB}" srcId="{745EAB93-AF16-4222-8467-1BD6C9D5E1E2}" destId="{0A520478-63E7-4B11-968E-136C7CBE0387}" srcOrd="3" destOrd="0" parTransId="{5FC98481-3326-41E9-B1AC-7ACE794DBD46}" sibTransId="{A8B1F20F-7189-4914-A76C-7C7ABC26D1CF}"/>
    <dgm:cxn modelId="{6FCA08D3-8163-495D-A6EF-51EA0635C5D9}" type="presOf" srcId="{7718996A-5654-49AB-8CB5-456C3D623107}" destId="{CB3F8771-E986-4AF5-B4E1-BB697E6688B4}" srcOrd="0" destOrd="0" presId="urn:microsoft.com/office/officeart/2008/layout/VerticalCurvedList"/>
    <dgm:cxn modelId="{58762BDB-FF1E-4056-BD1B-5F6A4160F393}" srcId="{745EAB93-AF16-4222-8467-1BD6C9D5E1E2}" destId="{CCD5FEDB-51B1-4348-8D7A-0B07967CC9B0}" srcOrd="1" destOrd="0" parTransId="{12678581-85E5-4C73-801B-F9F0EEFEA15D}" sibTransId="{67E4C0D3-A4FF-4E98-8CE9-09A33EFD2453}"/>
    <dgm:cxn modelId="{00DD9FE1-8C74-4C9B-8775-C043C7879308}" type="presOf" srcId="{0A520478-63E7-4B11-968E-136C7CBE0387}" destId="{63A62B22-1A8C-47DF-A9DE-C72106F4BE25}" srcOrd="0" destOrd="0" presId="urn:microsoft.com/office/officeart/2008/layout/VerticalCurvedList"/>
    <dgm:cxn modelId="{BD75574B-DC94-4FF9-A2D1-4A3BB943CF1E}" type="presParOf" srcId="{21B2E19F-A3B4-43CE-B977-5F85D406E949}" destId="{31AA4948-178A-4298-9ED7-2D1349B0DFFE}" srcOrd="0" destOrd="0" presId="urn:microsoft.com/office/officeart/2008/layout/VerticalCurvedList"/>
    <dgm:cxn modelId="{BD74C194-A207-4DA7-8214-E5E9FAB27910}" type="presParOf" srcId="{31AA4948-178A-4298-9ED7-2D1349B0DFFE}" destId="{3DA3AA72-2BC0-438F-AD16-3BE165DADE68}" srcOrd="0" destOrd="0" presId="urn:microsoft.com/office/officeart/2008/layout/VerticalCurvedList"/>
    <dgm:cxn modelId="{ED2E3E81-FEBA-4019-AA71-72DD3D3F11C9}" type="presParOf" srcId="{3DA3AA72-2BC0-438F-AD16-3BE165DADE68}" destId="{10316093-E315-4BD1-87A0-E097B6ADB8BF}" srcOrd="0" destOrd="0" presId="urn:microsoft.com/office/officeart/2008/layout/VerticalCurvedList"/>
    <dgm:cxn modelId="{DC0EDE44-B270-4725-B878-22E6FB87EDB8}" type="presParOf" srcId="{3DA3AA72-2BC0-438F-AD16-3BE165DADE68}" destId="{CB3F8771-E986-4AF5-B4E1-BB697E6688B4}" srcOrd="1" destOrd="0" presId="urn:microsoft.com/office/officeart/2008/layout/VerticalCurvedList"/>
    <dgm:cxn modelId="{D3C1BF58-C5F0-4FFD-B7F6-92EEECE14B1A}" type="presParOf" srcId="{3DA3AA72-2BC0-438F-AD16-3BE165DADE68}" destId="{EE6E65C4-7224-4EE2-8682-3CC141E3E81D}" srcOrd="2" destOrd="0" presId="urn:microsoft.com/office/officeart/2008/layout/VerticalCurvedList"/>
    <dgm:cxn modelId="{1BF77AC5-4FB4-4F5C-912A-E8A3D152CA86}" type="presParOf" srcId="{3DA3AA72-2BC0-438F-AD16-3BE165DADE68}" destId="{5E399BCF-2551-4D64-B0F9-07673EDDBDC6}" srcOrd="3" destOrd="0" presId="urn:microsoft.com/office/officeart/2008/layout/VerticalCurvedList"/>
    <dgm:cxn modelId="{60A9CB4C-75DC-4B51-9BB4-F3B8E005BE82}" type="presParOf" srcId="{31AA4948-178A-4298-9ED7-2D1349B0DFFE}" destId="{A457E10F-5550-45D7-92C1-C5E06CD511D8}" srcOrd="1" destOrd="0" presId="urn:microsoft.com/office/officeart/2008/layout/VerticalCurvedList"/>
    <dgm:cxn modelId="{DE1D35A5-9B02-4B52-A1D9-380B6881F2A7}" type="presParOf" srcId="{31AA4948-178A-4298-9ED7-2D1349B0DFFE}" destId="{C5EFE93A-5D9E-4C8B-963F-F1177E6855DB}" srcOrd="2" destOrd="0" presId="urn:microsoft.com/office/officeart/2008/layout/VerticalCurvedList"/>
    <dgm:cxn modelId="{77840DB0-4F62-4CA3-AD51-660E1D1B74F7}" type="presParOf" srcId="{C5EFE93A-5D9E-4C8B-963F-F1177E6855DB}" destId="{EF0589F6-BFA9-4324-A5D6-427B6C363902}" srcOrd="0" destOrd="0" presId="urn:microsoft.com/office/officeart/2008/layout/VerticalCurvedList"/>
    <dgm:cxn modelId="{07A72EA7-325F-4F6D-BBF1-FC5BE8EBD9B6}" type="presParOf" srcId="{31AA4948-178A-4298-9ED7-2D1349B0DFFE}" destId="{EFB991D5-01AC-4107-907A-4960A41D34A4}" srcOrd="3" destOrd="0" presId="urn:microsoft.com/office/officeart/2008/layout/VerticalCurvedList"/>
    <dgm:cxn modelId="{B918028A-EC53-45B9-88C2-16ACF2396064}" type="presParOf" srcId="{31AA4948-178A-4298-9ED7-2D1349B0DFFE}" destId="{F665509D-FC83-46ED-B7C0-06EF07562957}" srcOrd="4" destOrd="0" presId="urn:microsoft.com/office/officeart/2008/layout/VerticalCurvedList"/>
    <dgm:cxn modelId="{AD080C60-065A-425B-B487-91F74BB038C6}" type="presParOf" srcId="{F665509D-FC83-46ED-B7C0-06EF07562957}" destId="{56EF6982-2737-448D-8066-E376092C4603}" srcOrd="0" destOrd="0" presId="urn:microsoft.com/office/officeart/2008/layout/VerticalCurvedList"/>
    <dgm:cxn modelId="{85DE81E5-1168-4E8E-B502-E5C2593AC724}" type="presParOf" srcId="{31AA4948-178A-4298-9ED7-2D1349B0DFFE}" destId="{CE6E5107-F199-4239-8E4A-43F6B859BC6A}" srcOrd="5" destOrd="0" presId="urn:microsoft.com/office/officeart/2008/layout/VerticalCurvedList"/>
    <dgm:cxn modelId="{7FC8B5F6-A32F-496B-B2B9-CFC340812BD4}" type="presParOf" srcId="{31AA4948-178A-4298-9ED7-2D1349B0DFFE}" destId="{6651A807-9A30-4665-A2F0-B1747F4EF586}" srcOrd="6" destOrd="0" presId="urn:microsoft.com/office/officeart/2008/layout/VerticalCurvedList"/>
    <dgm:cxn modelId="{240A4BA6-D29F-4F39-91D9-117064F31C06}" type="presParOf" srcId="{6651A807-9A30-4665-A2F0-B1747F4EF586}" destId="{1A7D3966-3340-4763-9337-DCA692E64C8B}" srcOrd="0" destOrd="0" presId="urn:microsoft.com/office/officeart/2008/layout/VerticalCurvedList"/>
    <dgm:cxn modelId="{B42CCF93-648E-4B09-AEF6-563B6F4EBE66}" type="presParOf" srcId="{31AA4948-178A-4298-9ED7-2D1349B0DFFE}" destId="{63A62B22-1A8C-47DF-A9DE-C72106F4BE25}" srcOrd="7" destOrd="0" presId="urn:microsoft.com/office/officeart/2008/layout/VerticalCurvedList"/>
    <dgm:cxn modelId="{6AF5E7F5-B6DB-425C-8144-574A119B2475}" type="presParOf" srcId="{31AA4948-178A-4298-9ED7-2D1349B0DFFE}" destId="{BC5D7102-1D69-43FE-AB20-13A10B05C0E6}" srcOrd="8" destOrd="0" presId="urn:microsoft.com/office/officeart/2008/layout/VerticalCurvedList"/>
    <dgm:cxn modelId="{3008A456-84DE-4D41-9B10-3F6820C2888F}" type="presParOf" srcId="{BC5D7102-1D69-43FE-AB20-13A10B05C0E6}" destId="{A2B8D34D-F3E0-47E1-8289-7BB01B3B44C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BD31FA-F9C8-4135-B4E1-FEB8DA500C88}" type="doc">
      <dgm:prSet loTypeId="urn:microsoft.com/office/officeart/2005/8/layout/hProcess9" loCatId="process" qsTypeId="urn:microsoft.com/office/officeart/2005/8/quickstyle/simple1#1" qsCatId="simple" csTypeId="urn:microsoft.com/office/officeart/2005/8/colors/accent1_2#1" csCatId="accent1" phldr="1"/>
      <dgm:spPr/>
      <dgm:t>
        <a:bodyPr/>
        <a:lstStyle/>
        <a:p>
          <a:endParaRPr lang="fr-FR"/>
        </a:p>
      </dgm:t>
    </dgm:pt>
    <dgm:pt modelId="{B075139D-8888-4890-B83E-2CD52926C6B4}">
      <dgm:prSet custT="1"/>
      <dgm:spPr/>
      <dgm:t>
        <a:bodyPr/>
        <a:lstStyle/>
        <a:p>
          <a:r>
            <a:rPr lang="fr-FR" sz="1600" b="0" dirty="0"/>
            <a:t>Établir l’état des lieux et les taux d’accès</a:t>
          </a:r>
          <a:endParaRPr lang="fr-FR" sz="1600" dirty="0"/>
        </a:p>
      </dgm:t>
    </dgm:pt>
    <dgm:pt modelId="{482B579F-179A-4FAD-B904-C2681EF2A944}" type="parTrans" cxnId="{B56B8679-A0F2-4FAA-901F-4180A3C19E9D}">
      <dgm:prSet/>
      <dgm:spPr/>
      <dgm:t>
        <a:bodyPr/>
        <a:lstStyle/>
        <a:p>
          <a:endParaRPr lang="fr-FR" sz="1600"/>
        </a:p>
      </dgm:t>
    </dgm:pt>
    <dgm:pt modelId="{18FF6880-B978-4E7B-92B5-B3EC6C9F34F5}" type="sibTrans" cxnId="{B56B8679-A0F2-4FAA-901F-4180A3C19E9D}">
      <dgm:prSet phldrT="1" phldr="0"/>
      <dgm:spPr/>
    </dgm:pt>
    <dgm:pt modelId="{2A97E98D-9877-4511-8DFD-EF40DB811EEC}">
      <dgm:prSet custT="1"/>
      <dgm:spPr/>
      <dgm:t>
        <a:bodyPr/>
        <a:lstStyle/>
        <a:p>
          <a:r>
            <a:rPr lang="fr-FR" sz="1600" b="0" dirty="0"/>
            <a:t>Identifier les besoins par quartier</a:t>
          </a:r>
          <a:endParaRPr lang="fr-FR" sz="1600" dirty="0"/>
        </a:p>
      </dgm:t>
    </dgm:pt>
    <dgm:pt modelId="{CEE82659-8813-4BCE-A518-4F790E1421E4}" type="parTrans" cxnId="{9AE7E8D4-B48C-4D6C-A022-6CC3AE70F202}">
      <dgm:prSet/>
      <dgm:spPr/>
      <dgm:t>
        <a:bodyPr/>
        <a:lstStyle/>
        <a:p>
          <a:endParaRPr lang="fr-FR" sz="1600"/>
        </a:p>
      </dgm:t>
    </dgm:pt>
    <dgm:pt modelId="{AC1D74E1-4F3A-430D-9D8F-C22E15C91CB4}" type="sibTrans" cxnId="{9AE7E8D4-B48C-4D6C-A022-6CC3AE70F202}">
      <dgm:prSet phldrT="2" phldr="0"/>
      <dgm:spPr/>
    </dgm:pt>
    <dgm:pt modelId="{E3E45B84-D682-4A56-B922-5E1168141A6E}">
      <dgm:prSet custT="1"/>
      <dgm:spPr/>
      <dgm:t>
        <a:bodyPr/>
        <a:lstStyle/>
        <a:p>
          <a:r>
            <a:rPr lang="fr-FR" sz="1600" b="0" dirty="0"/>
            <a:t>Localiser les services existants et futurs</a:t>
          </a:r>
          <a:endParaRPr lang="fr-FR" sz="1600" dirty="0"/>
        </a:p>
      </dgm:t>
    </dgm:pt>
    <dgm:pt modelId="{438459E2-2AA8-4A01-84A1-0B3FEF30700F}" type="parTrans" cxnId="{543070B3-DB70-4E5A-99B6-CC1157D69222}">
      <dgm:prSet/>
      <dgm:spPr/>
      <dgm:t>
        <a:bodyPr/>
        <a:lstStyle/>
        <a:p>
          <a:endParaRPr lang="fr-FR" sz="1600"/>
        </a:p>
      </dgm:t>
    </dgm:pt>
    <dgm:pt modelId="{293BD933-C1B9-4736-AA01-3EC6E28A3F21}" type="sibTrans" cxnId="{543070B3-DB70-4E5A-99B6-CC1157D69222}">
      <dgm:prSet phldrT="3" phldr="0"/>
      <dgm:spPr/>
    </dgm:pt>
    <dgm:pt modelId="{6989E1AD-CA42-4BDD-A74E-BECAA0BF8B95}">
      <dgm:prSet custT="1"/>
      <dgm:spPr/>
      <dgm:t>
        <a:bodyPr/>
        <a:lstStyle/>
        <a:p>
          <a:r>
            <a:rPr lang="fr-FR" sz="1600" b="0" dirty="0"/>
            <a:t>Élaborer les plans types et les devis</a:t>
          </a:r>
          <a:endParaRPr lang="fr-FR" sz="1600" dirty="0"/>
        </a:p>
      </dgm:t>
    </dgm:pt>
    <dgm:pt modelId="{872ADB7E-93CB-4389-B214-1BA584F0162D}" type="parTrans" cxnId="{04599401-AEFE-40E1-A350-A729468169C0}">
      <dgm:prSet/>
      <dgm:spPr/>
      <dgm:t>
        <a:bodyPr/>
        <a:lstStyle/>
        <a:p>
          <a:endParaRPr lang="fr-FR" sz="1600"/>
        </a:p>
      </dgm:t>
    </dgm:pt>
    <dgm:pt modelId="{0A905C4B-C343-4F60-903C-42B93BCEEE6F}" type="sibTrans" cxnId="{04599401-AEFE-40E1-A350-A729468169C0}">
      <dgm:prSet phldrT="4" phldr="0"/>
      <dgm:spPr/>
    </dgm:pt>
    <dgm:pt modelId="{F7787ABA-0FE9-454B-8B64-28EF98A9E308}" type="pres">
      <dgm:prSet presAssocID="{6EBD31FA-F9C8-4135-B4E1-FEB8DA500C88}" presName="CompostProcess" presStyleCnt="0">
        <dgm:presLayoutVars>
          <dgm:dir/>
          <dgm:resizeHandles val="exact"/>
        </dgm:presLayoutVars>
      </dgm:prSet>
      <dgm:spPr/>
    </dgm:pt>
    <dgm:pt modelId="{012966BB-EB37-4CB8-A412-44B79022B049}" type="pres">
      <dgm:prSet presAssocID="{6EBD31FA-F9C8-4135-B4E1-FEB8DA500C88}" presName="arrow" presStyleLbl="bgShp" presStyleIdx="0" presStyleCnt="1"/>
      <dgm:spPr/>
    </dgm:pt>
    <dgm:pt modelId="{70C6EA67-5066-4938-A264-EE741B7FE3F8}" type="pres">
      <dgm:prSet presAssocID="{6EBD31FA-F9C8-4135-B4E1-FEB8DA500C88}" presName="linearProcess" presStyleCnt="0"/>
      <dgm:spPr/>
    </dgm:pt>
    <dgm:pt modelId="{F5474845-F8D4-42A0-A1B5-8D6D2554872C}" type="pres">
      <dgm:prSet presAssocID="{B075139D-8888-4890-B83E-2CD52926C6B4}" presName="textNode" presStyleLbl="node1" presStyleIdx="0" presStyleCnt="4">
        <dgm:presLayoutVars>
          <dgm:bulletEnabled val="1"/>
        </dgm:presLayoutVars>
      </dgm:prSet>
      <dgm:spPr/>
    </dgm:pt>
    <dgm:pt modelId="{8A17F951-B8A0-4B82-A68F-3F855E9E45C7}" type="pres">
      <dgm:prSet presAssocID="{18FF6880-B978-4E7B-92B5-B3EC6C9F34F5}" presName="sibTrans" presStyleCnt="0"/>
      <dgm:spPr/>
    </dgm:pt>
    <dgm:pt modelId="{05A9819E-97C9-4394-9608-F9477603DDEB}" type="pres">
      <dgm:prSet presAssocID="{2A97E98D-9877-4511-8DFD-EF40DB811EEC}" presName="textNode" presStyleLbl="node1" presStyleIdx="1" presStyleCnt="4">
        <dgm:presLayoutVars>
          <dgm:bulletEnabled val="1"/>
        </dgm:presLayoutVars>
      </dgm:prSet>
      <dgm:spPr/>
    </dgm:pt>
    <dgm:pt modelId="{8A6F6D87-0D97-4BEF-B53D-4960BA266F9A}" type="pres">
      <dgm:prSet presAssocID="{AC1D74E1-4F3A-430D-9D8F-C22E15C91CB4}" presName="sibTrans" presStyleCnt="0"/>
      <dgm:spPr/>
    </dgm:pt>
    <dgm:pt modelId="{71A76ECA-9A62-48C6-9CF7-0176C966161E}" type="pres">
      <dgm:prSet presAssocID="{E3E45B84-D682-4A56-B922-5E1168141A6E}" presName="textNode" presStyleLbl="node1" presStyleIdx="2" presStyleCnt="4">
        <dgm:presLayoutVars>
          <dgm:bulletEnabled val="1"/>
        </dgm:presLayoutVars>
      </dgm:prSet>
      <dgm:spPr/>
    </dgm:pt>
    <dgm:pt modelId="{D78CCF58-8484-47FB-871B-1E8ACA98F691}" type="pres">
      <dgm:prSet presAssocID="{293BD933-C1B9-4736-AA01-3EC6E28A3F21}" presName="sibTrans" presStyleCnt="0"/>
      <dgm:spPr/>
    </dgm:pt>
    <dgm:pt modelId="{2AB28A8B-9A01-49D1-85BE-9EBF93C730D6}" type="pres">
      <dgm:prSet presAssocID="{6989E1AD-CA42-4BDD-A74E-BECAA0BF8B95}" presName="textNode" presStyleLbl="node1" presStyleIdx="3" presStyleCnt="4">
        <dgm:presLayoutVars>
          <dgm:bulletEnabled val="1"/>
        </dgm:presLayoutVars>
      </dgm:prSet>
      <dgm:spPr/>
    </dgm:pt>
  </dgm:ptLst>
  <dgm:cxnLst>
    <dgm:cxn modelId="{04599401-AEFE-40E1-A350-A729468169C0}" srcId="{6EBD31FA-F9C8-4135-B4E1-FEB8DA500C88}" destId="{6989E1AD-CA42-4BDD-A74E-BECAA0BF8B95}" srcOrd="3" destOrd="0" parTransId="{872ADB7E-93CB-4389-B214-1BA584F0162D}" sibTransId="{0A905C4B-C343-4F60-903C-42B93BCEEE6F}"/>
    <dgm:cxn modelId="{CB17F223-4146-4AFD-835A-34920473A45F}" type="presOf" srcId="{6EBD31FA-F9C8-4135-B4E1-FEB8DA500C88}" destId="{F7787ABA-0FE9-454B-8B64-28EF98A9E308}" srcOrd="0" destOrd="0" presId="urn:microsoft.com/office/officeart/2005/8/layout/hProcess9"/>
    <dgm:cxn modelId="{5376DA44-FCB9-4ED0-A9FA-EAA14A5ACE0B}" type="presOf" srcId="{E3E45B84-D682-4A56-B922-5E1168141A6E}" destId="{71A76ECA-9A62-48C6-9CF7-0176C966161E}" srcOrd="0" destOrd="0" presId="urn:microsoft.com/office/officeart/2005/8/layout/hProcess9"/>
    <dgm:cxn modelId="{02823E4D-E233-4B4F-A5DF-5CF1D39EB68E}" type="presOf" srcId="{2A97E98D-9877-4511-8DFD-EF40DB811EEC}" destId="{05A9819E-97C9-4394-9608-F9477603DDEB}" srcOrd="0" destOrd="0" presId="urn:microsoft.com/office/officeart/2005/8/layout/hProcess9"/>
    <dgm:cxn modelId="{B56B8679-A0F2-4FAA-901F-4180A3C19E9D}" srcId="{6EBD31FA-F9C8-4135-B4E1-FEB8DA500C88}" destId="{B075139D-8888-4890-B83E-2CD52926C6B4}" srcOrd="0" destOrd="0" parTransId="{482B579F-179A-4FAD-B904-C2681EF2A944}" sibTransId="{18FF6880-B978-4E7B-92B5-B3EC6C9F34F5}"/>
    <dgm:cxn modelId="{543070B3-DB70-4E5A-99B6-CC1157D69222}" srcId="{6EBD31FA-F9C8-4135-B4E1-FEB8DA500C88}" destId="{E3E45B84-D682-4A56-B922-5E1168141A6E}" srcOrd="2" destOrd="0" parTransId="{438459E2-2AA8-4A01-84A1-0B3FEF30700F}" sibTransId="{293BD933-C1B9-4736-AA01-3EC6E28A3F21}"/>
    <dgm:cxn modelId="{EAF6C7B7-236E-42BB-95FC-0FD78744A311}" type="presOf" srcId="{B075139D-8888-4890-B83E-2CD52926C6B4}" destId="{F5474845-F8D4-42A0-A1B5-8D6D2554872C}" srcOrd="0" destOrd="0" presId="urn:microsoft.com/office/officeart/2005/8/layout/hProcess9"/>
    <dgm:cxn modelId="{A10CD9BC-84DA-4F4E-A5E5-1539E51A6115}" type="presOf" srcId="{6989E1AD-CA42-4BDD-A74E-BECAA0BF8B95}" destId="{2AB28A8B-9A01-49D1-85BE-9EBF93C730D6}" srcOrd="0" destOrd="0" presId="urn:microsoft.com/office/officeart/2005/8/layout/hProcess9"/>
    <dgm:cxn modelId="{9AE7E8D4-B48C-4D6C-A022-6CC3AE70F202}" srcId="{6EBD31FA-F9C8-4135-B4E1-FEB8DA500C88}" destId="{2A97E98D-9877-4511-8DFD-EF40DB811EEC}" srcOrd="1" destOrd="0" parTransId="{CEE82659-8813-4BCE-A518-4F790E1421E4}" sibTransId="{AC1D74E1-4F3A-430D-9D8F-C22E15C91CB4}"/>
    <dgm:cxn modelId="{2D071DF1-95A1-4E55-BF1E-139A92A36239}" type="presParOf" srcId="{F7787ABA-0FE9-454B-8B64-28EF98A9E308}" destId="{012966BB-EB37-4CB8-A412-44B79022B049}" srcOrd="0" destOrd="0" presId="urn:microsoft.com/office/officeart/2005/8/layout/hProcess9"/>
    <dgm:cxn modelId="{5BE7F6B1-87D9-46F4-8E49-EE2C46195CBE}" type="presParOf" srcId="{F7787ABA-0FE9-454B-8B64-28EF98A9E308}" destId="{70C6EA67-5066-4938-A264-EE741B7FE3F8}" srcOrd="1" destOrd="0" presId="urn:microsoft.com/office/officeart/2005/8/layout/hProcess9"/>
    <dgm:cxn modelId="{A087FCF7-D716-4D14-9AA8-C92D54A58836}" type="presParOf" srcId="{70C6EA67-5066-4938-A264-EE741B7FE3F8}" destId="{F5474845-F8D4-42A0-A1B5-8D6D2554872C}" srcOrd="0" destOrd="0" presId="urn:microsoft.com/office/officeart/2005/8/layout/hProcess9"/>
    <dgm:cxn modelId="{D01C7822-AA56-44D4-AF7B-DB702AF692D8}" type="presParOf" srcId="{70C6EA67-5066-4938-A264-EE741B7FE3F8}" destId="{8A17F951-B8A0-4B82-A68F-3F855E9E45C7}" srcOrd="1" destOrd="0" presId="urn:microsoft.com/office/officeart/2005/8/layout/hProcess9"/>
    <dgm:cxn modelId="{24645B3F-2C0B-4E48-BC5E-DDB6107F61D7}" type="presParOf" srcId="{70C6EA67-5066-4938-A264-EE741B7FE3F8}" destId="{05A9819E-97C9-4394-9608-F9477603DDEB}" srcOrd="2" destOrd="0" presId="urn:microsoft.com/office/officeart/2005/8/layout/hProcess9"/>
    <dgm:cxn modelId="{CADFC06E-1953-48C6-BF1D-0F010AA93505}" type="presParOf" srcId="{70C6EA67-5066-4938-A264-EE741B7FE3F8}" destId="{8A6F6D87-0D97-4BEF-B53D-4960BA266F9A}" srcOrd="3" destOrd="0" presId="urn:microsoft.com/office/officeart/2005/8/layout/hProcess9"/>
    <dgm:cxn modelId="{1C34DDC4-A58D-4B2E-AAD3-2B51F37BA824}" type="presParOf" srcId="{70C6EA67-5066-4938-A264-EE741B7FE3F8}" destId="{71A76ECA-9A62-48C6-9CF7-0176C966161E}" srcOrd="4" destOrd="0" presId="urn:microsoft.com/office/officeart/2005/8/layout/hProcess9"/>
    <dgm:cxn modelId="{75BEDEEA-A738-4335-BEFA-C1E669F36478}" type="presParOf" srcId="{70C6EA67-5066-4938-A264-EE741B7FE3F8}" destId="{D78CCF58-8484-47FB-871B-1E8ACA98F691}" srcOrd="5" destOrd="0" presId="urn:microsoft.com/office/officeart/2005/8/layout/hProcess9"/>
    <dgm:cxn modelId="{01F19CE3-6A34-4568-AA7F-E58FCDB25554}" type="presParOf" srcId="{70C6EA67-5066-4938-A264-EE741B7FE3F8}" destId="{2AB28A8B-9A01-49D1-85BE-9EBF93C730D6}"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BCEC75-A002-4CE3-B65E-075522D58811}" type="doc">
      <dgm:prSet loTypeId="urn:microsoft.com/office/officeart/2005/8/layout/hProcess11" loCatId="process" qsTypeId="urn:microsoft.com/office/officeart/2005/8/quickstyle/simple1#2" qsCatId="simple" csTypeId="urn:microsoft.com/office/officeart/2005/8/colors/accent1_2#2" csCatId="accent1"/>
      <dgm:spPr/>
      <dgm:t>
        <a:bodyPr/>
        <a:lstStyle/>
        <a:p>
          <a:endParaRPr lang="fr-FR"/>
        </a:p>
      </dgm:t>
    </dgm:pt>
    <dgm:pt modelId="{D1EA8C3D-AFC3-4C1D-91BB-88E7465CD8C2}">
      <dgm:prSet custT="1"/>
      <dgm:spPr/>
      <dgm:t>
        <a:bodyPr/>
        <a:lstStyle/>
        <a:p>
          <a:r>
            <a:rPr lang="fr-FR" sz="1500" b="1"/>
            <a:t>Diagnostique</a:t>
          </a:r>
          <a:endParaRPr lang="fr-FR" sz="1500"/>
        </a:p>
      </dgm:t>
    </dgm:pt>
    <dgm:pt modelId="{992925F0-C10F-4D59-9C77-1063DD00AA34}" type="parTrans" cxnId="{B32CE5D9-7372-4727-9583-0FA010849E24}">
      <dgm:prSet/>
      <dgm:spPr/>
      <dgm:t>
        <a:bodyPr/>
        <a:lstStyle/>
        <a:p>
          <a:endParaRPr lang="fr-FR" sz="1500"/>
        </a:p>
      </dgm:t>
    </dgm:pt>
    <dgm:pt modelId="{55BDCD77-F8D7-41E0-B47E-B79AD060B64C}" type="sibTrans" cxnId="{B32CE5D9-7372-4727-9583-0FA010849E24}">
      <dgm:prSet/>
      <dgm:spPr/>
      <dgm:t>
        <a:bodyPr/>
        <a:lstStyle/>
        <a:p>
          <a:endParaRPr lang="fr-FR" sz="1500"/>
        </a:p>
      </dgm:t>
    </dgm:pt>
    <dgm:pt modelId="{E427D4A4-145D-4D89-A09D-04B352BCDEE6}">
      <dgm:prSet custT="1"/>
      <dgm:spPr/>
      <dgm:t>
        <a:bodyPr/>
        <a:lstStyle/>
        <a:p>
          <a:r>
            <a:rPr lang="fr-FR" sz="1500" b="1"/>
            <a:t>besoins hiérarchisés</a:t>
          </a:r>
          <a:endParaRPr lang="fr-FR" sz="1500"/>
        </a:p>
      </dgm:t>
    </dgm:pt>
    <dgm:pt modelId="{D4EA83D1-6619-4369-B207-B42C390F5CC9}" type="parTrans" cxnId="{EEB6AB54-3644-4A4B-9986-33A004A62F30}">
      <dgm:prSet/>
      <dgm:spPr/>
      <dgm:t>
        <a:bodyPr/>
        <a:lstStyle/>
        <a:p>
          <a:endParaRPr lang="fr-FR" sz="1500"/>
        </a:p>
      </dgm:t>
    </dgm:pt>
    <dgm:pt modelId="{8E9DFA5A-6085-40FF-9F84-E174B0951547}" type="sibTrans" cxnId="{EEB6AB54-3644-4A4B-9986-33A004A62F30}">
      <dgm:prSet/>
      <dgm:spPr/>
      <dgm:t>
        <a:bodyPr/>
        <a:lstStyle/>
        <a:p>
          <a:endParaRPr lang="fr-FR" sz="1500"/>
        </a:p>
      </dgm:t>
    </dgm:pt>
    <dgm:pt modelId="{FA4E7F04-9861-4190-928D-CA913A3E94CF}">
      <dgm:prSet custT="1"/>
      <dgm:spPr/>
      <dgm:t>
        <a:bodyPr/>
        <a:lstStyle/>
        <a:p>
          <a:r>
            <a:rPr lang="fr-FR" sz="1500" b="1"/>
            <a:t>plan d’action sectoriel</a:t>
          </a:r>
          <a:endParaRPr lang="fr-FR" sz="1500"/>
        </a:p>
      </dgm:t>
    </dgm:pt>
    <dgm:pt modelId="{ADD4A63A-08AD-4C3E-A929-AB8991700FFC}" type="parTrans" cxnId="{F204A136-CE85-415D-B9F1-8DFB75C4C9A7}">
      <dgm:prSet/>
      <dgm:spPr/>
      <dgm:t>
        <a:bodyPr/>
        <a:lstStyle/>
        <a:p>
          <a:endParaRPr lang="fr-FR" sz="1500"/>
        </a:p>
      </dgm:t>
    </dgm:pt>
    <dgm:pt modelId="{49DC9CB8-C74C-46C7-9FC0-E2BFA6106794}" type="sibTrans" cxnId="{F204A136-CE85-415D-B9F1-8DFB75C4C9A7}">
      <dgm:prSet/>
      <dgm:spPr/>
      <dgm:t>
        <a:bodyPr/>
        <a:lstStyle/>
        <a:p>
          <a:endParaRPr lang="fr-FR" sz="1500"/>
        </a:p>
      </dgm:t>
    </dgm:pt>
    <dgm:pt modelId="{F64A7565-CB99-4F1C-B392-E100E7B616A3}" type="pres">
      <dgm:prSet presAssocID="{A8BCEC75-A002-4CE3-B65E-075522D58811}" presName="Name0" presStyleCnt="0">
        <dgm:presLayoutVars>
          <dgm:dir/>
          <dgm:resizeHandles val="exact"/>
        </dgm:presLayoutVars>
      </dgm:prSet>
      <dgm:spPr/>
    </dgm:pt>
    <dgm:pt modelId="{9172F5DA-57D7-4F53-8C10-26EDB84D1577}" type="pres">
      <dgm:prSet presAssocID="{A8BCEC75-A002-4CE3-B65E-075522D58811}" presName="arrow" presStyleLbl="bgShp" presStyleIdx="0" presStyleCnt="1"/>
      <dgm:spPr/>
    </dgm:pt>
    <dgm:pt modelId="{9175B10A-15D8-49AA-B7D1-D650C526C770}" type="pres">
      <dgm:prSet presAssocID="{A8BCEC75-A002-4CE3-B65E-075522D58811}" presName="points" presStyleCnt="0"/>
      <dgm:spPr/>
    </dgm:pt>
    <dgm:pt modelId="{D3DF0325-442C-4FBB-9F00-6CFC960F4FBC}" type="pres">
      <dgm:prSet presAssocID="{D1EA8C3D-AFC3-4C1D-91BB-88E7465CD8C2}" presName="compositeA" presStyleCnt="0"/>
      <dgm:spPr/>
    </dgm:pt>
    <dgm:pt modelId="{4908ABF4-03A1-4FB2-B93F-8881B94D01BA}" type="pres">
      <dgm:prSet presAssocID="{D1EA8C3D-AFC3-4C1D-91BB-88E7465CD8C2}" presName="textA" presStyleLbl="revTx" presStyleIdx="0" presStyleCnt="3">
        <dgm:presLayoutVars>
          <dgm:bulletEnabled val="1"/>
        </dgm:presLayoutVars>
      </dgm:prSet>
      <dgm:spPr/>
    </dgm:pt>
    <dgm:pt modelId="{2514F275-6E44-4305-915C-AF16D462D257}" type="pres">
      <dgm:prSet presAssocID="{D1EA8C3D-AFC3-4C1D-91BB-88E7465CD8C2}" presName="circleA" presStyleLbl="node1" presStyleIdx="0" presStyleCnt="3"/>
      <dgm:spPr/>
    </dgm:pt>
    <dgm:pt modelId="{75DE6AD2-8D2A-4789-983C-97616844ECE2}" type="pres">
      <dgm:prSet presAssocID="{D1EA8C3D-AFC3-4C1D-91BB-88E7465CD8C2}" presName="spaceA" presStyleCnt="0"/>
      <dgm:spPr/>
    </dgm:pt>
    <dgm:pt modelId="{933CA399-B3B0-431E-A890-55BC03D4AF3B}" type="pres">
      <dgm:prSet presAssocID="{55BDCD77-F8D7-41E0-B47E-B79AD060B64C}" presName="space" presStyleCnt="0"/>
      <dgm:spPr/>
    </dgm:pt>
    <dgm:pt modelId="{EEE77820-295F-4D72-9540-9DD3F43CD5EC}" type="pres">
      <dgm:prSet presAssocID="{E427D4A4-145D-4D89-A09D-04B352BCDEE6}" presName="compositeB" presStyleCnt="0"/>
      <dgm:spPr/>
    </dgm:pt>
    <dgm:pt modelId="{DFB8D3A6-E4CA-4988-94DE-962405BDFB09}" type="pres">
      <dgm:prSet presAssocID="{E427D4A4-145D-4D89-A09D-04B352BCDEE6}" presName="textB" presStyleLbl="revTx" presStyleIdx="1" presStyleCnt="3">
        <dgm:presLayoutVars>
          <dgm:bulletEnabled val="1"/>
        </dgm:presLayoutVars>
      </dgm:prSet>
      <dgm:spPr/>
    </dgm:pt>
    <dgm:pt modelId="{ED225A60-9FBB-4371-AE48-5DEC68041F4B}" type="pres">
      <dgm:prSet presAssocID="{E427D4A4-145D-4D89-A09D-04B352BCDEE6}" presName="circleB" presStyleLbl="node1" presStyleIdx="1" presStyleCnt="3"/>
      <dgm:spPr/>
    </dgm:pt>
    <dgm:pt modelId="{7C248A2C-EB86-4B7A-BD3A-E0E6E2982188}" type="pres">
      <dgm:prSet presAssocID="{E427D4A4-145D-4D89-A09D-04B352BCDEE6}" presName="spaceB" presStyleCnt="0"/>
      <dgm:spPr/>
    </dgm:pt>
    <dgm:pt modelId="{FF65EA02-77D5-43E3-8FFC-369303B8AD3D}" type="pres">
      <dgm:prSet presAssocID="{8E9DFA5A-6085-40FF-9F84-E174B0951547}" presName="space" presStyleCnt="0"/>
      <dgm:spPr/>
    </dgm:pt>
    <dgm:pt modelId="{71C00C08-9B9D-4EC3-8920-09D0D1BD96B7}" type="pres">
      <dgm:prSet presAssocID="{FA4E7F04-9861-4190-928D-CA913A3E94CF}" presName="compositeA" presStyleCnt="0"/>
      <dgm:spPr/>
    </dgm:pt>
    <dgm:pt modelId="{5A9C3DDF-191B-4D19-BB18-35D94A141D35}" type="pres">
      <dgm:prSet presAssocID="{FA4E7F04-9861-4190-928D-CA913A3E94CF}" presName="textA" presStyleLbl="revTx" presStyleIdx="2" presStyleCnt="3">
        <dgm:presLayoutVars>
          <dgm:bulletEnabled val="1"/>
        </dgm:presLayoutVars>
      </dgm:prSet>
      <dgm:spPr/>
    </dgm:pt>
    <dgm:pt modelId="{1D047D89-5600-418D-B14B-93C57677D32A}" type="pres">
      <dgm:prSet presAssocID="{FA4E7F04-9861-4190-928D-CA913A3E94CF}" presName="circleA" presStyleLbl="node1" presStyleIdx="2" presStyleCnt="3"/>
      <dgm:spPr/>
    </dgm:pt>
    <dgm:pt modelId="{73587AE0-6A0F-48BA-8575-B57C31A390BF}" type="pres">
      <dgm:prSet presAssocID="{FA4E7F04-9861-4190-928D-CA913A3E94CF}" presName="spaceA" presStyleCnt="0"/>
      <dgm:spPr/>
    </dgm:pt>
  </dgm:ptLst>
  <dgm:cxnLst>
    <dgm:cxn modelId="{F204A136-CE85-415D-B9F1-8DFB75C4C9A7}" srcId="{A8BCEC75-A002-4CE3-B65E-075522D58811}" destId="{FA4E7F04-9861-4190-928D-CA913A3E94CF}" srcOrd="2" destOrd="0" parTransId="{ADD4A63A-08AD-4C3E-A929-AB8991700FFC}" sibTransId="{49DC9CB8-C74C-46C7-9FC0-E2BFA6106794}"/>
    <dgm:cxn modelId="{EEB6AB54-3644-4A4B-9986-33A004A62F30}" srcId="{A8BCEC75-A002-4CE3-B65E-075522D58811}" destId="{E427D4A4-145D-4D89-A09D-04B352BCDEE6}" srcOrd="1" destOrd="0" parTransId="{D4EA83D1-6619-4369-B207-B42C390F5CC9}" sibTransId="{8E9DFA5A-6085-40FF-9F84-E174B0951547}"/>
    <dgm:cxn modelId="{430D1057-01CC-41F8-9FB6-380D93410649}" type="presOf" srcId="{A8BCEC75-A002-4CE3-B65E-075522D58811}" destId="{F64A7565-CB99-4F1C-B392-E100E7B616A3}" srcOrd="0" destOrd="0" presId="urn:microsoft.com/office/officeart/2005/8/layout/hProcess11"/>
    <dgm:cxn modelId="{7CB3037C-65B3-4166-B5AF-DF5DCA447BAB}" type="presOf" srcId="{D1EA8C3D-AFC3-4C1D-91BB-88E7465CD8C2}" destId="{4908ABF4-03A1-4FB2-B93F-8881B94D01BA}" srcOrd="0" destOrd="0" presId="urn:microsoft.com/office/officeart/2005/8/layout/hProcess11"/>
    <dgm:cxn modelId="{FA6AE080-BCE2-450A-9558-D414B5DCCBAA}" type="presOf" srcId="{E427D4A4-145D-4D89-A09D-04B352BCDEE6}" destId="{DFB8D3A6-E4CA-4988-94DE-962405BDFB09}" srcOrd="0" destOrd="0" presId="urn:microsoft.com/office/officeart/2005/8/layout/hProcess11"/>
    <dgm:cxn modelId="{B32CE5D9-7372-4727-9583-0FA010849E24}" srcId="{A8BCEC75-A002-4CE3-B65E-075522D58811}" destId="{D1EA8C3D-AFC3-4C1D-91BB-88E7465CD8C2}" srcOrd="0" destOrd="0" parTransId="{992925F0-C10F-4D59-9C77-1063DD00AA34}" sibTransId="{55BDCD77-F8D7-41E0-B47E-B79AD060B64C}"/>
    <dgm:cxn modelId="{F0A11FF6-88CD-4884-823B-CD4108FE77E0}" type="presOf" srcId="{FA4E7F04-9861-4190-928D-CA913A3E94CF}" destId="{5A9C3DDF-191B-4D19-BB18-35D94A141D35}" srcOrd="0" destOrd="0" presId="urn:microsoft.com/office/officeart/2005/8/layout/hProcess11"/>
    <dgm:cxn modelId="{B74875B9-2FA9-45CE-85ED-4E7C588E37EA}" type="presParOf" srcId="{F64A7565-CB99-4F1C-B392-E100E7B616A3}" destId="{9172F5DA-57D7-4F53-8C10-26EDB84D1577}" srcOrd="0" destOrd="0" presId="urn:microsoft.com/office/officeart/2005/8/layout/hProcess11"/>
    <dgm:cxn modelId="{CF8456B6-6352-44A8-9DE4-811972FD4363}" type="presParOf" srcId="{F64A7565-CB99-4F1C-B392-E100E7B616A3}" destId="{9175B10A-15D8-49AA-B7D1-D650C526C770}" srcOrd="1" destOrd="0" presId="urn:microsoft.com/office/officeart/2005/8/layout/hProcess11"/>
    <dgm:cxn modelId="{DCE7CF67-074C-44A2-9766-E0763AC6DD4C}" type="presParOf" srcId="{9175B10A-15D8-49AA-B7D1-D650C526C770}" destId="{D3DF0325-442C-4FBB-9F00-6CFC960F4FBC}" srcOrd="0" destOrd="0" presId="urn:microsoft.com/office/officeart/2005/8/layout/hProcess11"/>
    <dgm:cxn modelId="{F71A8EA8-3086-46D3-8912-CE8B67E4DF30}" type="presParOf" srcId="{D3DF0325-442C-4FBB-9F00-6CFC960F4FBC}" destId="{4908ABF4-03A1-4FB2-B93F-8881B94D01BA}" srcOrd="0" destOrd="0" presId="urn:microsoft.com/office/officeart/2005/8/layout/hProcess11"/>
    <dgm:cxn modelId="{FE471FF3-12A8-4BA9-A585-F6869258BDD8}" type="presParOf" srcId="{D3DF0325-442C-4FBB-9F00-6CFC960F4FBC}" destId="{2514F275-6E44-4305-915C-AF16D462D257}" srcOrd="1" destOrd="0" presId="urn:microsoft.com/office/officeart/2005/8/layout/hProcess11"/>
    <dgm:cxn modelId="{E86123E9-1DBC-4CAB-8449-8E35C4F9F508}" type="presParOf" srcId="{D3DF0325-442C-4FBB-9F00-6CFC960F4FBC}" destId="{75DE6AD2-8D2A-4789-983C-97616844ECE2}" srcOrd="2" destOrd="0" presId="urn:microsoft.com/office/officeart/2005/8/layout/hProcess11"/>
    <dgm:cxn modelId="{1BC354E2-8AAF-4D2A-BA2E-3B8B32B290AD}" type="presParOf" srcId="{9175B10A-15D8-49AA-B7D1-D650C526C770}" destId="{933CA399-B3B0-431E-A890-55BC03D4AF3B}" srcOrd="1" destOrd="0" presId="urn:microsoft.com/office/officeart/2005/8/layout/hProcess11"/>
    <dgm:cxn modelId="{E41A2EA3-0A03-4F3D-9D06-9FA95DEAC415}" type="presParOf" srcId="{9175B10A-15D8-49AA-B7D1-D650C526C770}" destId="{EEE77820-295F-4D72-9540-9DD3F43CD5EC}" srcOrd="2" destOrd="0" presId="urn:microsoft.com/office/officeart/2005/8/layout/hProcess11"/>
    <dgm:cxn modelId="{9D933D8B-B8BD-47EE-924E-3203E2EBD141}" type="presParOf" srcId="{EEE77820-295F-4D72-9540-9DD3F43CD5EC}" destId="{DFB8D3A6-E4CA-4988-94DE-962405BDFB09}" srcOrd="0" destOrd="0" presId="urn:microsoft.com/office/officeart/2005/8/layout/hProcess11"/>
    <dgm:cxn modelId="{995055DD-B0C6-402F-ABE4-D2F889E67E51}" type="presParOf" srcId="{EEE77820-295F-4D72-9540-9DD3F43CD5EC}" destId="{ED225A60-9FBB-4371-AE48-5DEC68041F4B}" srcOrd="1" destOrd="0" presId="urn:microsoft.com/office/officeart/2005/8/layout/hProcess11"/>
    <dgm:cxn modelId="{ADF48EB8-6CAF-498E-BD7F-26404FBFF82E}" type="presParOf" srcId="{EEE77820-295F-4D72-9540-9DD3F43CD5EC}" destId="{7C248A2C-EB86-4B7A-BD3A-E0E6E2982188}" srcOrd="2" destOrd="0" presId="urn:microsoft.com/office/officeart/2005/8/layout/hProcess11"/>
    <dgm:cxn modelId="{C8334E3F-D039-4A74-B404-7214F3ADE9B7}" type="presParOf" srcId="{9175B10A-15D8-49AA-B7D1-D650C526C770}" destId="{FF65EA02-77D5-43E3-8FFC-369303B8AD3D}" srcOrd="3" destOrd="0" presId="urn:microsoft.com/office/officeart/2005/8/layout/hProcess11"/>
    <dgm:cxn modelId="{0B4B8445-A9F8-4F3E-9D3D-3B2C0D9C5DD4}" type="presParOf" srcId="{9175B10A-15D8-49AA-B7D1-D650C526C770}" destId="{71C00C08-9B9D-4EC3-8920-09D0D1BD96B7}" srcOrd="4" destOrd="0" presId="urn:microsoft.com/office/officeart/2005/8/layout/hProcess11"/>
    <dgm:cxn modelId="{B4815326-C917-41DD-A96D-7FCEB5E5973E}" type="presParOf" srcId="{71C00C08-9B9D-4EC3-8920-09D0D1BD96B7}" destId="{5A9C3DDF-191B-4D19-BB18-35D94A141D35}" srcOrd="0" destOrd="0" presId="urn:microsoft.com/office/officeart/2005/8/layout/hProcess11"/>
    <dgm:cxn modelId="{CFA58F3F-F5E1-4B76-80A7-93C86BED0AE8}" type="presParOf" srcId="{71C00C08-9B9D-4EC3-8920-09D0D1BD96B7}" destId="{1D047D89-5600-418D-B14B-93C57677D32A}" srcOrd="1" destOrd="0" presId="urn:microsoft.com/office/officeart/2005/8/layout/hProcess11"/>
    <dgm:cxn modelId="{CCE5D71C-783E-460D-8AFF-EBDCC3332F21}" type="presParOf" srcId="{71C00C08-9B9D-4EC3-8920-09D0D1BD96B7}" destId="{73587AE0-6A0F-48BA-8575-B57C31A390BF}" srcOrd="2" destOrd="0" presId="urn:microsoft.com/office/officeart/2005/8/layout/hProcess1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702CAF8-CC1E-4A00-83A6-7E4D6C6AF9F4}" type="doc">
      <dgm:prSet loTypeId="urn:microsoft.com/office/officeart/2005/8/layout/vProcess5" loCatId="process" qsTypeId="urn:microsoft.com/office/officeart/2005/8/quickstyle/simple1#3" qsCatId="simple" csTypeId="urn:microsoft.com/office/officeart/2005/8/colors/accent1_2#3" csCatId="accent1" phldr="1"/>
      <dgm:spPr/>
      <dgm:t>
        <a:bodyPr/>
        <a:lstStyle/>
        <a:p>
          <a:endParaRPr lang="fr-FR"/>
        </a:p>
      </dgm:t>
    </dgm:pt>
    <dgm:pt modelId="{3F2E96C2-B19A-47B7-BDF0-12F0B37ABB1A}">
      <dgm:prSet/>
      <dgm:spPr/>
      <dgm:t>
        <a:bodyPr/>
        <a:lstStyle/>
        <a:p>
          <a:r>
            <a:rPr lang="fr-FR" b="0" dirty="0"/>
            <a:t>Rapport de cadrage et outils de collecte</a:t>
          </a:r>
          <a:endParaRPr lang="fr-FR" dirty="0"/>
        </a:p>
      </dgm:t>
    </dgm:pt>
    <dgm:pt modelId="{6236046F-E2BF-4F70-AE01-4BCC88D84AE9}" type="parTrans" cxnId="{1E8B3E42-1D20-4319-A492-421677C8CB0C}">
      <dgm:prSet/>
      <dgm:spPr/>
      <dgm:t>
        <a:bodyPr/>
        <a:lstStyle/>
        <a:p>
          <a:endParaRPr lang="fr-FR"/>
        </a:p>
      </dgm:t>
    </dgm:pt>
    <dgm:pt modelId="{70C836B0-8B48-4186-A2D0-786AB214AD0D}" type="sibTrans" cxnId="{1E8B3E42-1D20-4319-A492-421677C8CB0C}">
      <dgm:prSet/>
      <dgm:spPr/>
      <dgm:t>
        <a:bodyPr/>
        <a:lstStyle/>
        <a:p>
          <a:endParaRPr lang="fr-FR"/>
        </a:p>
      </dgm:t>
    </dgm:pt>
    <dgm:pt modelId="{5A30E3B0-9E94-4ABB-87EE-0CA7FC6C25AC}">
      <dgm:prSet/>
      <dgm:spPr/>
      <dgm:t>
        <a:bodyPr/>
        <a:lstStyle/>
        <a:p>
          <a:r>
            <a:rPr lang="fr-FR" b="0" dirty="0"/>
            <a:t>Réunion technique de validation</a:t>
          </a:r>
          <a:endParaRPr lang="fr-FR" dirty="0"/>
        </a:p>
      </dgm:t>
    </dgm:pt>
    <dgm:pt modelId="{B6DE5EF1-1EB6-492D-88FA-2C3E6EA874D4}" type="parTrans" cxnId="{D2D928A2-49F4-4612-8D7C-7978764C83D4}">
      <dgm:prSet/>
      <dgm:spPr/>
      <dgm:t>
        <a:bodyPr/>
        <a:lstStyle/>
        <a:p>
          <a:endParaRPr lang="fr-FR"/>
        </a:p>
      </dgm:t>
    </dgm:pt>
    <dgm:pt modelId="{6259B7E0-4F53-4E51-8D9E-9390D70EE849}" type="sibTrans" cxnId="{D2D928A2-49F4-4612-8D7C-7978764C83D4}">
      <dgm:prSet/>
      <dgm:spPr/>
      <dgm:t>
        <a:bodyPr/>
        <a:lstStyle/>
        <a:p>
          <a:endParaRPr lang="fr-FR"/>
        </a:p>
      </dgm:t>
    </dgm:pt>
    <dgm:pt modelId="{809C4B19-806A-4253-9F3D-3F25C7C73F5D}">
      <dgm:prSet/>
      <dgm:spPr/>
      <dgm:t>
        <a:bodyPr/>
        <a:lstStyle/>
        <a:p>
          <a:r>
            <a:rPr lang="fr-FR" b="0" dirty="0"/>
            <a:t>Introduction auprès des autorités</a:t>
          </a:r>
          <a:endParaRPr lang="fr-FR" dirty="0"/>
        </a:p>
      </dgm:t>
    </dgm:pt>
    <dgm:pt modelId="{EDD112DD-FC65-4829-B2CB-1C35E3DFB682}" type="parTrans" cxnId="{404CA66E-ED9B-43C5-BB2F-2105D24D2B42}">
      <dgm:prSet/>
      <dgm:spPr/>
      <dgm:t>
        <a:bodyPr/>
        <a:lstStyle/>
        <a:p>
          <a:endParaRPr lang="fr-FR"/>
        </a:p>
      </dgm:t>
    </dgm:pt>
    <dgm:pt modelId="{E48BE9DF-8B3E-4316-8008-41CFBDD916E3}" type="sibTrans" cxnId="{404CA66E-ED9B-43C5-BB2F-2105D24D2B42}">
      <dgm:prSet/>
      <dgm:spPr/>
      <dgm:t>
        <a:bodyPr/>
        <a:lstStyle/>
        <a:p>
          <a:endParaRPr lang="fr-FR"/>
        </a:p>
      </dgm:t>
    </dgm:pt>
    <dgm:pt modelId="{95889CE5-03B1-442D-A8FA-0B3A4C059557}" type="pres">
      <dgm:prSet presAssocID="{A702CAF8-CC1E-4A00-83A6-7E4D6C6AF9F4}" presName="outerComposite" presStyleCnt="0">
        <dgm:presLayoutVars>
          <dgm:chMax val="5"/>
          <dgm:dir/>
          <dgm:resizeHandles val="exact"/>
        </dgm:presLayoutVars>
      </dgm:prSet>
      <dgm:spPr/>
    </dgm:pt>
    <dgm:pt modelId="{6A992A35-46B6-4BF1-96F9-251B1B9F03CF}" type="pres">
      <dgm:prSet presAssocID="{A702CAF8-CC1E-4A00-83A6-7E4D6C6AF9F4}" presName="dummyMaxCanvas" presStyleCnt="0">
        <dgm:presLayoutVars/>
      </dgm:prSet>
      <dgm:spPr/>
    </dgm:pt>
    <dgm:pt modelId="{B1C875B5-E7E7-4947-A07B-81B216AC4692}" type="pres">
      <dgm:prSet presAssocID="{A702CAF8-CC1E-4A00-83A6-7E4D6C6AF9F4}" presName="ThreeNodes_1" presStyleLbl="node1" presStyleIdx="0" presStyleCnt="3">
        <dgm:presLayoutVars>
          <dgm:bulletEnabled val="1"/>
        </dgm:presLayoutVars>
      </dgm:prSet>
      <dgm:spPr/>
    </dgm:pt>
    <dgm:pt modelId="{12146854-3B59-49C5-983A-A09F7B23E031}" type="pres">
      <dgm:prSet presAssocID="{A702CAF8-CC1E-4A00-83A6-7E4D6C6AF9F4}" presName="ThreeNodes_2" presStyleLbl="node1" presStyleIdx="1" presStyleCnt="3">
        <dgm:presLayoutVars>
          <dgm:bulletEnabled val="1"/>
        </dgm:presLayoutVars>
      </dgm:prSet>
      <dgm:spPr/>
    </dgm:pt>
    <dgm:pt modelId="{28F8907D-58BB-4094-BD49-F32C27540ED1}" type="pres">
      <dgm:prSet presAssocID="{A702CAF8-CC1E-4A00-83A6-7E4D6C6AF9F4}" presName="ThreeNodes_3" presStyleLbl="node1" presStyleIdx="2" presStyleCnt="3">
        <dgm:presLayoutVars>
          <dgm:bulletEnabled val="1"/>
        </dgm:presLayoutVars>
      </dgm:prSet>
      <dgm:spPr/>
    </dgm:pt>
    <dgm:pt modelId="{ABD02F5A-4DBD-422B-B490-962C0564FF5C}" type="pres">
      <dgm:prSet presAssocID="{A702CAF8-CC1E-4A00-83A6-7E4D6C6AF9F4}" presName="ThreeConn_1-2" presStyleLbl="fgAccFollowNode1" presStyleIdx="0" presStyleCnt="2">
        <dgm:presLayoutVars>
          <dgm:bulletEnabled val="1"/>
        </dgm:presLayoutVars>
      </dgm:prSet>
      <dgm:spPr/>
    </dgm:pt>
    <dgm:pt modelId="{8B43E273-586A-4187-A672-7C1B284846F4}" type="pres">
      <dgm:prSet presAssocID="{A702CAF8-CC1E-4A00-83A6-7E4D6C6AF9F4}" presName="ThreeConn_2-3" presStyleLbl="fgAccFollowNode1" presStyleIdx="1" presStyleCnt="2">
        <dgm:presLayoutVars>
          <dgm:bulletEnabled val="1"/>
        </dgm:presLayoutVars>
      </dgm:prSet>
      <dgm:spPr/>
    </dgm:pt>
    <dgm:pt modelId="{76F4D6AF-A855-41CB-BC74-22E3FBD1C42C}" type="pres">
      <dgm:prSet presAssocID="{A702CAF8-CC1E-4A00-83A6-7E4D6C6AF9F4}" presName="ThreeNodes_1_text" presStyleLbl="node1" presStyleIdx="2" presStyleCnt="3">
        <dgm:presLayoutVars>
          <dgm:bulletEnabled val="1"/>
        </dgm:presLayoutVars>
      </dgm:prSet>
      <dgm:spPr/>
    </dgm:pt>
    <dgm:pt modelId="{7FF0704B-71D4-45F1-9D34-4EF1B4825C62}" type="pres">
      <dgm:prSet presAssocID="{A702CAF8-CC1E-4A00-83A6-7E4D6C6AF9F4}" presName="ThreeNodes_2_text" presStyleLbl="node1" presStyleIdx="2" presStyleCnt="3">
        <dgm:presLayoutVars>
          <dgm:bulletEnabled val="1"/>
        </dgm:presLayoutVars>
      </dgm:prSet>
      <dgm:spPr/>
    </dgm:pt>
    <dgm:pt modelId="{67782019-5889-4D43-85FE-FD147971D5C0}" type="pres">
      <dgm:prSet presAssocID="{A702CAF8-CC1E-4A00-83A6-7E4D6C6AF9F4}" presName="ThreeNodes_3_text" presStyleLbl="node1" presStyleIdx="2" presStyleCnt="3">
        <dgm:presLayoutVars>
          <dgm:bulletEnabled val="1"/>
        </dgm:presLayoutVars>
      </dgm:prSet>
      <dgm:spPr/>
    </dgm:pt>
  </dgm:ptLst>
  <dgm:cxnLst>
    <dgm:cxn modelId="{A8CA1E07-8560-404D-8C35-FE716BBAED40}" type="presOf" srcId="{3F2E96C2-B19A-47B7-BDF0-12F0B37ABB1A}" destId="{76F4D6AF-A855-41CB-BC74-22E3FBD1C42C}" srcOrd="1" destOrd="0" presId="urn:microsoft.com/office/officeart/2005/8/layout/vProcess5"/>
    <dgm:cxn modelId="{D2F19A25-089B-4EA2-8630-95B27BC7BE77}" type="presOf" srcId="{809C4B19-806A-4253-9F3D-3F25C7C73F5D}" destId="{28F8907D-58BB-4094-BD49-F32C27540ED1}" srcOrd="0" destOrd="0" presId="urn:microsoft.com/office/officeart/2005/8/layout/vProcess5"/>
    <dgm:cxn modelId="{03DD2930-D068-427A-991F-C9A807819050}" type="presOf" srcId="{70C836B0-8B48-4186-A2D0-786AB214AD0D}" destId="{ABD02F5A-4DBD-422B-B490-962C0564FF5C}" srcOrd="0" destOrd="0" presId="urn:microsoft.com/office/officeart/2005/8/layout/vProcess5"/>
    <dgm:cxn modelId="{9B131A5B-0C1E-4228-99F6-FFEB701B8708}" type="presOf" srcId="{6259B7E0-4F53-4E51-8D9E-9390D70EE849}" destId="{8B43E273-586A-4187-A672-7C1B284846F4}" srcOrd="0" destOrd="0" presId="urn:microsoft.com/office/officeart/2005/8/layout/vProcess5"/>
    <dgm:cxn modelId="{6A993D41-4C5B-4D97-AF25-080291FCA8C1}" type="presOf" srcId="{5A30E3B0-9E94-4ABB-87EE-0CA7FC6C25AC}" destId="{7FF0704B-71D4-45F1-9D34-4EF1B4825C62}" srcOrd="1" destOrd="0" presId="urn:microsoft.com/office/officeart/2005/8/layout/vProcess5"/>
    <dgm:cxn modelId="{1E8B3E42-1D20-4319-A492-421677C8CB0C}" srcId="{A702CAF8-CC1E-4A00-83A6-7E4D6C6AF9F4}" destId="{3F2E96C2-B19A-47B7-BDF0-12F0B37ABB1A}" srcOrd="0" destOrd="0" parTransId="{6236046F-E2BF-4F70-AE01-4BCC88D84AE9}" sibTransId="{70C836B0-8B48-4186-A2D0-786AB214AD0D}"/>
    <dgm:cxn modelId="{404CA66E-ED9B-43C5-BB2F-2105D24D2B42}" srcId="{A702CAF8-CC1E-4A00-83A6-7E4D6C6AF9F4}" destId="{809C4B19-806A-4253-9F3D-3F25C7C73F5D}" srcOrd="2" destOrd="0" parTransId="{EDD112DD-FC65-4829-B2CB-1C35E3DFB682}" sibTransId="{E48BE9DF-8B3E-4316-8008-41CFBDD916E3}"/>
    <dgm:cxn modelId="{B9995174-0DDD-47E3-B343-CD7A6F89B85A}" type="presOf" srcId="{5A30E3B0-9E94-4ABB-87EE-0CA7FC6C25AC}" destId="{12146854-3B59-49C5-983A-A09F7B23E031}" srcOrd="0" destOrd="0" presId="urn:microsoft.com/office/officeart/2005/8/layout/vProcess5"/>
    <dgm:cxn modelId="{47200A58-9DE9-495B-A144-E2A5859FD4F4}" type="presOf" srcId="{809C4B19-806A-4253-9F3D-3F25C7C73F5D}" destId="{67782019-5889-4D43-85FE-FD147971D5C0}" srcOrd="1" destOrd="0" presId="urn:microsoft.com/office/officeart/2005/8/layout/vProcess5"/>
    <dgm:cxn modelId="{A4FE847A-FF78-40A7-9620-92B5F8D76FEB}" type="presOf" srcId="{A702CAF8-CC1E-4A00-83A6-7E4D6C6AF9F4}" destId="{95889CE5-03B1-442D-A8FA-0B3A4C059557}" srcOrd="0" destOrd="0" presId="urn:microsoft.com/office/officeart/2005/8/layout/vProcess5"/>
    <dgm:cxn modelId="{D2D928A2-49F4-4612-8D7C-7978764C83D4}" srcId="{A702CAF8-CC1E-4A00-83A6-7E4D6C6AF9F4}" destId="{5A30E3B0-9E94-4ABB-87EE-0CA7FC6C25AC}" srcOrd="1" destOrd="0" parTransId="{B6DE5EF1-1EB6-492D-88FA-2C3E6EA874D4}" sibTransId="{6259B7E0-4F53-4E51-8D9E-9390D70EE849}"/>
    <dgm:cxn modelId="{48CF39B4-217F-469C-98B6-3F5F783C6658}" type="presOf" srcId="{3F2E96C2-B19A-47B7-BDF0-12F0B37ABB1A}" destId="{B1C875B5-E7E7-4947-A07B-81B216AC4692}" srcOrd="0" destOrd="0" presId="urn:microsoft.com/office/officeart/2005/8/layout/vProcess5"/>
    <dgm:cxn modelId="{F49239F3-8597-460E-83CC-FE2B06BBC4E8}" type="presParOf" srcId="{95889CE5-03B1-442D-A8FA-0B3A4C059557}" destId="{6A992A35-46B6-4BF1-96F9-251B1B9F03CF}" srcOrd="0" destOrd="0" presId="urn:microsoft.com/office/officeart/2005/8/layout/vProcess5"/>
    <dgm:cxn modelId="{9D892933-5D99-4FFD-9CC9-3E2D83D002D5}" type="presParOf" srcId="{95889CE5-03B1-442D-A8FA-0B3A4C059557}" destId="{B1C875B5-E7E7-4947-A07B-81B216AC4692}" srcOrd="1" destOrd="0" presId="urn:microsoft.com/office/officeart/2005/8/layout/vProcess5"/>
    <dgm:cxn modelId="{0C9A2CEE-5735-458E-988B-965109B584F9}" type="presParOf" srcId="{95889CE5-03B1-442D-A8FA-0B3A4C059557}" destId="{12146854-3B59-49C5-983A-A09F7B23E031}" srcOrd="2" destOrd="0" presId="urn:microsoft.com/office/officeart/2005/8/layout/vProcess5"/>
    <dgm:cxn modelId="{1C84B072-1A56-4005-B9BE-31DE51798676}" type="presParOf" srcId="{95889CE5-03B1-442D-A8FA-0B3A4C059557}" destId="{28F8907D-58BB-4094-BD49-F32C27540ED1}" srcOrd="3" destOrd="0" presId="urn:microsoft.com/office/officeart/2005/8/layout/vProcess5"/>
    <dgm:cxn modelId="{AF70D48A-D09C-4D22-922A-35A4842A2BBF}" type="presParOf" srcId="{95889CE5-03B1-442D-A8FA-0B3A4C059557}" destId="{ABD02F5A-4DBD-422B-B490-962C0564FF5C}" srcOrd="4" destOrd="0" presId="urn:microsoft.com/office/officeart/2005/8/layout/vProcess5"/>
    <dgm:cxn modelId="{D2826919-5763-400A-9879-86BB1066ABF2}" type="presParOf" srcId="{95889CE5-03B1-442D-A8FA-0B3A4C059557}" destId="{8B43E273-586A-4187-A672-7C1B284846F4}" srcOrd="5" destOrd="0" presId="urn:microsoft.com/office/officeart/2005/8/layout/vProcess5"/>
    <dgm:cxn modelId="{660BBD7C-225E-4AE4-8CF7-C4FE9430B39A}" type="presParOf" srcId="{95889CE5-03B1-442D-A8FA-0B3A4C059557}" destId="{76F4D6AF-A855-41CB-BC74-22E3FBD1C42C}" srcOrd="6" destOrd="0" presId="urn:microsoft.com/office/officeart/2005/8/layout/vProcess5"/>
    <dgm:cxn modelId="{DDD0C9C1-301F-42F3-B25A-A55FB9C377F9}" type="presParOf" srcId="{95889CE5-03B1-442D-A8FA-0B3A4C059557}" destId="{7FF0704B-71D4-45F1-9D34-4EF1B4825C62}" srcOrd="7" destOrd="0" presId="urn:microsoft.com/office/officeart/2005/8/layout/vProcess5"/>
    <dgm:cxn modelId="{2F8F5DB7-BBDF-4C31-8079-F8F6CF8AED27}" type="presParOf" srcId="{95889CE5-03B1-442D-A8FA-0B3A4C059557}" destId="{67782019-5889-4D43-85FE-FD147971D5C0}"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5F1647-E825-4789-BD12-D74B49753E6E}" type="doc">
      <dgm:prSet loTypeId="urn:microsoft.com/office/officeart/2024/layout/BulletTimelineInverted" loCatId="process" qsTypeId="urn:microsoft.com/office/officeart/2005/8/quickstyle/simple1#4" qsCatId="simple" csTypeId="urn:microsoft.com/office/officeart/2005/8/colors/accent1_2#4" csCatId="accent1" phldr="1"/>
      <dgm:spPr/>
      <dgm:t>
        <a:bodyPr/>
        <a:lstStyle/>
        <a:p>
          <a:endParaRPr lang="fr-FR"/>
        </a:p>
      </dgm:t>
    </dgm:pt>
    <dgm:pt modelId="{BDCB91CB-472A-46F9-915E-0837F0D9FA9A}">
      <dgm:prSet phldrT="[Texte]" custT="1"/>
      <dgm:spPr/>
      <dgm:t>
        <a:bodyPr/>
        <a:lstStyle/>
        <a:p>
          <a:pPr>
            <a:defRPr b="1"/>
          </a:pPr>
          <a:r>
            <a:rPr lang="fr-FR" sz="1100" b="1" dirty="0">
              <a:solidFill>
                <a:srgbClr val="1D2935"/>
              </a:solidFill>
              <a:latin typeface="DejaVu Sans"/>
              <a:ea typeface="DejaVu Sans"/>
              <a:cs typeface="DejaVu Sans"/>
            </a:rPr>
            <a:t>Formation et collecte géolocalisée</a:t>
          </a:r>
          <a:endParaRPr lang="fr-FR" sz="1100" b="1" dirty="0"/>
        </a:p>
      </dgm:t>
    </dgm:pt>
    <dgm:pt modelId="{84711A95-9933-457B-9EDF-AE0BAA8B0252}" type="parTrans" cxnId="{6A09AE6C-9D12-4D08-9BE7-FD419F0463C6}">
      <dgm:prSet/>
      <dgm:spPr/>
      <dgm:t>
        <a:bodyPr/>
        <a:lstStyle/>
        <a:p>
          <a:endParaRPr lang="fr-FR" sz="1100" b="1"/>
        </a:p>
      </dgm:t>
    </dgm:pt>
    <dgm:pt modelId="{2569E23D-B05C-486B-958D-B8ED27EE685E}" type="sibTrans" cxnId="{6A09AE6C-9D12-4D08-9BE7-FD419F0463C6}">
      <dgm:prSet phldrT="1" phldr="0"/>
      <dgm:spPr/>
    </dgm:pt>
    <dgm:pt modelId="{CE5B98EF-99A5-49C5-BDC3-20CE34E50F93}">
      <dgm:prSet phldrT="[Texte]" custT="1"/>
      <dgm:spPr/>
      <dgm:t>
        <a:bodyPr/>
        <a:lstStyle/>
        <a:p>
          <a:pPr>
            <a:defRPr b="1"/>
          </a:pPr>
          <a:r>
            <a:rPr lang="fr-FR" sz="1100" b="1" dirty="0">
              <a:solidFill>
                <a:srgbClr val="1D2935"/>
              </a:solidFill>
              <a:latin typeface="DejaVu Sans"/>
              <a:ea typeface="DejaVu Sans"/>
              <a:cs typeface="DejaVu Sans"/>
            </a:rPr>
            <a:t>Analyse et rapport provisoire</a:t>
          </a:r>
          <a:endParaRPr lang="fr-FR" sz="1100" b="1" dirty="0"/>
        </a:p>
      </dgm:t>
    </dgm:pt>
    <dgm:pt modelId="{E45608BF-DCBC-4E2F-A844-788DFB2AE6BD}" type="parTrans" cxnId="{996E16D1-B028-4D42-8EA3-F26D7CD54F86}">
      <dgm:prSet/>
      <dgm:spPr/>
      <dgm:t>
        <a:bodyPr/>
        <a:lstStyle/>
        <a:p>
          <a:endParaRPr lang="fr-FR" sz="1100" b="1"/>
        </a:p>
      </dgm:t>
    </dgm:pt>
    <dgm:pt modelId="{CCC2C25A-85F4-4B01-A03A-D7D0D321DE65}" type="sibTrans" cxnId="{996E16D1-B028-4D42-8EA3-F26D7CD54F86}">
      <dgm:prSet phldrT="2" phldr="0"/>
      <dgm:spPr/>
    </dgm:pt>
    <dgm:pt modelId="{4123AAC6-FC0C-4CC6-8C7E-75E44875A92D}">
      <dgm:prSet phldrT="[Texte]" custT="1"/>
      <dgm:spPr/>
      <dgm:t>
        <a:bodyPr/>
        <a:lstStyle/>
        <a:p>
          <a:pPr>
            <a:defRPr b="1"/>
          </a:pPr>
          <a:r>
            <a:rPr lang="fr-FR" sz="1100" b="1" dirty="0">
              <a:solidFill>
                <a:srgbClr val="1D2935"/>
              </a:solidFill>
              <a:latin typeface="DejaVu Sans"/>
              <a:ea typeface="DejaVu Sans"/>
              <a:cs typeface="DejaVu Sans"/>
            </a:rPr>
            <a:t>Restitution et prise en charge des observations</a:t>
          </a:r>
          <a:endParaRPr lang="fr-FR" sz="1100" b="1" dirty="0"/>
        </a:p>
      </dgm:t>
    </dgm:pt>
    <dgm:pt modelId="{91BBD445-43FB-4FD2-BEA6-8F1EAA2C95B7}" type="parTrans" cxnId="{E32DF0D3-C76B-465C-843F-32292839754A}">
      <dgm:prSet/>
      <dgm:spPr/>
      <dgm:t>
        <a:bodyPr/>
        <a:lstStyle/>
        <a:p>
          <a:endParaRPr lang="fr-FR" sz="1100" b="1"/>
        </a:p>
      </dgm:t>
    </dgm:pt>
    <dgm:pt modelId="{38A89201-5F69-4B0D-B238-E526FDEDE0B6}" type="sibTrans" cxnId="{E32DF0D3-C76B-465C-843F-32292839754A}">
      <dgm:prSet phldrT="3" phldr="0"/>
      <dgm:spPr/>
    </dgm:pt>
    <dgm:pt modelId="{DF157EA8-EE75-4645-B1D0-113153558D8A}">
      <dgm:prSet phldrT="[Texte]" custT="1"/>
      <dgm:spPr/>
      <dgm:t>
        <a:bodyPr/>
        <a:lstStyle/>
        <a:p>
          <a:pPr>
            <a:defRPr b="1"/>
          </a:pPr>
          <a:r>
            <a:rPr lang="fr-FR" sz="1100" b="1">
              <a:solidFill>
                <a:srgbClr val="1D2935"/>
              </a:solidFill>
              <a:latin typeface="DejaVu Sans"/>
              <a:ea typeface="DejaVu Sans"/>
              <a:cs typeface="DejaVu Sans"/>
            </a:rPr>
            <a:t>Rapport final après validation</a:t>
          </a:r>
          <a:endParaRPr lang="fr-FR" sz="1100" b="1" dirty="0"/>
        </a:p>
      </dgm:t>
    </dgm:pt>
    <dgm:pt modelId="{56B2BF50-4ED1-448A-88C4-C2E47FD889A5}" type="parTrans" cxnId="{C15510A0-F794-4C9F-8326-30582764A856}">
      <dgm:prSet/>
      <dgm:spPr/>
      <dgm:t>
        <a:bodyPr/>
        <a:lstStyle/>
        <a:p>
          <a:endParaRPr lang="fr-FR" sz="1100" b="1"/>
        </a:p>
      </dgm:t>
    </dgm:pt>
    <dgm:pt modelId="{3F731AF0-F160-40BA-A323-74EB0C7D070E}" type="sibTrans" cxnId="{C15510A0-F794-4C9F-8326-30582764A856}">
      <dgm:prSet phldrT="4" phldr="0"/>
      <dgm:spPr/>
    </dgm:pt>
    <dgm:pt modelId="{04FCA72A-B378-4484-8607-5306A8DD0A6D}" type="pres">
      <dgm:prSet presAssocID="{175F1647-E825-4789-BD12-D74B49753E6E}" presName="root" presStyleCnt="0">
        <dgm:presLayoutVars>
          <dgm:dir/>
          <dgm:animLvl val="lvl"/>
        </dgm:presLayoutVars>
      </dgm:prSet>
      <dgm:spPr/>
    </dgm:pt>
    <dgm:pt modelId="{2EDD31D2-D5F8-4A08-8D39-CCDC8B4AE863}" type="pres">
      <dgm:prSet presAssocID="{175F1647-E825-4789-BD12-D74B49753E6E}" presName="divider" presStyleCnt="0"/>
      <dgm:spPr/>
    </dgm:pt>
    <dgm:pt modelId="{D4D95CCD-1A7A-4EA7-B167-18ACFA526618}" type="pres">
      <dgm:prSet presAssocID="{175F1647-E825-4789-BD12-D74B49753E6E}" presName="rectBar" presStyleLbl="dkBgShp" presStyleIdx="0" presStyleCnt="6"/>
      <dgm:spPr>
        <a:gradFill rotWithShape="0">
          <a:gsLst>
            <a:gs pos="0">
              <a:schemeClr val="accent1">
                <a:tint val="76000"/>
              </a:schemeClr>
            </a:gs>
            <a:gs pos="100000">
              <a:schemeClr val="accent1">
                <a:tint val="76000"/>
              </a:schemeClr>
            </a:gs>
          </a:gsLst>
          <a:lin ang="0" scaled="0"/>
        </a:gradFill>
        <a:ln>
          <a:noFill/>
        </a:ln>
        <a:effectLst/>
      </dgm:spPr>
    </dgm:pt>
    <dgm:pt modelId="{E5267F28-39BB-4146-A9F8-B9BBF439E1CE}" type="pres">
      <dgm:prSet presAssocID="{175F1647-E825-4789-BD12-D74B49753E6E}" presName="chevronArrow" presStyleLbl="dkBgShp" presStyleIdx="1" presStyleCnt="6"/>
      <dgm:spPr>
        <a:gradFill rotWithShape="0">
          <a:gsLst>
            <a:gs pos="0">
              <a:schemeClr val="accent1">
                <a:tint val="76000"/>
              </a:schemeClr>
            </a:gs>
            <a:gs pos="100000">
              <a:schemeClr val="accent1">
                <a:tint val="76000"/>
              </a:schemeClr>
            </a:gs>
          </a:gsLst>
          <a:lin ang="0" scaled="0"/>
        </a:gradFill>
        <a:ln>
          <a:noFill/>
        </a:ln>
        <a:effectLst/>
      </dgm:spPr>
    </dgm:pt>
    <dgm:pt modelId="{E9E66A59-95F7-457D-8D32-BADECB1D1988}" type="pres">
      <dgm:prSet presAssocID="{175F1647-E825-4789-BD12-D74B49753E6E}" presName="nodes" presStyleCnt="0">
        <dgm:presLayoutVars>
          <dgm:chMax/>
          <dgm:chPref/>
          <dgm:animLvl val="lvl"/>
        </dgm:presLayoutVars>
      </dgm:prSet>
      <dgm:spPr/>
    </dgm:pt>
    <dgm:pt modelId="{93A72296-6990-4BFA-A98C-E268BE234B01}" type="pres">
      <dgm:prSet presAssocID="{BDCB91CB-472A-46F9-915E-0837F0D9FA9A}" presName="composite" presStyleCnt="0"/>
      <dgm:spPr/>
    </dgm:pt>
    <dgm:pt modelId="{2CA6EB43-6FDB-4E82-A7C8-A9EC0E230DC4}" type="pres">
      <dgm:prSet presAssocID="{BDCB91CB-472A-46F9-915E-0837F0D9FA9A}" presName="DropPinPlaceHolder" presStyleCnt="0"/>
      <dgm:spPr/>
    </dgm:pt>
    <dgm:pt modelId="{4E4BD68F-A00D-4376-86EF-CF86E35B79E5}" type="pres">
      <dgm:prSet presAssocID="{BDCB91CB-472A-46F9-915E-0837F0D9FA9A}" presName="DropPin" presStyleLbl="alignNode1" presStyleIdx="0" presStyleCnt="4"/>
      <dgm:spPr/>
    </dgm:pt>
    <dgm:pt modelId="{B2744C91-540A-4BD6-9B42-9116FEF8063D}" type="pres">
      <dgm:prSet presAssocID="{BDCB91CB-472A-46F9-915E-0837F0D9FA9A}" presName="Ellipse" presStyleLbl="fgAcc1" presStyleIdx="0" presStyleCnt="4"/>
      <dgm:spPr/>
    </dgm:pt>
    <dgm:pt modelId="{7E8D8143-2214-4513-A8B9-CEDFA7B887D0}" type="pres">
      <dgm:prSet presAssocID="{BDCB91CB-472A-46F9-915E-0837F0D9FA9A}" presName="L2TextContainer" presStyleLbl="revTx" presStyleIdx="0" presStyleCnt="8">
        <dgm:presLayoutVars>
          <dgm:bulletEnabled val="1"/>
        </dgm:presLayoutVars>
      </dgm:prSet>
      <dgm:spPr/>
    </dgm:pt>
    <dgm:pt modelId="{82157109-95FE-4F5C-B28F-30EE9B178AD5}" type="pres">
      <dgm:prSet presAssocID="{BDCB91CB-472A-46F9-915E-0837F0D9FA9A}" presName="L1TextContainer" presStyleLbl="revTx" presStyleIdx="1" presStyleCnt="8">
        <dgm:presLayoutVars>
          <dgm:chMax val="1"/>
          <dgm:chPref val="1"/>
          <dgm:bulletEnabled val="1"/>
        </dgm:presLayoutVars>
      </dgm:prSet>
      <dgm:spPr/>
    </dgm:pt>
    <dgm:pt modelId="{5BD7D02B-107F-4DB1-85B7-449D8DC93212}" type="pres">
      <dgm:prSet presAssocID="{BDCB91CB-472A-46F9-915E-0837F0D9FA9A}" presName="ConnectLine" presStyleLbl="dkBgShp" presStyleIdx="2" presStyleCnt="6"/>
      <dgm:spPr>
        <a:gradFill rotWithShape="0">
          <a:gsLst>
            <a:gs pos="0">
              <a:schemeClr val="accent1">
                <a:tint val="76000"/>
              </a:schemeClr>
            </a:gs>
            <a:gs pos="100000">
              <a:schemeClr val="accent1">
                <a:tint val="76000"/>
              </a:schemeClr>
            </a:gs>
          </a:gsLst>
          <a:lin ang="0" scaled="0"/>
        </a:gradFill>
        <a:ln>
          <a:noFill/>
        </a:ln>
        <a:effectLst/>
      </dgm:spPr>
    </dgm:pt>
    <dgm:pt modelId="{96114338-951E-457A-B9B4-F45E7B00C22F}" type="pres">
      <dgm:prSet presAssocID="{BDCB91CB-472A-46F9-915E-0837F0D9FA9A}" presName="ConnectorPoint" presStyleCnt="0"/>
      <dgm:spPr/>
    </dgm:pt>
    <dgm:pt modelId="{5186E3AC-DEB3-400C-9A69-5E564C092D6F}" type="pres">
      <dgm:prSet presAssocID="{BDCB91CB-472A-46F9-915E-0837F0D9FA9A}" presName="Bullet" presStyleLbl="node1NoLn" presStyleIdx="0" presStyleCnt="4"/>
      <dgm:spPr/>
    </dgm:pt>
    <dgm:pt modelId="{F2987110-61D0-4253-A781-227A3AA6994A}" type="pres">
      <dgm:prSet presAssocID="{BDCB91CB-472A-46F9-915E-0837F0D9FA9A}" presName="EmptyPlaceHolder" presStyleCnt="0"/>
      <dgm:spPr/>
    </dgm:pt>
    <dgm:pt modelId="{FD162869-076B-4E16-A154-FF901520B3B5}" type="pres">
      <dgm:prSet presAssocID="{2569E23D-B05C-486B-958D-B8ED27EE685E}" presName="spaceBetweenRectangles" presStyleCnt="0"/>
      <dgm:spPr/>
    </dgm:pt>
    <dgm:pt modelId="{86C4C0F0-4CDE-491B-AB80-6AEF794607D4}" type="pres">
      <dgm:prSet presAssocID="{CE5B98EF-99A5-49C5-BDC3-20CE34E50F93}" presName="composite" presStyleCnt="0"/>
      <dgm:spPr/>
    </dgm:pt>
    <dgm:pt modelId="{3357128C-DEBD-4F34-9212-54EB7F089D19}" type="pres">
      <dgm:prSet presAssocID="{CE5B98EF-99A5-49C5-BDC3-20CE34E50F93}" presName="DropPinPlaceHolder" presStyleCnt="0"/>
      <dgm:spPr/>
    </dgm:pt>
    <dgm:pt modelId="{503FCA70-F6FF-4AC1-BC8D-F0ACF939E9ED}" type="pres">
      <dgm:prSet presAssocID="{CE5B98EF-99A5-49C5-BDC3-20CE34E50F93}" presName="DropPin" presStyleLbl="alignNode1" presStyleIdx="1" presStyleCnt="4"/>
      <dgm:spPr/>
    </dgm:pt>
    <dgm:pt modelId="{0302D855-8704-4C5D-BD3D-57748D3E46B2}" type="pres">
      <dgm:prSet presAssocID="{CE5B98EF-99A5-49C5-BDC3-20CE34E50F93}" presName="Ellipse" presStyleLbl="fgAcc1" presStyleIdx="1" presStyleCnt="4"/>
      <dgm:spPr/>
    </dgm:pt>
    <dgm:pt modelId="{46D5E731-0D5B-439B-969D-6549B3D3A41F}" type="pres">
      <dgm:prSet presAssocID="{CE5B98EF-99A5-49C5-BDC3-20CE34E50F93}" presName="L2TextContainer" presStyleLbl="revTx" presStyleIdx="2" presStyleCnt="8">
        <dgm:presLayoutVars>
          <dgm:bulletEnabled val="1"/>
        </dgm:presLayoutVars>
      </dgm:prSet>
      <dgm:spPr/>
    </dgm:pt>
    <dgm:pt modelId="{5466DB78-610A-453C-AF2D-599949AF04D9}" type="pres">
      <dgm:prSet presAssocID="{CE5B98EF-99A5-49C5-BDC3-20CE34E50F93}" presName="L1TextContainer" presStyleLbl="revTx" presStyleIdx="3" presStyleCnt="8">
        <dgm:presLayoutVars>
          <dgm:chMax val="1"/>
          <dgm:chPref val="1"/>
          <dgm:bulletEnabled val="1"/>
        </dgm:presLayoutVars>
      </dgm:prSet>
      <dgm:spPr/>
    </dgm:pt>
    <dgm:pt modelId="{CC42CC2A-6B13-4DE7-87F3-A1805D9E5627}" type="pres">
      <dgm:prSet presAssocID="{CE5B98EF-99A5-49C5-BDC3-20CE34E50F93}" presName="ConnectLine" presStyleLbl="dkBgShp" presStyleIdx="3" presStyleCnt="6"/>
      <dgm:spPr>
        <a:gradFill rotWithShape="0">
          <a:gsLst>
            <a:gs pos="0">
              <a:schemeClr val="accent1">
                <a:tint val="76000"/>
              </a:schemeClr>
            </a:gs>
            <a:gs pos="100000">
              <a:schemeClr val="accent1">
                <a:tint val="76000"/>
              </a:schemeClr>
            </a:gs>
          </a:gsLst>
          <a:lin ang="0" scaled="0"/>
        </a:gradFill>
        <a:ln>
          <a:noFill/>
        </a:ln>
        <a:effectLst/>
      </dgm:spPr>
    </dgm:pt>
    <dgm:pt modelId="{2B32ACF4-8D79-4BEB-81A7-C1E8E0AD7B95}" type="pres">
      <dgm:prSet presAssocID="{CE5B98EF-99A5-49C5-BDC3-20CE34E50F93}" presName="ConnectorPoint" presStyleCnt="0"/>
      <dgm:spPr/>
    </dgm:pt>
    <dgm:pt modelId="{2D038993-78DB-455F-8027-C4A1B1B4CE5B}" type="pres">
      <dgm:prSet presAssocID="{CE5B98EF-99A5-49C5-BDC3-20CE34E50F93}" presName="Bullet" presStyleLbl="node1NoLn" presStyleIdx="1" presStyleCnt="4"/>
      <dgm:spPr/>
    </dgm:pt>
    <dgm:pt modelId="{B03E5C96-7B1F-4E1C-B631-89CFC47F2AD9}" type="pres">
      <dgm:prSet presAssocID="{CE5B98EF-99A5-49C5-BDC3-20CE34E50F93}" presName="EmptyPlaceHolder" presStyleCnt="0"/>
      <dgm:spPr/>
    </dgm:pt>
    <dgm:pt modelId="{941ABC65-8A24-403C-B37D-D704B2B65AE6}" type="pres">
      <dgm:prSet presAssocID="{CCC2C25A-85F4-4B01-A03A-D7D0D321DE65}" presName="spaceBetweenRectangles" presStyleCnt="0"/>
      <dgm:spPr/>
    </dgm:pt>
    <dgm:pt modelId="{AFD55453-036E-42F1-A41F-0908673D0436}" type="pres">
      <dgm:prSet presAssocID="{4123AAC6-FC0C-4CC6-8C7E-75E44875A92D}" presName="composite" presStyleCnt="0"/>
      <dgm:spPr/>
    </dgm:pt>
    <dgm:pt modelId="{3C4DA009-0B66-426A-AFB6-AE1AD2D48182}" type="pres">
      <dgm:prSet presAssocID="{4123AAC6-FC0C-4CC6-8C7E-75E44875A92D}" presName="DropPinPlaceHolder" presStyleCnt="0"/>
      <dgm:spPr/>
    </dgm:pt>
    <dgm:pt modelId="{FB841E30-6EB5-4EA4-8379-3FB0F4CA633A}" type="pres">
      <dgm:prSet presAssocID="{4123AAC6-FC0C-4CC6-8C7E-75E44875A92D}" presName="DropPin" presStyleLbl="alignNode1" presStyleIdx="2" presStyleCnt="4"/>
      <dgm:spPr/>
    </dgm:pt>
    <dgm:pt modelId="{6FC9F12A-7854-404C-87E5-1247CA0B507D}" type="pres">
      <dgm:prSet presAssocID="{4123AAC6-FC0C-4CC6-8C7E-75E44875A92D}" presName="Ellipse" presStyleLbl="fgAcc1" presStyleIdx="2" presStyleCnt="4"/>
      <dgm:spPr/>
    </dgm:pt>
    <dgm:pt modelId="{E933A893-052F-481C-B359-AD027AED7C8F}" type="pres">
      <dgm:prSet presAssocID="{4123AAC6-FC0C-4CC6-8C7E-75E44875A92D}" presName="L2TextContainer" presStyleLbl="revTx" presStyleIdx="4" presStyleCnt="8">
        <dgm:presLayoutVars>
          <dgm:bulletEnabled val="1"/>
        </dgm:presLayoutVars>
      </dgm:prSet>
      <dgm:spPr/>
    </dgm:pt>
    <dgm:pt modelId="{CC8E9F5C-8626-422F-8337-12DEA65EA965}" type="pres">
      <dgm:prSet presAssocID="{4123AAC6-FC0C-4CC6-8C7E-75E44875A92D}" presName="L1TextContainer" presStyleLbl="revTx" presStyleIdx="5" presStyleCnt="8">
        <dgm:presLayoutVars>
          <dgm:chMax val="1"/>
          <dgm:chPref val="1"/>
          <dgm:bulletEnabled val="1"/>
        </dgm:presLayoutVars>
      </dgm:prSet>
      <dgm:spPr/>
    </dgm:pt>
    <dgm:pt modelId="{A33E34B7-8848-465D-A595-67842570DA31}" type="pres">
      <dgm:prSet presAssocID="{4123AAC6-FC0C-4CC6-8C7E-75E44875A92D}" presName="ConnectLine" presStyleLbl="dkBgShp" presStyleIdx="4" presStyleCnt="6"/>
      <dgm:spPr>
        <a:gradFill rotWithShape="0">
          <a:gsLst>
            <a:gs pos="0">
              <a:schemeClr val="accent1">
                <a:tint val="76000"/>
              </a:schemeClr>
            </a:gs>
            <a:gs pos="100000">
              <a:schemeClr val="accent1">
                <a:tint val="76000"/>
              </a:schemeClr>
            </a:gs>
          </a:gsLst>
          <a:lin ang="0" scaled="0"/>
        </a:gradFill>
        <a:ln>
          <a:noFill/>
        </a:ln>
        <a:effectLst/>
      </dgm:spPr>
    </dgm:pt>
    <dgm:pt modelId="{7736DD8F-07AF-42D5-9DCC-51D0D78742ED}" type="pres">
      <dgm:prSet presAssocID="{4123AAC6-FC0C-4CC6-8C7E-75E44875A92D}" presName="ConnectorPoint" presStyleCnt="0"/>
      <dgm:spPr/>
    </dgm:pt>
    <dgm:pt modelId="{F9C99EF7-6D9C-473C-BD60-00AB677BFBCE}" type="pres">
      <dgm:prSet presAssocID="{4123AAC6-FC0C-4CC6-8C7E-75E44875A92D}" presName="Bullet" presStyleLbl="node1NoLn" presStyleIdx="2" presStyleCnt="4"/>
      <dgm:spPr/>
    </dgm:pt>
    <dgm:pt modelId="{FF2C8BEF-EBEF-4CDE-A4C9-E7F4F6D937FA}" type="pres">
      <dgm:prSet presAssocID="{4123AAC6-FC0C-4CC6-8C7E-75E44875A92D}" presName="EmptyPlaceHolder" presStyleCnt="0"/>
      <dgm:spPr/>
    </dgm:pt>
    <dgm:pt modelId="{047A5086-5C3A-480F-A9B1-6FDD9B9ED32F}" type="pres">
      <dgm:prSet presAssocID="{38A89201-5F69-4B0D-B238-E526FDEDE0B6}" presName="spaceBetweenRectangles" presStyleCnt="0"/>
      <dgm:spPr/>
    </dgm:pt>
    <dgm:pt modelId="{19E2CA56-4BA8-47CB-8551-C4669500F313}" type="pres">
      <dgm:prSet presAssocID="{DF157EA8-EE75-4645-B1D0-113153558D8A}" presName="composite" presStyleCnt="0"/>
      <dgm:spPr/>
    </dgm:pt>
    <dgm:pt modelId="{394E79DB-78FC-4C75-8136-2BACA79659D5}" type="pres">
      <dgm:prSet presAssocID="{DF157EA8-EE75-4645-B1D0-113153558D8A}" presName="DropPinPlaceHolder" presStyleCnt="0"/>
      <dgm:spPr/>
    </dgm:pt>
    <dgm:pt modelId="{6BFC8EA2-A02F-4409-9D4E-697AA001E7D4}" type="pres">
      <dgm:prSet presAssocID="{DF157EA8-EE75-4645-B1D0-113153558D8A}" presName="DropPin" presStyleLbl="alignNode1" presStyleIdx="3" presStyleCnt="4"/>
      <dgm:spPr/>
    </dgm:pt>
    <dgm:pt modelId="{9107AEBD-7070-4656-B85D-B02C97AEF63E}" type="pres">
      <dgm:prSet presAssocID="{DF157EA8-EE75-4645-B1D0-113153558D8A}" presName="Ellipse" presStyleLbl="fgAcc1" presStyleIdx="3" presStyleCnt="4"/>
      <dgm:spPr/>
    </dgm:pt>
    <dgm:pt modelId="{CA870E54-AD4B-40E6-B619-E6EE1302CA63}" type="pres">
      <dgm:prSet presAssocID="{DF157EA8-EE75-4645-B1D0-113153558D8A}" presName="L2TextContainer" presStyleLbl="revTx" presStyleIdx="6" presStyleCnt="8">
        <dgm:presLayoutVars>
          <dgm:bulletEnabled val="1"/>
        </dgm:presLayoutVars>
      </dgm:prSet>
      <dgm:spPr/>
    </dgm:pt>
    <dgm:pt modelId="{AD0327A9-7D13-4813-BA40-4583F16FDB80}" type="pres">
      <dgm:prSet presAssocID="{DF157EA8-EE75-4645-B1D0-113153558D8A}" presName="L1TextContainer" presStyleLbl="revTx" presStyleIdx="7" presStyleCnt="8">
        <dgm:presLayoutVars>
          <dgm:chMax val="1"/>
          <dgm:chPref val="1"/>
          <dgm:bulletEnabled val="1"/>
        </dgm:presLayoutVars>
      </dgm:prSet>
      <dgm:spPr/>
    </dgm:pt>
    <dgm:pt modelId="{D5400057-C239-4809-A01C-280686ACFB5A}" type="pres">
      <dgm:prSet presAssocID="{DF157EA8-EE75-4645-B1D0-113153558D8A}" presName="ConnectLine" presStyleLbl="dkBgShp" presStyleIdx="5" presStyleCnt="6"/>
      <dgm:spPr>
        <a:gradFill rotWithShape="0">
          <a:gsLst>
            <a:gs pos="0">
              <a:schemeClr val="accent1">
                <a:tint val="76000"/>
              </a:schemeClr>
            </a:gs>
            <a:gs pos="100000">
              <a:schemeClr val="accent1">
                <a:tint val="76000"/>
              </a:schemeClr>
            </a:gs>
          </a:gsLst>
          <a:lin ang="0" scaled="0"/>
        </a:gradFill>
        <a:ln>
          <a:noFill/>
        </a:ln>
        <a:effectLst/>
      </dgm:spPr>
    </dgm:pt>
    <dgm:pt modelId="{B067456C-D8D5-4741-A76C-E1B864668D29}" type="pres">
      <dgm:prSet presAssocID="{DF157EA8-EE75-4645-B1D0-113153558D8A}" presName="ConnectorPoint" presStyleCnt="0"/>
      <dgm:spPr/>
    </dgm:pt>
    <dgm:pt modelId="{C93C8A9A-315C-4D6D-89ED-FE640A2D222B}" type="pres">
      <dgm:prSet presAssocID="{DF157EA8-EE75-4645-B1D0-113153558D8A}" presName="Bullet" presStyleLbl="node1NoLn" presStyleIdx="3" presStyleCnt="4"/>
      <dgm:spPr/>
    </dgm:pt>
    <dgm:pt modelId="{B122DBBE-DAB9-4344-8CF9-397C6FC0F80B}" type="pres">
      <dgm:prSet presAssocID="{DF157EA8-EE75-4645-B1D0-113153558D8A}" presName="EmptyPlaceHolder" presStyleCnt="0"/>
      <dgm:spPr/>
    </dgm:pt>
  </dgm:ptLst>
  <dgm:cxnLst>
    <dgm:cxn modelId="{1B6DD947-FC7E-4162-BF4F-AAAC783D9076}" type="presOf" srcId="{4123AAC6-FC0C-4CC6-8C7E-75E44875A92D}" destId="{CC8E9F5C-8626-422F-8337-12DEA65EA965}" srcOrd="0" destOrd="0" presId="urn:microsoft.com/office/officeart/2024/layout/BulletTimelineInverted"/>
    <dgm:cxn modelId="{6A09AE6C-9D12-4D08-9BE7-FD419F0463C6}" srcId="{175F1647-E825-4789-BD12-D74B49753E6E}" destId="{BDCB91CB-472A-46F9-915E-0837F0D9FA9A}" srcOrd="0" destOrd="0" parTransId="{84711A95-9933-457B-9EDF-AE0BAA8B0252}" sibTransId="{2569E23D-B05C-486B-958D-B8ED27EE685E}"/>
    <dgm:cxn modelId="{5B1B1484-6C9E-4787-B417-60174C399B7B}" type="presOf" srcId="{175F1647-E825-4789-BD12-D74B49753E6E}" destId="{04FCA72A-B378-4484-8607-5306A8DD0A6D}" srcOrd="0" destOrd="0" presId="urn:microsoft.com/office/officeart/2024/layout/BulletTimelineInverted"/>
    <dgm:cxn modelId="{C15510A0-F794-4C9F-8326-30582764A856}" srcId="{175F1647-E825-4789-BD12-D74B49753E6E}" destId="{DF157EA8-EE75-4645-B1D0-113153558D8A}" srcOrd="3" destOrd="0" parTransId="{56B2BF50-4ED1-448A-88C4-C2E47FD889A5}" sibTransId="{3F731AF0-F160-40BA-A323-74EB0C7D070E}"/>
    <dgm:cxn modelId="{365A46BD-8F4F-4C38-B6A3-5E3B1B4B39BD}" type="presOf" srcId="{BDCB91CB-472A-46F9-915E-0837F0D9FA9A}" destId="{82157109-95FE-4F5C-B28F-30EE9B178AD5}" srcOrd="0" destOrd="0" presId="urn:microsoft.com/office/officeart/2024/layout/BulletTimelineInverted"/>
    <dgm:cxn modelId="{996E16D1-B028-4D42-8EA3-F26D7CD54F86}" srcId="{175F1647-E825-4789-BD12-D74B49753E6E}" destId="{CE5B98EF-99A5-49C5-BDC3-20CE34E50F93}" srcOrd="1" destOrd="0" parTransId="{E45608BF-DCBC-4E2F-A844-788DFB2AE6BD}" sibTransId="{CCC2C25A-85F4-4B01-A03A-D7D0D321DE65}"/>
    <dgm:cxn modelId="{E32DF0D3-C76B-465C-843F-32292839754A}" srcId="{175F1647-E825-4789-BD12-D74B49753E6E}" destId="{4123AAC6-FC0C-4CC6-8C7E-75E44875A92D}" srcOrd="2" destOrd="0" parTransId="{91BBD445-43FB-4FD2-BEA6-8F1EAA2C95B7}" sibTransId="{38A89201-5F69-4B0D-B238-E526FDEDE0B6}"/>
    <dgm:cxn modelId="{82D7D8D4-4390-4C70-8EBE-1D14D97C1E56}" type="presOf" srcId="{DF157EA8-EE75-4645-B1D0-113153558D8A}" destId="{AD0327A9-7D13-4813-BA40-4583F16FDB80}" srcOrd="0" destOrd="0" presId="urn:microsoft.com/office/officeart/2024/layout/BulletTimelineInverted"/>
    <dgm:cxn modelId="{FBCB12F3-EEF7-4094-8C1F-2C89DBC49591}" type="presOf" srcId="{CE5B98EF-99A5-49C5-BDC3-20CE34E50F93}" destId="{5466DB78-610A-453C-AF2D-599949AF04D9}" srcOrd="0" destOrd="0" presId="urn:microsoft.com/office/officeart/2024/layout/BulletTimelineInverted"/>
    <dgm:cxn modelId="{F42E9513-EFE2-4D29-B2DC-F1699ED0C7E1}" type="presParOf" srcId="{04FCA72A-B378-4484-8607-5306A8DD0A6D}" destId="{2EDD31D2-D5F8-4A08-8D39-CCDC8B4AE863}" srcOrd="0" destOrd="0" presId="urn:microsoft.com/office/officeart/2024/layout/BulletTimelineInverted"/>
    <dgm:cxn modelId="{C73F84CA-576A-406C-B4ED-46F56BC5F4F4}" type="presParOf" srcId="{2EDD31D2-D5F8-4A08-8D39-CCDC8B4AE863}" destId="{D4D95CCD-1A7A-4EA7-B167-18ACFA526618}" srcOrd="0" destOrd="0" presId="urn:microsoft.com/office/officeart/2024/layout/BulletTimelineInverted"/>
    <dgm:cxn modelId="{1949564D-0F35-4CEB-A947-F11B55C4806E}" type="presParOf" srcId="{2EDD31D2-D5F8-4A08-8D39-CCDC8B4AE863}" destId="{E5267F28-39BB-4146-A9F8-B9BBF439E1CE}" srcOrd="1" destOrd="0" presId="urn:microsoft.com/office/officeart/2024/layout/BulletTimelineInverted"/>
    <dgm:cxn modelId="{292706D7-4611-4098-8162-0C51FEA90DAD}" type="presParOf" srcId="{04FCA72A-B378-4484-8607-5306A8DD0A6D}" destId="{E9E66A59-95F7-457D-8D32-BADECB1D1988}" srcOrd="1" destOrd="0" presId="urn:microsoft.com/office/officeart/2024/layout/BulletTimelineInverted"/>
    <dgm:cxn modelId="{2A386BFA-15CD-4F16-876A-58D8D331B6A0}" type="presParOf" srcId="{E9E66A59-95F7-457D-8D32-BADECB1D1988}" destId="{93A72296-6990-4BFA-A98C-E268BE234B01}" srcOrd="0" destOrd="0" presId="urn:microsoft.com/office/officeart/2024/layout/BulletTimelineInverted"/>
    <dgm:cxn modelId="{6DE8E8BE-C9C5-4345-8461-F29B5B69790E}" type="presParOf" srcId="{93A72296-6990-4BFA-A98C-E268BE234B01}" destId="{2CA6EB43-6FDB-4E82-A7C8-A9EC0E230DC4}" srcOrd="0" destOrd="0" presId="urn:microsoft.com/office/officeart/2024/layout/BulletTimelineInverted"/>
    <dgm:cxn modelId="{B7508DF7-172C-4E25-A8EC-31B7F661CC49}" type="presParOf" srcId="{2CA6EB43-6FDB-4E82-A7C8-A9EC0E230DC4}" destId="{4E4BD68F-A00D-4376-86EF-CF86E35B79E5}" srcOrd="0" destOrd="0" presId="urn:microsoft.com/office/officeart/2024/layout/BulletTimelineInverted"/>
    <dgm:cxn modelId="{FF6DE835-906C-41C9-9188-199A4431148B}" type="presParOf" srcId="{2CA6EB43-6FDB-4E82-A7C8-A9EC0E230DC4}" destId="{B2744C91-540A-4BD6-9B42-9116FEF8063D}" srcOrd="1" destOrd="0" presId="urn:microsoft.com/office/officeart/2024/layout/BulletTimelineInverted"/>
    <dgm:cxn modelId="{CF819A96-B640-4F82-85AB-9CFCC2CA246B}" type="presParOf" srcId="{93A72296-6990-4BFA-A98C-E268BE234B01}" destId="{7E8D8143-2214-4513-A8B9-CEDFA7B887D0}" srcOrd="1" destOrd="0" presId="urn:microsoft.com/office/officeart/2024/layout/BulletTimelineInverted"/>
    <dgm:cxn modelId="{4D3CC83F-0F60-4C36-A598-2A2A695D835D}" type="presParOf" srcId="{93A72296-6990-4BFA-A98C-E268BE234B01}" destId="{82157109-95FE-4F5C-B28F-30EE9B178AD5}" srcOrd="2" destOrd="0" presId="urn:microsoft.com/office/officeart/2024/layout/BulletTimelineInverted"/>
    <dgm:cxn modelId="{404B57DF-56C7-497A-8AE6-1B9A30A50962}" type="presParOf" srcId="{93A72296-6990-4BFA-A98C-E268BE234B01}" destId="{5BD7D02B-107F-4DB1-85B7-449D8DC93212}" srcOrd="3" destOrd="0" presId="urn:microsoft.com/office/officeart/2024/layout/BulletTimelineInverted"/>
    <dgm:cxn modelId="{C1B0C600-DEAC-42B4-8CBF-B9B3D01527DE}" type="presParOf" srcId="{93A72296-6990-4BFA-A98C-E268BE234B01}" destId="{96114338-951E-457A-B9B4-F45E7B00C22F}" srcOrd="4" destOrd="0" presId="urn:microsoft.com/office/officeart/2024/layout/BulletTimelineInverted"/>
    <dgm:cxn modelId="{7FEE4C8A-2354-41DB-A0FF-2548B5D9EDD1}" type="presParOf" srcId="{96114338-951E-457A-B9B4-F45E7B00C22F}" destId="{5186E3AC-DEB3-400C-9A69-5E564C092D6F}" srcOrd="0" destOrd="0" presId="urn:microsoft.com/office/officeart/2024/layout/BulletTimelineInverted"/>
    <dgm:cxn modelId="{7698B015-EA93-476E-872B-5349990A795F}" type="presParOf" srcId="{93A72296-6990-4BFA-A98C-E268BE234B01}" destId="{F2987110-61D0-4253-A781-227A3AA6994A}" srcOrd="5" destOrd="0" presId="urn:microsoft.com/office/officeart/2024/layout/BulletTimelineInverted"/>
    <dgm:cxn modelId="{25CAF106-F36E-4202-AE28-9C5C914E1E2A}" type="presParOf" srcId="{E9E66A59-95F7-457D-8D32-BADECB1D1988}" destId="{FD162869-076B-4E16-A154-FF901520B3B5}" srcOrd="1" destOrd="0" presId="urn:microsoft.com/office/officeart/2024/layout/BulletTimelineInverted"/>
    <dgm:cxn modelId="{4547A73D-2A2C-40F5-A533-FB732CCC5902}" type="presParOf" srcId="{E9E66A59-95F7-457D-8D32-BADECB1D1988}" destId="{86C4C0F0-4CDE-491B-AB80-6AEF794607D4}" srcOrd="2" destOrd="0" presId="urn:microsoft.com/office/officeart/2024/layout/BulletTimelineInverted"/>
    <dgm:cxn modelId="{41240D08-EAAE-43D3-B263-DAC8ED18760D}" type="presParOf" srcId="{86C4C0F0-4CDE-491B-AB80-6AEF794607D4}" destId="{3357128C-DEBD-4F34-9212-54EB7F089D19}" srcOrd="0" destOrd="0" presId="urn:microsoft.com/office/officeart/2024/layout/BulletTimelineInverted"/>
    <dgm:cxn modelId="{381F7CC2-1605-475B-B4A5-BBDC6D14F50D}" type="presParOf" srcId="{3357128C-DEBD-4F34-9212-54EB7F089D19}" destId="{503FCA70-F6FF-4AC1-BC8D-F0ACF939E9ED}" srcOrd="0" destOrd="0" presId="urn:microsoft.com/office/officeart/2024/layout/BulletTimelineInverted"/>
    <dgm:cxn modelId="{E3B8FB3F-BAE7-4C22-A7C6-497168971435}" type="presParOf" srcId="{3357128C-DEBD-4F34-9212-54EB7F089D19}" destId="{0302D855-8704-4C5D-BD3D-57748D3E46B2}" srcOrd="1" destOrd="0" presId="urn:microsoft.com/office/officeart/2024/layout/BulletTimelineInverted"/>
    <dgm:cxn modelId="{B18BA1DA-3F23-4B49-9ECA-B615505B6265}" type="presParOf" srcId="{86C4C0F0-4CDE-491B-AB80-6AEF794607D4}" destId="{46D5E731-0D5B-439B-969D-6549B3D3A41F}" srcOrd="1" destOrd="0" presId="urn:microsoft.com/office/officeart/2024/layout/BulletTimelineInverted"/>
    <dgm:cxn modelId="{ACE8B17E-E781-4808-BA1C-BD4E864F6747}" type="presParOf" srcId="{86C4C0F0-4CDE-491B-AB80-6AEF794607D4}" destId="{5466DB78-610A-453C-AF2D-599949AF04D9}" srcOrd="2" destOrd="0" presId="urn:microsoft.com/office/officeart/2024/layout/BulletTimelineInverted"/>
    <dgm:cxn modelId="{507913D3-7A84-482D-9219-3C3438886418}" type="presParOf" srcId="{86C4C0F0-4CDE-491B-AB80-6AEF794607D4}" destId="{CC42CC2A-6B13-4DE7-87F3-A1805D9E5627}" srcOrd="3" destOrd="0" presId="urn:microsoft.com/office/officeart/2024/layout/BulletTimelineInverted"/>
    <dgm:cxn modelId="{329B2325-7A54-497E-9A18-7F0A6E249760}" type="presParOf" srcId="{86C4C0F0-4CDE-491B-AB80-6AEF794607D4}" destId="{2B32ACF4-8D79-4BEB-81A7-C1E8E0AD7B95}" srcOrd="4" destOrd="0" presId="urn:microsoft.com/office/officeart/2024/layout/BulletTimelineInverted"/>
    <dgm:cxn modelId="{D2BF8F84-6C59-485C-8242-12F223B7445C}" type="presParOf" srcId="{2B32ACF4-8D79-4BEB-81A7-C1E8E0AD7B95}" destId="{2D038993-78DB-455F-8027-C4A1B1B4CE5B}" srcOrd="0" destOrd="0" presId="urn:microsoft.com/office/officeart/2024/layout/BulletTimelineInverted"/>
    <dgm:cxn modelId="{3FD230C9-DF48-430D-8B05-515CC59C8652}" type="presParOf" srcId="{86C4C0F0-4CDE-491B-AB80-6AEF794607D4}" destId="{B03E5C96-7B1F-4E1C-B631-89CFC47F2AD9}" srcOrd="5" destOrd="0" presId="urn:microsoft.com/office/officeart/2024/layout/BulletTimelineInverted"/>
    <dgm:cxn modelId="{6906C965-CC60-414A-B145-10A447489736}" type="presParOf" srcId="{E9E66A59-95F7-457D-8D32-BADECB1D1988}" destId="{941ABC65-8A24-403C-B37D-D704B2B65AE6}" srcOrd="3" destOrd="0" presId="urn:microsoft.com/office/officeart/2024/layout/BulletTimelineInverted"/>
    <dgm:cxn modelId="{17443664-C952-495B-AA2E-626132E3286A}" type="presParOf" srcId="{E9E66A59-95F7-457D-8D32-BADECB1D1988}" destId="{AFD55453-036E-42F1-A41F-0908673D0436}" srcOrd="4" destOrd="0" presId="urn:microsoft.com/office/officeart/2024/layout/BulletTimelineInverted"/>
    <dgm:cxn modelId="{30FE30A7-B11D-4629-B0EF-7FE170BDF79A}" type="presParOf" srcId="{AFD55453-036E-42F1-A41F-0908673D0436}" destId="{3C4DA009-0B66-426A-AFB6-AE1AD2D48182}" srcOrd="0" destOrd="0" presId="urn:microsoft.com/office/officeart/2024/layout/BulletTimelineInverted"/>
    <dgm:cxn modelId="{2E9396FD-1E8B-40C2-8CD7-4C85A8E59553}" type="presParOf" srcId="{3C4DA009-0B66-426A-AFB6-AE1AD2D48182}" destId="{FB841E30-6EB5-4EA4-8379-3FB0F4CA633A}" srcOrd="0" destOrd="0" presId="urn:microsoft.com/office/officeart/2024/layout/BulletTimelineInverted"/>
    <dgm:cxn modelId="{153E4FBC-5852-43DE-A50A-DA8DC1F67923}" type="presParOf" srcId="{3C4DA009-0B66-426A-AFB6-AE1AD2D48182}" destId="{6FC9F12A-7854-404C-87E5-1247CA0B507D}" srcOrd="1" destOrd="0" presId="urn:microsoft.com/office/officeart/2024/layout/BulletTimelineInverted"/>
    <dgm:cxn modelId="{B3686E33-07E5-4A4C-831B-92E836CC9613}" type="presParOf" srcId="{AFD55453-036E-42F1-A41F-0908673D0436}" destId="{E933A893-052F-481C-B359-AD027AED7C8F}" srcOrd="1" destOrd="0" presId="urn:microsoft.com/office/officeart/2024/layout/BulletTimelineInverted"/>
    <dgm:cxn modelId="{78D8B56C-120B-4702-A6AB-62BBEFD748C1}" type="presParOf" srcId="{AFD55453-036E-42F1-A41F-0908673D0436}" destId="{CC8E9F5C-8626-422F-8337-12DEA65EA965}" srcOrd="2" destOrd="0" presId="urn:microsoft.com/office/officeart/2024/layout/BulletTimelineInverted"/>
    <dgm:cxn modelId="{BC07DAA3-FB01-468A-8FA3-1F8956BDE733}" type="presParOf" srcId="{AFD55453-036E-42F1-A41F-0908673D0436}" destId="{A33E34B7-8848-465D-A595-67842570DA31}" srcOrd="3" destOrd="0" presId="urn:microsoft.com/office/officeart/2024/layout/BulletTimelineInverted"/>
    <dgm:cxn modelId="{47AB2596-A9CD-43B2-A8E4-96CA558419B4}" type="presParOf" srcId="{AFD55453-036E-42F1-A41F-0908673D0436}" destId="{7736DD8F-07AF-42D5-9DCC-51D0D78742ED}" srcOrd="4" destOrd="0" presId="urn:microsoft.com/office/officeart/2024/layout/BulletTimelineInverted"/>
    <dgm:cxn modelId="{505AF611-EB7D-484B-9FA2-E48C5EBB681F}" type="presParOf" srcId="{7736DD8F-07AF-42D5-9DCC-51D0D78742ED}" destId="{F9C99EF7-6D9C-473C-BD60-00AB677BFBCE}" srcOrd="0" destOrd="0" presId="urn:microsoft.com/office/officeart/2024/layout/BulletTimelineInverted"/>
    <dgm:cxn modelId="{E005ECE7-EBEB-405B-88E8-3AEA1D68BA0B}" type="presParOf" srcId="{AFD55453-036E-42F1-A41F-0908673D0436}" destId="{FF2C8BEF-EBEF-4CDE-A4C9-E7F4F6D937FA}" srcOrd="5" destOrd="0" presId="urn:microsoft.com/office/officeart/2024/layout/BulletTimelineInverted"/>
    <dgm:cxn modelId="{0C5C2964-BFB2-4972-ACB9-1BAE008F9885}" type="presParOf" srcId="{E9E66A59-95F7-457D-8D32-BADECB1D1988}" destId="{047A5086-5C3A-480F-A9B1-6FDD9B9ED32F}" srcOrd="5" destOrd="0" presId="urn:microsoft.com/office/officeart/2024/layout/BulletTimelineInverted"/>
    <dgm:cxn modelId="{1931C5D8-5E77-45BD-A288-3A5ED6AF12BF}" type="presParOf" srcId="{E9E66A59-95F7-457D-8D32-BADECB1D1988}" destId="{19E2CA56-4BA8-47CB-8551-C4669500F313}" srcOrd="6" destOrd="0" presId="urn:microsoft.com/office/officeart/2024/layout/BulletTimelineInverted"/>
    <dgm:cxn modelId="{A7782699-D87F-4DC2-B145-EE1D1DA9801A}" type="presParOf" srcId="{19E2CA56-4BA8-47CB-8551-C4669500F313}" destId="{394E79DB-78FC-4C75-8136-2BACA79659D5}" srcOrd="0" destOrd="0" presId="urn:microsoft.com/office/officeart/2024/layout/BulletTimelineInverted"/>
    <dgm:cxn modelId="{8572E596-0F41-490A-8D2F-1C7B73960FAC}" type="presParOf" srcId="{394E79DB-78FC-4C75-8136-2BACA79659D5}" destId="{6BFC8EA2-A02F-4409-9D4E-697AA001E7D4}" srcOrd="0" destOrd="0" presId="urn:microsoft.com/office/officeart/2024/layout/BulletTimelineInverted"/>
    <dgm:cxn modelId="{F96D3EE6-8C03-4779-A368-DABE0A63EC10}" type="presParOf" srcId="{394E79DB-78FC-4C75-8136-2BACA79659D5}" destId="{9107AEBD-7070-4656-B85D-B02C97AEF63E}" srcOrd="1" destOrd="0" presId="urn:microsoft.com/office/officeart/2024/layout/BulletTimelineInverted"/>
    <dgm:cxn modelId="{69692996-3993-4C5D-8CEE-37E95AADE0BD}" type="presParOf" srcId="{19E2CA56-4BA8-47CB-8551-C4669500F313}" destId="{CA870E54-AD4B-40E6-B619-E6EE1302CA63}" srcOrd="1" destOrd="0" presId="urn:microsoft.com/office/officeart/2024/layout/BulletTimelineInverted"/>
    <dgm:cxn modelId="{006806C4-5E18-4442-B5F5-9C7041A5BD9F}" type="presParOf" srcId="{19E2CA56-4BA8-47CB-8551-C4669500F313}" destId="{AD0327A9-7D13-4813-BA40-4583F16FDB80}" srcOrd="2" destOrd="0" presId="urn:microsoft.com/office/officeart/2024/layout/BulletTimelineInverted"/>
    <dgm:cxn modelId="{8EA685A6-A7CC-40AD-811C-FB0AB9E1D1E8}" type="presParOf" srcId="{19E2CA56-4BA8-47CB-8551-C4669500F313}" destId="{D5400057-C239-4809-A01C-280686ACFB5A}" srcOrd="3" destOrd="0" presId="urn:microsoft.com/office/officeart/2024/layout/BulletTimelineInverted"/>
    <dgm:cxn modelId="{FDBEFF4E-4820-464F-9A98-23669E79D143}" type="presParOf" srcId="{19E2CA56-4BA8-47CB-8551-C4669500F313}" destId="{B067456C-D8D5-4741-A76C-E1B864668D29}" srcOrd="4" destOrd="0" presId="urn:microsoft.com/office/officeart/2024/layout/BulletTimelineInverted"/>
    <dgm:cxn modelId="{C858B72C-3F57-4045-9CCD-C452563DF2FF}" type="presParOf" srcId="{B067456C-D8D5-4741-A76C-E1B864668D29}" destId="{C93C8A9A-315C-4D6D-89ED-FE640A2D222B}" srcOrd="0" destOrd="0" presId="urn:microsoft.com/office/officeart/2024/layout/BulletTimelineInverted"/>
    <dgm:cxn modelId="{38BEA441-845E-405B-AFA2-6A9934DCBCF2}" type="presParOf" srcId="{19E2CA56-4BA8-47CB-8551-C4669500F313}" destId="{B122DBBE-DAB9-4344-8CF9-397C6FC0F80B}" srcOrd="5" destOrd="0" presId="urn:microsoft.com/office/officeart/2024/layout/BulletTimelineInverted"/>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C98137E-4030-41B9-B092-F42FAC5D64DF}" type="doc">
      <dgm:prSet loTypeId="urn:microsoft.com/office/officeart/2005/8/layout/vList2" loCatId="list" qsTypeId="urn:microsoft.com/office/officeart/2005/8/quickstyle/simple1#5" qsCatId="simple" csTypeId="urn:microsoft.com/office/officeart/2005/8/colors/accent1_2#5" csCatId="accent1"/>
      <dgm:spPr/>
      <dgm:t>
        <a:bodyPr/>
        <a:lstStyle/>
        <a:p>
          <a:endParaRPr lang="fr-FR"/>
        </a:p>
      </dgm:t>
    </dgm:pt>
    <dgm:pt modelId="{EA51AC76-D5D3-4215-9B99-E5FF7356A2B7}">
      <dgm:prSet custT="1"/>
      <dgm:spPr/>
      <dgm:t>
        <a:bodyPr/>
        <a:lstStyle/>
        <a:p>
          <a:pPr algn="ctr"/>
          <a:r>
            <a:rPr lang="fr-FR" sz="1300" b="1"/>
            <a:t>Références : Ministères maliens chargés de l’Éducation et de la Santé, complétées par la grille d’équipement du Burkina Faso.</a:t>
          </a:r>
          <a:endParaRPr lang="fr-FR" sz="1300"/>
        </a:p>
      </dgm:t>
    </dgm:pt>
    <dgm:pt modelId="{D68548A1-409E-4EA6-96AC-401A1761CF5C}" type="parTrans" cxnId="{6BB8F02A-3BCB-4D21-A446-A5B7EAC24210}">
      <dgm:prSet/>
      <dgm:spPr/>
      <dgm:t>
        <a:bodyPr/>
        <a:lstStyle/>
        <a:p>
          <a:pPr algn="ctr"/>
          <a:endParaRPr lang="fr-FR" sz="1300"/>
        </a:p>
      </dgm:t>
    </dgm:pt>
    <dgm:pt modelId="{F88280FD-CE3C-492B-8BF7-1786A691757F}" type="sibTrans" cxnId="{6BB8F02A-3BCB-4D21-A446-A5B7EAC24210}">
      <dgm:prSet/>
      <dgm:spPr/>
      <dgm:t>
        <a:bodyPr/>
        <a:lstStyle/>
        <a:p>
          <a:pPr algn="ctr"/>
          <a:endParaRPr lang="fr-FR" sz="1300"/>
        </a:p>
      </dgm:t>
    </dgm:pt>
    <dgm:pt modelId="{521C703C-4357-417C-84BB-0F1A98EC5A33}" type="pres">
      <dgm:prSet presAssocID="{DC98137E-4030-41B9-B092-F42FAC5D64DF}" presName="linear" presStyleCnt="0">
        <dgm:presLayoutVars>
          <dgm:animLvl val="lvl"/>
          <dgm:resizeHandles val="exact"/>
        </dgm:presLayoutVars>
      </dgm:prSet>
      <dgm:spPr/>
    </dgm:pt>
    <dgm:pt modelId="{FE421F03-4BB7-410F-9BAF-6C2588D3D47C}" type="pres">
      <dgm:prSet presAssocID="{EA51AC76-D5D3-4215-9B99-E5FF7356A2B7}" presName="parentText" presStyleLbl="node1" presStyleIdx="0" presStyleCnt="1">
        <dgm:presLayoutVars>
          <dgm:chMax val="0"/>
          <dgm:bulletEnabled val="1"/>
        </dgm:presLayoutVars>
      </dgm:prSet>
      <dgm:spPr/>
    </dgm:pt>
  </dgm:ptLst>
  <dgm:cxnLst>
    <dgm:cxn modelId="{6BB8F02A-3BCB-4D21-A446-A5B7EAC24210}" srcId="{DC98137E-4030-41B9-B092-F42FAC5D64DF}" destId="{EA51AC76-D5D3-4215-9B99-E5FF7356A2B7}" srcOrd="0" destOrd="0" parTransId="{D68548A1-409E-4EA6-96AC-401A1761CF5C}" sibTransId="{F88280FD-CE3C-492B-8BF7-1786A691757F}"/>
    <dgm:cxn modelId="{3BE2C754-8F90-4087-B22C-005F14FEEC58}" type="presOf" srcId="{EA51AC76-D5D3-4215-9B99-E5FF7356A2B7}" destId="{FE421F03-4BB7-410F-9BAF-6C2588D3D47C}" srcOrd="0" destOrd="0" presId="urn:microsoft.com/office/officeart/2005/8/layout/vList2"/>
    <dgm:cxn modelId="{F17D3AEF-6421-4187-9DDE-079DE9795089}" type="presOf" srcId="{DC98137E-4030-41B9-B092-F42FAC5D64DF}" destId="{521C703C-4357-417C-84BB-0F1A98EC5A33}" srcOrd="0" destOrd="0" presId="urn:microsoft.com/office/officeart/2005/8/layout/vList2"/>
    <dgm:cxn modelId="{00128831-3C01-4B6E-9069-73E47BFAF357}" type="presParOf" srcId="{521C703C-4357-417C-84BB-0F1A98EC5A33}" destId="{FE421F03-4BB7-410F-9BAF-6C2588D3D47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96F034-9025-43E8-A0BB-FA29C2AA2EF6}" type="doc">
      <dgm:prSet loTypeId="urn:microsoft.com/office/officeart/2005/8/layout/vList2" loCatId="list" qsTypeId="urn:microsoft.com/office/officeart/2005/8/quickstyle/simple1#6" qsCatId="simple" csTypeId="urn:microsoft.com/office/officeart/2005/8/colors/colorful1#1" csCatId="colorful"/>
      <dgm:spPr/>
      <dgm:t>
        <a:bodyPr/>
        <a:lstStyle/>
        <a:p>
          <a:endParaRPr lang="fr-FR"/>
        </a:p>
      </dgm:t>
    </dgm:pt>
    <dgm:pt modelId="{D8CFE423-510E-4949-86F9-FEE8E6BF761D}">
      <dgm:prSet/>
      <dgm:spPr/>
      <dgm:t>
        <a:bodyPr/>
        <a:lstStyle/>
        <a:p>
          <a:r>
            <a:rPr lang="fr-FR" b="1"/>
            <a:t>37 % de l’offre se concentre au Plateau.</a:t>
          </a:r>
          <a:endParaRPr lang="fr-FR"/>
        </a:p>
      </dgm:t>
    </dgm:pt>
    <dgm:pt modelId="{0EF9E1FB-EA77-4A30-A080-CC4B00D97BA6}" type="parTrans" cxnId="{A22786CB-62DA-49EF-885E-A6B2A2286263}">
      <dgm:prSet/>
      <dgm:spPr/>
      <dgm:t>
        <a:bodyPr/>
        <a:lstStyle/>
        <a:p>
          <a:endParaRPr lang="fr-FR"/>
        </a:p>
      </dgm:t>
    </dgm:pt>
    <dgm:pt modelId="{D2E6B4E5-86E5-4758-B0F6-5219523FFF09}" type="sibTrans" cxnId="{A22786CB-62DA-49EF-885E-A6B2A2286263}">
      <dgm:prSet/>
      <dgm:spPr/>
      <dgm:t>
        <a:bodyPr/>
        <a:lstStyle/>
        <a:p>
          <a:endParaRPr lang="fr-FR"/>
        </a:p>
      </dgm:t>
    </dgm:pt>
    <dgm:pt modelId="{F1DB47E0-F1F7-488C-AEB8-D2CE432604C7}" type="pres">
      <dgm:prSet presAssocID="{F396F034-9025-43E8-A0BB-FA29C2AA2EF6}" presName="linear" presStyleCnt="0">
        <dgm:presLayoutVars>
          <dgm:animLvl val="lvl"/>
          <dgm:resizeHandles val="exact"/>
        </dgm:presLayoutVars>
      </dgm:prSet>
      <dgm:spPr/>
    </dgm:pt>
    <dgm:pt modelId="{69F75AB5-073C-4565-9C7D-4BCA75A84C3D}" type="pres">
      <dgm:prSet presAssocID="{D8CFE423-510E-4949-86F9-FEE8E6BF761D}" presName="parentText" presStyleLbl="node1" presStyleIdx="0" presStyleCnt="1">
        <dgm:presLayoutVars>
          <dgm:chMax val="0"/>
          <dgm:bulletEnabled val="1"/>
        </dgm:presLayoutVars>
      </dgm:prSet>
      <dgm:spPr/>
    </dgm:pt>
  </dgm:ptLst>
  <dgm:cxnLst>
    <dgm:cxn modelId="{97A08C35-A805-4D76-A0F9-FD01E4CD9BE5}" type="presOf" srcId="{F396F034-9025-43E8-A0BB-FA29C2AA2EF6}" destId="{F1DB47E0-F1F7-488C-AEB8-D2CE432604C7}" srcOrd="0" destOrd="0" presId="urn:microsoft.com/office/officeart/2005/8/layout/vList2"/>
    <dgm:cxn modelId="{C3C385A7-74C1-45BD-A176-4FBA79DA2596}" type="presOf" srcId="{D8CFE423-510E-4949-86F9-FEE8E6BF761D}" destId="{69F75AB5-073C-4565-9C7D-4BCA75A84C3D}" srcOrd="0" destOrd="0" presId="urn:microsoft.com/office/officeart/2005/8/layout/vList2"/>
    <dgm:cxn modelId="{A22786CB-62DA-49EF-885E-A6B2A2286263}" srcId="{F396F034-9025-43E8-A0BB-FA29C2AA2EF6}" destId="{D8CFE423-510E-4949-86F9-FEE8E6BF761D}" srcOrd="0" destOrd="0" parTransId="{0EF9E1FB-EA77-4A30-A080-CC4B00D97BA6}" sibTransId="{D2E6B4E5-86E5-4758-B0F6-5219523FFF09}"/>
    <dgm:cxn modelId="{B69E4545-AE0D-43F7-AE3C-3391D2DA84DC}" type="presParOf" srcId="{F1DB47E0-F1F7-488C-AEB8-D2CE432604C7}" destId="{69F75AB5-073C-4565-9C7D-4BCA75A84C3D}"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BB61D6-3EA7-4BFD-87B3-3658CF035C54}" type="doc">
      <dgm:prSet loTypeId="urn:microsoft.com/office/officeart/2005/8/layout/vList2" loCatId="list" qsTypeId="urn:microsoft.com/office/officeart/2005/8/quickstyle/simple1#7" qsCatId="simple" csTypeId="urn:microsoft.com/office/officeart/2005/8/colors/colorful1#2" csCatId="colorful"/>
      <dgm:spPr/>
      <dgm:t>
        <a:bodyPr/>
        <a:lstStyle/>
        <a:p>
          <a:endParaRPr lang="fr-FR"/>
        </a:p>
      </dgm:t>
    </dgm:pt>
    <dgm:pt modelId="{ED52FBD8-80FF-4B5D-AA5B-76755074DA04}">
      <dgm:prSet/>
      <dgm:spPr/>
      <dgm:t>
        <a:bodyPr/>
        <a:lstStyle/>
        <a:p>
          <a:r>
            <a:rPr lang="fr-FR" b="1"/>
            <a:t>Légal-Ségou et Liberté ne disposent d’aucun CSCOM.</a:t>
          </a:r>
          <a:endParaRPr lang="fr-FR"/>
        </a:p>
      </dgm:t>
    </dgm:pt>
    <dgm:pt modelId="{8D328E38-2B8D-44A0-AF70-7F59028A87A8}" type="parTrans" cxnId="{C8D1C7FB-D1BC-43CC-BDFD-051020EBD055}">
      <dgm:prSet/>
      <dgm:spPr/>
      <dgm:t>
        <a:bodyPr/>
        <a:lstStyle/>
        <a:p>
          <a:endParaRPr lang="fr-FR"/>
        </a:p>
      </dgm:t>
    </dgm:pt>
    <dgm:pt modelId="{AC4D3869-EF84-4200-BE88-3D659EF61644}" type="sibTrans" cxnId="{C8D1C7FB-D1BC-43CC-BDFD-051020EBD055}">
      <dgm:prSet/>
      <dgm:spPr/>
      <dgm:t>
        <a:bodyPr/>
        <a:lstStyle/>
        <a:p>
          <a:endParaRPr lang="fr-FR"/>
        </a:p>
      </dgm:t>
    </dgm:pt>
    <dgm:pt modelId="{CA78D68A-A691-4762-9D5A-88E1AF08FB2E}" type="pres">
      <dgm:prSet presAssocID="{BBBB61D6-3EA7-4BFD-87B3-3658CF035C54}" presName="linear" presStyleCnt="0">
        <dgm:presLayoutVars>
          <dgm:animLvl val="lvl"/>
          <dgm:resizeHandles val="exact"/>
        </dgm:presLayoutVars>
      </dgm:prSet>
      <dgm:spPr/>
    </dgm:pt>
    <dgm:pt modelId="{C2221810-E1ED-4604-A154-153364C6273E}" type="pres">
      <dgm:prSet presAssocID="{ED52FBD8-80FF-4B5D-AA5B-76755074DA04}" presName="parentText" presStyleLbl="node1" presStyleIdx="0" presStyleCnt="1">
        <dgm:presLayoutVars>
          <dgm:chMax val="0"/>
          <dgm:bulletEnabled val="1"/>
        </dgm:presLayoutVars>
      </dgm:prSet>
      <dgm:spPr/>
    </dgm:pt>
  </dgm:ptLst>
  <dgm:cxnLst>
    <dgm:cxn modelId="{1A2E5F0E-1435-45FB-B40B-8DEEB6371D66}" type="presOf" srcId="{BBBB61D6-3EA7-4BFD-87B3-3658CF035C54}" destId="{CA78D68A-A691-4762-9D5A-88E1AF08FB2E}" srcOrd="0" destOrd="0" presId="urn:microsoft.com/office/officeart/2005/8/layout/vList2"/>
    <dgm:cxn modelId="{77B8027B-BA8C-4F39-9F04-8EF11A2EBF60}" type="presOf" srcId="{ED52FBD8-80FF-4B5D-AA5B-76755074DA04}" destId="{C2221810-E1ED-4604-A154-153364C6273E}" srcOrd="0" destOrd="0" presId="urn:microsoft.com/office/officeart/2005/8/layout/vList2"/>
    <dgm:cxn modelId="{C8D1C7FB-D1BC-43CC-BDFD-051020EBD055}" srcId="{BBBB61D6-3EA7-4BFD-87B3-3658CF035C54}" destId="{ED52FBD8-80FF-4B5D-AA5B-76755074DA04}" srcOrd="0" destOrd="0" parTransId="{8D328E38-2B8D-44A0-AF70-7F59028A87A8}" sibTransId="{AC4D3869-EF84-4200-BE88-3D659EF61644}"/>
    <dgm:cxn modelId="{7E2E2C7F-0E44-431B-9699-88F6ED928818}" type="presParOf" srcId="{CA78D68A-A691-4762-9D5A-88E1AF08FB2E}" destId="{C2221810-E1ED-4604-A154-153364C6273E}"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4AC43B5-8536-40CA-96F6-733BD62A1782}" type="doc">
      <dgm:prSet loTypeId="urn:microsoft.com/office/officeart/2005/8/layout/vList2" loCatId="list" qsTypeId="urn:microsoft.com/office/officeart/2005/8/quickstyle/simple1#8" qsCatId="simple" csTypeId="urn:microsoft.com/office/officeart/2005/8/colors/accent1_2#6" csCatId="accent1" phldr="1"/>
      <dgm:spPr/>
      <dgm:t>
        <a:bodyPr/>
        <a:lstStyle/>
        <a:p>
          <a:endParaRPr lang="fr-FR"/>
        </a:p>
      </dgm:t>
    </dgm:pt>
    <dgm:pt modelId="{832C3427-6DA6-4933-AFC0-873FFD96B588}">
      <dgm:prSet/>
      <dgm:spPr/>
      <dgm:t>
        <a:bodyPr/>
        <a:lstStyle/>
        <a:p>
          <a:r>
            <a:rPr lang="fr-FR" b="0" dirty="0"/>
            <a:t>Ouvrages obstrués dans les quartiers bas</a:t>
          </a:r>
          <a:endParaRPr lang="fr-FR" dirty="0"/>
        </a:p>
      </dgm:t>
    </dgm:pt>
    <dgm:pt modelId="{D2484F56-E64B-406A-BF14-C71D6E634254}" type="parTrans" cxnId="{3AEF4FEE-6CA8-482D-B942-7E002CF3468D}">
      <dgm:prSet/>
      <dgm:spPr/>
      <dgm:t>
        <a:bodyPr/>
        <a:lstStyle/>
        <a:p>
          <a:endParaRPr lang="fr-FR"/>
        </a:p>
      </dgm:t>
    </dgm:pt>
    <dgm:pt modelId="{77C3E4B8-2F53-44FB-9B30-920E9DF9AA98}" type="sibTrans" cxnId="{3AEF4FEE-6CA8-482D-B942-7E002CF3468D}">
      <dgm:prSet/>
      <dgm:spPr/>
      <dgm:t>
        <a:bodyPr/>
        <a:lstStyle/>
        <a:p>
          <a:endParaRPr lang="fr-FR"/>
        </a:p>
      </dgm:t>
    </dgm:pt>
    <dgm:pt modelId="{F5A1F2D2-5D8E-42DE-93A2-D85CAD3E7E90}">
      <dgm:prSet/>
      <dgm:spPr/>
      <dgm:t>
        <a:bodyPr/>
        <a:lstStyle/>
        <a:p>
          <a:r>
            <a:rPr lang="fr-FR" b="0" dirty="0"/>
            <a:t>Collecteurs prévus mais non réalisés dans les extensions</a:t>
          </a:r>
          <a:endParaRPr lang="fr-FR" dirty="0"/>
        </a:p>
      </dgm:t>
    </dgm:pt>
    <dgm:pt modelId="{9BBB8726-C361-4C46-8C0A-D143311A4134}" type="parTrans" cxnId="{67FF8AD0-91F2-4D9B-882B-C4E92C877A14}">
      <dgm:prSet/>
      <dgm:spPr/>
      <dgm:t>
        <a:bodyPr/>
        <a:lstStyle/>
        <a:p>
          <a:endParaRPr lang="fr-FR"/>
        </a:p>
      </dgm:t>
    </dgm:pt>
    <dgm:pt modelId="{D9099DD5-66B0-4FC5-BCC2-7CB5653334C5}" type="sibTrans" cxnId="{67FF8AD0-91F2-4D9B-882B-C4E92C877A14}">
      <dgm:prSet/>
      <dgm:spPr/>
      <dgm:t>
        <a:bodyPr/>
        <a:lstStyle/>
        <a:p>
          <a:endParaRPr lang="fr-FR"/>
        </a:p>
      </dgm:t>
    </dgm:pt>
    <dgm:pt modelId="{035D1228-A534-4BAA-80D0-64B77BA53BBD}">
      <dgm:prSet/>
      <dgm:spPr/>
      <dgm:t>
        <a:bodyPr/>
        <a:lstStyle/>
        <a:p>
          <a:r>
            <a:rPr lang="fr-FR" b="0" dirty="0"/>
            <a:t>Érosion des berges de Papara et </a:t>
          </a:r>
          <a:r>
            <a:rPr lang="fr-FR" b="0" dirty="0" err="1"/>
            <a:t>Kamankolé</a:t>
          </a:r>
          <a:endParaRPr lang="fr-FR" dirty="0"/>
        </a:p>
      </dgm:t>
    </dgm:pt>
    <dgm:pt modelId="{15065B78-1A00-40F2-8DD7-DCBC10F5D3AF}" type="parTrans" cxnId="{6627D96F-1550-44F0-9439-E26494209702}">
      <dgm:prSet/>
      <dgm:spPr/>
      <dgm:t>
        <a:bodyPr/>
        <a:lstStyle/>
        <a:p>
          <a:endParaRPr lang="fr-FR"/>
        </a:p>
      </dgm:t>
    </dgm:pt>
    <dgm:pt modelId="{69B6CB8D-7FA3-4EA6-9907-BC607FCAF1C0}" type="sibTrans" cxnId="{6627D96F-1550-44F0-9439-E26494209702}">
      <dgm:prSet/>
      <dgm:spPr/>
      <dgm:t>
        <a:bodyPr/>
        <a:lstStyle/>
        <a:p>
          <a:endParaRPr lang="fr-FR"/>
        </a:p>
      </dgm:t>
    </dgm:pt>
    <dgm:pt modelId="{E91DE93E-D3EB-41B2-B6BC-65136DC835C2}" type="pres">
      <dgm:prSet presAssocID="{24AC43B5-8536-40CA-96F6-733BD62A1782}" presName="linear" presStyleCnt="0">
        <dgm:presLayoutVars>
          <dgm:animLvl val="lvl"/>
          <dgm:resizeHandles val="exact"/>
        </dgm:presLayoutVars>
      </dgm:prSet>
      <dgm:spPr/>
    </dgm:pt>
    <dgm:pt modelId="{D819E6C4-1379-4051-BB41-917EF79C8F0B}" type="pres">
      <dgm:prSet presAssocID="{832C3427-6DA6-4933-AFC0-873FFD96B588}" presName="parentText" presStyleLbl="node1" presStyleIdx="0" presStyleCnt="3">
        <dgm:presLayoutVars>
          <dgm:chMax val="0"/>
          <dgm:bulletEnabled val="1"/>
        </dgm:presLayoutVars>
      </dgm:prSet>
      <dgm:spPr/>
    </dgm:pt>
    <dgm:pt modelId="{77BD99F5-9EAE-4F67-A09C-4AB7B6F8EE4E}" type="pres">
      <dgm:prSet presAssocID="{77C3E4B8-2F53-44FB-9B30-920E9DF9AA98}" presName="spacer" presStyleCnt="0"/>
      <dgm:spPr/>
    </dgm:pt>
    <dgm:pt modelId="{38E281C4-73BA-4C58-91D6-21C8AA805658}" type="pres">
      <dgm:prSet presAssocID="{F5A1F2D2-5D8E-42DE-93A2-D85CAD3E7E90}" presName="parentText" presStyleLbl="node1" presStyleIdx="1" presStyleCnt="3">
        <dgm:presLayoutVars>
          <dgm:chMax val="0"/>
          <dgm:bulletEnabled val="1"/>
        </dgm:presLayoutVars>
      </dgm:prSet>
      <dgm:spPr/>
    </dgm:pt>
    <dgm:pt modelId="{72AAA482-AFAA-4B64-9036-B5BA277AD3D8}" type="pres">
      <dgm:prSet presAssocID="{D9099DD5-66B0-4FC5-BCC2-7CB5653334C5}" presName="spacer" presStyleCnt="0"/>
      <dgm:spPr/>
    </dgm:pt>
    <dgm:pt modelId="{AC435959-812F-4210-B0C8-97221EBA7A73}" type="pres">
      <dgm:prSet presAssocID="{035D1228-A534-4BAA-80D0-64B77BA53BBD}" presName="parentText" presStyleLbl="node1" presStyleIdx="2" presStyleCnt="3">
        <dgm:presLayoutVars>
          <dgm:chMax val="0"/>
          <dgm:bulletEnabled val="1"/>
        </dgm:presLayoutVars>
      </dgm:prSet>
      <dgm:spPr/>
    </dgm:pt>
  </dgm:ptLst>
  <dgm:cxnLst>
    <dgm:cxn modelId="{74C60204-CB16-4D03-979F-EA741BD52701}" type="presOf" srcId="{F5A1F2D2-5D8E-42DE-93A2-D85CAD3E7E90}" destId="{38E281C4-73BA-4C58-91D6-21C8AA805658}" srcOrd="0" destOrd="0" presId="urn:microsoft.com/office/officeart/2005/8/layout/vList2"/>
    <dgm:cxn modelId="{0E9DE02E-7740-4600-A4B3-4D2A999231CA}" type="presOf" srcId="{035D1228-A534-4BAA-80D0-64B77BA53BBD}" destId="{AC435959-812F-4210-B0C8-97221EBA7A73}" srcOrd="0" destOrd="0" presId="urn:microsoft.com/office/officeart/2005/8/layout/vList2"/>
    <dgm:cxn modelId="{0D9B9530-1030-4FB9-9BE4-6AE9E0D6A136}" type="presOf" srcId="{24AC43B5-8536-40CA-96F6-733BD62A1782}" destId="{E91DE93E-D3EB-41B2-B6BC-65136DC835C2}" srcOrd="0" destOrd="0" presId="urn:microsoft.com/office/officeart/2005/8/layout/vList2"/>
    <dgm:cxn modelId="{6627D96F-1550-44F0-9439-E26494209702}" srcId="{24AC43B5-8536-40CA-96F6-733BD62A1782}" destId="{035D1228-A534-4BAA-80D0-64B77BA53BBD}" srcOrd="2" destOrd="0" parTransId="{15065B78-1A00-40F2-8DD7-DCBC10F5D3AF}" sibTransId="{69B6CB8D-7FA3-4EA6-9907-BC607FCAF1C0}"/>
    <dgm:cxn modelId="{67FF8AD0-91F2-4D9B-882B-C4E92C877A14}" srcId="{24AC43B5-8536-40CA-96F6-733BD62A1782}" destId="{F5A1F2D2-5D8E-42DE-93A2-D85CAD3E7E90}" srcOrd="1" destOrd="0" parTransId="{9BBB8726-C361-4C46-8C0A-D143311A4134}" sibTransId="{D9099DD5-66B0-4FC5-BCC2-7CB5653334C5}"/>
    <dgm:cxn modelId="{31C0E4D9-9477-419A-BD1F-7A905422940B}" type="presOf" srcId="{832C3427-6DA6-4933-AFC0-873FFD96B588}" destId="{D819E6C4-1379-4051-BB41-917EF79C8F0B}" srcOrd="0" destOrd="0" presId="urn:microsoft.com/office/officeart/2005/8/layout/vList2"/>
    <dgm:cxn modelId="{3AEF4FEE-6CA8-482D-B942-7E002CF3468D}" srcId="{24AC43B5-8536-40CA-96F6-733BD62A1782}" destId="{832C3427-6DA6-4933-AFC0-873FFD96B588}" srcOrd="0" destOrd="0" parTransId="{D2484F56-E64B-406A-BF14-C71D6E634254}" sibTransId="{77C3E4B8-2F53-44FB-9B30-920E9DF9AA98}"/>
    <dgm:cxn modelId="{17B516A1-79A3-4076-A95D-4CDF534D23F5}" type="presParOf" srcId="{E91DE93E-D3EB-41B2-B6BC-65136DC835C2}" destId="{D819E6C4-1379-4051-BB41-917EF79C8F0B}" srcOrd="0" destOrd="0" presId="urn:microsoft.com/office/officeart/2005/8/layout/vList2"/>
    <dgm:cxn modelId="{581B3193-1E55-464A-9836-78169F700DD3}" type="presParOf" srcId="{E91DE93E-D3EB-41B2-B6BC-65136DC835C2}" destId="{77BD99F5-9EAE-4F67-A09C-4AB7B6F8EE4E}" srcOrd="1" destOrd="0" presId="urn:microsoft.com/office/officeart/2005/8/layout/vList2"/>
    <dgm:cxn modelId="{B0B3EED0-9AED-4F35-A57D-50B2CC936E75}" type="presParOf" srcId="{E91DE93E-D3EB-41B2-B6BC-65136DC835C2}" destId="{38E281C4-73BA-4C58-91D6-21C8AA805658}" srcOrd="2" destOrd="0" presId="urn:microsoft.com/office/officeart/2005/8/layout/vList2"/>
    <dgm:cxn modelId="{093C9CBB-71B3-4E30-BAA8-B6B9B1D39B95}" type="presParOf" srcId="{E91DE93E-D3EB-41B2-B6BC-65136DC835C2}" destId="{72AAA482-AFAA-4B64-9036-B5BA277AD3D8}" srcOrd="3" destOrd="0" presId="urn:microsoft.com/office/officeart/2005/8/layout/vList2"/>
    <dgm:cxn modelId="{F1F241D5-C291-4A04-823B-0E94E2F2A123}" type="presParOf" srcId="{E91DE93E-D3EB-41B2-B6BC-65136DC835C2}" destId="{AC435959-812F-4210-B0C8-97221EBA7A73}"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CF1200E-F2AE-4DE3-89BA-1930E10F8FFD}" type="doc">
      <dgm:prSet loTypeId="urn:microsoft.com/office/officeart/2005/8/layout/vList2" loCatId="list" qsTypeId="urn:microsoft.com/office/officeart/2005/8/quickstyle/simple1#9" qsCatId="simple" csTypeId="urn:microsoft.com/office/officeart/2005/8/colors/accent1_2#7" csCatId="accent1"/>
      <dgm:spPr/>
      <dgm:t>
        <a:bodyPr/>
        <a:lstStyle/>
        <a:p>
          <a:endParaRPr lang="fr-FR"/>
        </a:p>
      </dgm:t>
    </dgm:pt>
    <dgm:pt modelId="{DB88CA78-5710-41E5-806E-26007384F691}">
      <dgm:prSet/>
      <dgm:spPr/>
      <dgm:t>
        <a:bodyPr/>
        <a:lstStyle/>
        <a:p>
          <a:r>
            <a:rPr lang="fr-FR" b="0"/>
            <a:t>Farada–Kamankolé : 1 500 ml</a:t>
          </a:r>
        </a:p>
      </dgm:t>
    </dgm:pt>
    <dgm:pt modelId="{DE69F089-D01D-4D04-9972-A395E095502A}" type="parTrans" cxnId="{1AF0E17B-142A-424C-AC09-088F9B3F02B8}">
      <dgm:prSet/>
      <dgm:spPr/>
      <dgm:t>
        <a:bodyPr/>
        <a:lstStyle/>
        <a:p>
          <a:endParaRPr lang="fr-FR" b="0"/>
        </a:p>
      </dgm:t>
    </dgm:pt>
    <dgm:pt modelId="{CA53BFF2-B02B-4402-902E-73A2F9132D7B}" type="sibTrans" cxnId="{1AF0E17B-142A-424C-AC09-088F9B3F02B8}">
      <dgm:prSet/>
      <dgm:spPr/>
      <dgm:t>
        <a:bodyPr/>
        <a:lstStyle/>
        <a:p>
          <a:endParaRPr lang="fr-FR" b="0"/>
        </a:p>
      </dgm:t>
    </dgm:pt>
    <dgm:pt modelId="{C84990EA-92A8-4571-8B0A-06464E60C1C2}">
      <dgm:prSet/>
      <dgm:spPr/>
      <dgm:t>
        <a:bodyPr/>
        <a:lstStyle/>
        <a:p>
          <a:r>
            <a:rPr lang="fr-FR" b="0"/>
            <a:t>Le long des Rails : 2 × 3 340 ml</a:t>
          </a:r>
        </a:p>
      </dgm:t>
    </dgm:pt>
    <dgm:pt modelId="{2AC53D96-49FD-4B2E-AAEF-226EC2FB4F68}" type="parTrans" cxnId="{9C571EE6-E0BF-4BD8-A117-92D8DF4F5C7D}">
      <dgm:prSet/>
      <dgm:spPr/>
      <dgm:t>
        <a:bodyPr/>
        <a:lstStyle/>
        <a:p>
          <a:endParaRPr lang="fr-FR" b="0"/>
        </a:p>
      </dgm:t>
    </dgm:pt>
    <dgm:pt modelId="{A022D9AD-4295-4D7D-B701-5D8EE5B4BD98}" type="sibTrans" cxnId="{9C571EE6-E0BF-4BD8-A117-92D8DF4F5C7D}">
      <dgm:prSet/>
      <dgm:spPr/>
      <dgm:t>
        <a:bodyPr/>
        <a:lstStyle/>
        <a:p>
          <a:endParaRPr lang="fr-FR" b="0"/>
        </a:p>
      </dgm:t>
    </dgm:pt>
    <dgm:pt modelId="{5C377CF1-C557-49A2-B71A-BB97754F7DF5}">
      <dgm:prSet/>
      <dgm:spPr/>
      <dgm:t>
        <a:bodyPr/>
        <a:lstStyle/>
        <a:p>
          <a:r>
            <a:rPr lang="fr-FR" b="0"/>
            <a:t>Bencounda–Papara : 3 528 ml</a:t>
          </a:r>
        </a:p>
      </dgm:t>
    </dgm:pt>
    <dgm:pt modelId="{D4E38CBE-5334-4B07-AD91-8DAD87E43170}" type="parTrans" cxnId="{E3C3B20C-F507-4B94-BFBF-ABAB573B9EEF}">
      <dgm:prSet/>
      <dgm:spPr/>
      <dgm:t>
        <a:bodyPr/>
        <a:lstStyle/>
        <a:p>
          <a:endParaRPr lang="fr-FR" b="0"/>
        </a:p>
      </dgm:t>
    </dgm:pt>
    <dgm:pt modelId="{4964A0E8-233D-47D0-9541-8B5058CA6474}" type="sibTrans" cxnId="{E3C3B20C-F507-4B94-BFBF-ABAB573B9EEF}">
      <dgm:prSet/>
      <dgm:spPr/>
      <dgm:t>
        <a:bodyPr/>
        <a:lstStyle/>
        <a:p>
          <a:endParaRPr lang="fr-FR" b="0"/>
        </a:p>
      </dgm:t>
    </dgm:pt>
    <dgm:pt modelId="{FB82D0D1-30D3-408B-BE17-100185A71AF0}">
      <dgm:prSet/>
      <dgm:spPr/>
      <dgm:t>
        <a:bodyPr/>
        <a:lstStyle/>
        <a:p>
          <a:r>
            <a:rPr lang="fr-FR" b="0"/>
            <a:t>Kayes N’di : 3 × 1 700 ml</a:t>
          </a:r>
        </a:p>
      </dgm:t>
    </dgm:pt>
    <dgm:pt modelId="{9DAFF036-9AB7-4DDE-831F-C5B859B4638F}" type="parTrans" cxnId="{60F9925F-3292-42E5-B1DA-225B3DC8F2B4}">
      <dgm:prSet/>
      <dgm:spPr/>
      <dgm:t>
        <a:bodyPr/>
        <a:lstStyle/>
        <a:p>
          <a:endParaRPr lang="fr-FR" b="0"/>
        </a:p>
      </dgm:t>
    </dgm:pt>
    <dgm:pt modelId="{264964F8-2108-401C-B0DC-DB043B2C8675}" type="sibTrans" cxnId="{60F9925F-3292-42E5-B1DA-225B3DC8F2B4}">
      <dgm:prSet/>
      <dgm:spPr/>
      <dgm:t>
        <a:bodyPr/>
        <a:lstStyle/>
        <a:p>
          <a:endParaRPr lang="fr-FR" b="0"/>
        </a:p>
      </dgm:t>
    </dgm:pt>
    <dgm:pt modelId="{D4269328-F15A-459F-B68F-7778810A4AB1}" type="pres">
      <dgm:prSet presAssocID="{0CF1200E-F2AE-4DE3-89BA-1930E10F8FFD}" presName="linear" presStyleCnt="0">
        <dgm:presLayoutVars>
          <dgm:animLvl val="lvl"/>
          <dgm:resizeHandles val="exact"/>
        </dgm:presLayoutVars>
      </dgm:prSet>
      <dgm:spPr/>
    </dgm:pt>
    <dgm:pt modelId="{C1E4D90B-E5B0-4D9D-8641-F6FBEEA8E7A1}" type="pres">
      <dgm:prSet presAssocID="{DB88CA78-5710-41E5-806E-26007384F691}" presName="parentText" presStyleLbl="node1" presStyleIdx="0" presStyleCnt="4">
        <dgm:presLayoutVars>
          <dgm:chMax val="0"/>
          <dgm:bulletEnabled val="1"/>
        </dgm:presLayoutVars>
      </dgm:prSet>
      <dgm:spPr/>
    </dgm:pt>
    <dgm:pt modelId="{E1ABE769-1860-4741-B250-A04063F8DA83}" type="pres">
      <dgm:prSet presAssocID="{CA53BFF2-B02B-4402-902E-73A2F9132D7B}" presName="spacer" presStyleCnt="0"/>
      <dgm:spPr/>
    </dgm:pt>
    <dgm:pt modelId="{6329C999-10AE-48BA-9B92-9227270F1E84}" type="pres">
      <dgm:prSet presAssocID="{C84990EA-92A8-4571-8B0A-06464E60C1C2}" presName="parentText" presStyleLbl="node1" presStyleIdx="1" presStyleCnt="4">
        <dgm:presLayoutVars>
          <dgm:chMax val="0"/>
          <dgm:bulletEnabled val="1"/>
        </dgm:presLayoutVars>
      </dgm:prSet>
      <dgm:spPr/>
    </dgm:pt>
    <dgm:pt modelId="{43E29061-B9DD-45B8-AFA2-15D3511F6CC5}" type="pres">
      <dgm:prSet presAssocID="{A022D9AD-4295-4D7D-B701-5D8EE5B4BD98}" presName="spacer" presStyleCnt="0"/>
      <dgm:spPr/>
    </dgm:pt>
    <dgm:pt modelId="{D11EC6FE-7376-44C6-BED7-BE38354CD533}" type="pres">
      <dgm:prSet presAssocID="{5C377CF1-C557-49A2-B71A-BB97754F7DF5}" presName="parentText" presStyleLbl="node1" presStyleIdx="2" presStyleCnt="4">
        <dgm:presLayoutVars>
          <dgm:chMax val="0"/>
          <dgm:bulletEnabled val="1"/>
        </dgm:presLayoutVars>
      </dgm:prSet>
      <dgm:spPr/>
    </dgm:pt>
    <dgm:pt modelId="{2B6F685C-9B1D-4132-B14A-91E30D0CB576}" type="pres">
      <dgm:prSet presAssocID="{4964A0E8-233D-47D0-9541-8B5058CA6474}" presName="spacer" presStyleCnt="0"/>
      <dgm:spPr/>
    </dgm:pt>
    <dgm:pt modelId="{18613827-3800-410E-B667-A68474DAC6AD}" type="pres">
      <dgm:prSet presAssocID="{FB82D0D1-30D3-408B-BE17-100185A71AF0}" presName="parentText" presStyleLbl="node1" presStyleIdx="3" presStyleCnt="4">
        <dgm:presLayoutVars>
          <dgm:chMax val="0"/>
          <dgm:bulletEnabled val="1"/>
        </dgm:presLayoutVars>
      </dgm:prSet>
      <dgm:spPr/>
    </dgm:pt>
  </dgm:ptLst>
  <dgm:cxnLst>
    <dgm:cxn modelId="{E3C3B20C-F507-4B94-BFBF-ABAB573B9EEF}" srcId="{0CF1200E-F2AE-4DE3-89BA-1930E10F8FFD}" destId="{5C377CF1-C557-49A2-B71A-BB97754F7DF5}" srcOrd="2" destOrd="0" parTransId="{D4E38CBE-5334-4B07-AD91-8DAD87E43170}" sibTransId="{4964A0E8-233D-47D0-9541-8B5058CA6474}"/>
    <dgm:cxn modelId="{60F9925F-3292-42E5-B1DA-225B3DC8F2B4}" srcId="{0CF1200E-F2AE-4DE3-89BA-1930E10F8FFD}" destId="{FB82D0D1-30D3-408B-BE17-100185A71AF0}" srcOrd="3" destOrd="0" parTransId="{9DAFF036-9AB7-4DDE-831F-C5B859B4638F}" sibTransId="{264964F8-2108-401C-B0DC-DB043B2C8675}"/>
    <dgm:cxn modelId="{1AF0E17B-142A-424C-AC09-088F9B3F02B8}" srcId="{0CF1200E-F2AE-4DE3-89BA-1930E10F8FFD}" destId="{DB88CA78-5710-41E5-806E-26007384F691}" srcOrd="0" destOrd="0" parTransId="{DE69F089-D01D-4D04-9972-A395E095502A}" sibTransId="{CA53BFF2-B02B-4402-902E-73A2F9132D7B}"/>
    <dgm:cxn modelId="{297DFA97-F402-49C4-9EC5-7B81C9B72C70}" type="presOf" srcId="{FB82D0D1-30D3-408B-BE17-100185A71AF0}" destId="{18613827-3800-410E-B667-A68474DAC6AD}" srcOrd="0" destOrd="0" presId="urn:microsoft.com/office/officeart/2005/8/layout/vList2"/>
    <dgm:cxn modelId="{A790CFC0-EE34-4313-8A6A-87C4E6AE0FF7}" type="presOf" srcId="{5C377CF1-C557-49A2-B71A-BB97754F7DF5}" destId="{D11EC6FE-7376-44C6-BED7-BE38354CD533}" srcOrd="0" destOrd="0" presId="urn:microsoft.com/office/officeart/2005/8/layout/vList2"/>
    <dgm:cxn modelId="{61E45DD5-AEE1-45DC-B1BA-41E7A8F6D3E7}" type="presOf" srcId="{DB88CA78-5710-41E5-806E-26007384F691}" destId="{C1E4D90B-E5B0-4D9D-8641-F6FBEEA8E7A1}" srcOrd="0" destOrd="0" presId="urn:microsoft.com/office/officeart/2005/8/layout/vList2"/>
    <dgm:cxn modelId="{38BC30DE-A941-49CA-B24E-CC88816CCD04}" type="presOf" srcId="{0CF1200E-F2AE-4DE3-89BA-1930E10F8FFD}" destId="{D4269328-F15A-459F-B68F-7778810A4AB1}" srcOrd="0" destOrd="0" presId="urn:microsoft.com/office/officeart/2005/8/layout/vList2"/>
    <dgm:cxn modelId="{9C571EE6-E0BF-4BD8-A117-92D8DF4F5C7D}" srcId="{0CF1200E-F2AE-4DE3-89BA-1930E10F8FFD}" destId="{C84990EA-92A8-4571-8B0A-06464E60C1C2}" srcOrd="1" destOrd="0" parTransId="{2AC53D96-49FD-4B2E-AAEF-226EC2FB4F68}" sibTransId="{A022D9AD-4295-4D7D-B701-5D8EE5B4BD98}"/>
    <dgm:cxn modelId="{A0D129E9-3CA3-456D-8190-AF9931FBF666}" type="presOf" srcId="{C84990EA-92A8-4571-8B0A-06464E60C1C2}" destId="{6329C999-10AE-48BA-9B92-9227270F1E84}" srcOrd="0" destOrd="0" presId="urn:microsoft.com/office/officeart/2005/8/layout/vList2"/>
    <dgm:cxn modelId="{5FB08A89-082E-4184-8551-65F55E9954C2}" type="presParOf" srcId="{D4269328-F15A-459F-B68F-7778810A4AB1}" destId="{C1E4D90B-E5B0-4D9D-8641-F6FBEEA8E7A1}" srcOrd="0" destOrd="0" presId="urn:microsoft.com/office/officeart/2005/8/layout/vList2"/>
    <dgm:cxn modelId="{CA3CE2D0-3989-4186-B2D0-7F3B0504A7B4}" type="presParOf" srcId="{D4269328-F15A-459F-B68F-7778810A4AB1}" destId="{E1ABE769-1860-4741-B250-A04063F8DA83}" srcOrd="1" destOrd="0" presId="urn:microsoft.com/office/officeart/2005/8/layout/vList2"/>
    <dgm:cxn modelId="{878CBE44-30BB-476F-B93B-CD3170A4A0E7}" type="presParOf" srcId="{D4269328-F15A-459F-B68F-7778810A4AB1}" destId="{6329C999-10AE-48BA-9B92-9227270F1E84}" srcOrd="2" destOrd="0" presId="urn:microsoft.com/office/officeart/2005/8/layout/vList2"/>
    <dgm:cxn modelId="{E3B050C8-8D3F-41D6-9230-BFA9427B8D1F}" type="presParOf" srcId="{D4269328-F15A-459F-B68F-7778810A4AB1}" destId="{43E29061-B9DD-45B8-AFA2-15D3511F6CC5}" srcOrd="3" destOrd="0" presId="urn:microsoft.com/office/officeart/2005/8/layout/vList2"/>
    <dgm:cxn modelId="{D301A309-B6A9-4AFF-8C5A-1A5BC7878ED3}" type="presParOf" srcId="{D4269328-F15A-459F-B68F-7778810A4AB1}" destId="{D11EC6FE-7376-44C6-BED7-BE38354CD533}" srcOrd="4" destOrd="0" presId="urn:microsoft.com/office/officeart/2005/8/layout/vList2"/>
    <dgm:cxn modelId="{D9A03ADD-A39A-4A3A-A45C-EA4C6BF443FD}" type="presParOf" srcId="{D4269328-F15A-459F-B68F-7778810A4AB1}" destId="{2B6F685C-9B1D-4132-B14A-91E30D0CB576}" srcOrd="5" destOrd="0" presId="urn:microsoft.com/office/officeart/2005/8/layout/vList2"/>
    <dgm:cxn modelId="{4A556DB6-4FB8-46AD-A1FE-FB694445E5F4}" type="presParOf" srcId="{D4269328-F15A-459F-B68F-7778810A4AB1}" destId="{18613827-3800-410E-B667-A68474DAC6AD}" srcOrd="6"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3F8771-E986-4AF5-B4E1-BB697E6688B4}">
      <dsp:nvSpPr>
        <dsp:cNvPr id="0" name=""/>
        <dsp:cNvSpPr/>
      </dsp:nvSpPr>
      <dsp:spPr>
        <a:xfrm>
          <a:off x="-3878973" y="-595653"/>
          <a:ext cx="4623016" cy="4623016"/>
        </a:xfrm>
        <a:prstGeom prst="blockArc">
          <a:avLst>
            <a:gd name="adj1" fmla="val 18900000"/>
            <a:gd name="adj2" fmla="val 2700000"/>
            <a:gd name="adj3" fmla="val 467"/>
          </a:avLst>
        </a:prstGeom>
        <a:noFill/>
        <a:ln w="10795" cap="flat" cmpd="sng" algn="ctr">
          <a:solidFill>
            <a:schemeClr val="accent4">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457E10F-5550-45D7-92C1-C5E06CD511D8}">
      <dsp:nvSpPr>
        <dsp:cNvPr id="0" name=""/>
        <dsp:cNvSpPr/>
      </dsp:nvSpPr>
      <dsp:spPr>
        <a:xfrm>
          <a:off x="389940" y="263829"/>
          <a:ext cx="9508959" cy="527934"/>
        </a:xfrm>
        <a:prstGeom prst="rect">
          <a:avLst/>
        </a:prstGeom>
        <a:solidFill>
          <a:schemeClr val="accent3">
            <a:hueOff val="0"/>
            <a:satOff val="0"/>
            <a:lumOff val="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048" tIns="38100" rIns="38100" bIns="38100" numCol="1" spcCol="1270" anchor="ctr" anchorCtr="0">
          <a:noAutofit/>
        </a:bodyPr>
        <a:lstStyle/>
        <a:p>
          <a:pPr marL="0" lvl="0" indent="0" algn="l" defTabSz="666750">
            <a:lnSpc>
              <a:spcPct val="90000"/>
            </a:lnSpc>
            <a:spcBef>
              <a:spcPct val="0"/>
            </a:spcBef>
            <a:spcAft>
              <a:spcPct val="35000"/>
            </a:spcAft>
            <a:buNone/>
          </a:pPr>
          <a:r>
            <a:rPr lang="fr-FR" sz="1500" b="0" kern="1200">
              <a:latin typeface="DejaVu Sans"/>
              <a:ea typeface="DejaVu Sans"/>
              <a:cs typeface="DejaVu Sans"/>
            </a:rPr>
            <a:t>La Politique Nationale de la Ville, adoptée en 2014, vise un développement urbain sûr et équilibré</a:t>
          </a:r>
          <a:endParaRPr lang="fr-FR" sz="1500" kern="1200" dirty="0"/>
        </a:p>
      </dsp:txBody>
      <dsp:txXfrm>
        <a:off x="389940" y="263829"/>
        <a:ext cx="9508959" cy="527934"/>
      </dsp:txXfrm>
    </dsp:sp>
    <dsp:sp modelId="{EF0589F6-BFA9-4324-A5D6-427B6C363902}">
      <dsp:nvSpPr>
        <dsp:cNvPr id="0" name=""/>
        <dsp:cNvSpPr/>
      </dsp:nvSpPr>
      <dsp:spPr>
        <a:xfrm>
          <a:off x="59981" y="197838"/>
          <a:ext cx="659917" cy="659917"/>
        </a:xfrm>
        <a:prstGeom prst="ellipse">
          <a:avLst/>
        </a:prstGeom>
        <a:solidFill>
          <a:schemeClr val="lt1">
            <a:hueOff val="0"/>
            <a:satOff val="0"/>
            <a:lumOff val="0"/>
            <a:alphaOff val="0"/>
          </a:schemeClr>
        </a:solidFill>
        <a:ln w="9525" cap="flat" cmpd="sng" algn="ctr">
          <a:solidFill>
            <a:schemeClr val="accent3">
              <a:hueOff val="0"/>
              <a:satOff val="0"/>
              <a:lumOff val="0"/>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EFB991D5-01AC-4107-907A-4960A41D34A4}">
      <dsp:nvSpPr>
        <dsp:cNvPr id="0" name=""/>
        <dsp:cNvSpPr/>
      </dsp:nvSpPr>
      <dsp:spPr>
        <a:xfrm>
          <a:off x="692617" y="1055868"/>
          <a:ext cx="9206282" cy="527934"/>
        </a:xfrm>
        <a:prstGeom prst="rect">
          <a:avLst/>
        </a:prstGeom>
        <a:solidFill>
          <a:schemeClr val="accent3">
            <a:hueOff val="1372388"/>
            <a:satOff val="8237"/>
            <a:lumOff val="6275"/>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048" tIns="38100" rIns="38100" bIns="38100" numCol="1" spcCol="1270" anchor="ctr" anchorCtr="0">
          <a:noAutofit/>
        </a:bodyPr>
        <a:lstStyle/>
        <a:p>
          <a:pPr marL="0" lvl="0" indent="0" algn="l" defTabSz="666750">
            <a:lnSpc>
              <a:spcPct val="90000"/>
            </a:lnSpc>
            <a:spcBef>
              <a:spcPct val="0"/>
            </a:spcBef>
            <a:spcAft>
              <a:spcPct val="35000"/>
            </a:spcAft>
            <a:buNone/>
          </a:pPr>
          <a:r>
            <a:rPr lang="fr-FR" sz="1500" b="0" kern="1200">
              <a:latin typeface="DejaVu Sans"/>
              <a:ea typeface="DejaVu Sans"/>
              <a:cs typeface="DejaVu Sans"/>
            </a:rPr>
            <a:t>L’ONAV, créé en 2016, produit des connaissances pour mieux maîtriser la croissance des villes </a:t>
          </a:r>
          <a:endParaRPr lang="fr-FR" sz="1500" kern="1200" dirty="0"/>
        </a:p>
      </dsp:txBody>
      <dsp:txXfrm>
        <a:off x="692617" y="1055868"/>
        <a:ext cx="9206282" cy="527934"/>
      </dsp:txXfrm>
    </dsp:sp>
    <dsp:sp modelId="{56EF6982-2737-448D-8066-E376092C4603}">
      <dsp:nvSpPr>
        <dsp:cNvPr id="0" name=""/>
        <dsp:cNvSpPr/>
      </dsp:nvSpPr>
      <dsp:spPr>
        <a:xfrm>
          <a:off x="362658" y="989876"/>
          <a:ext cx="659917" cy="659917"/>
        </a:xfrm>
        <a:prstGeom prst="ellipse">
          <a:avLst/>
        </a:prstGeom>
        <a:solidFill>
          <a:schemeClr val="lt1">
            <a:hueOff val="0"/>
            <a:satOff val="0"/>
            <a:lumOff val="0"/>
            <a:alphaOff val="0"/>
          </a:schemeClr>
        </a:solidFill>
        <a:ln w="9525" cap="flat" cmpd="sng" algn="ctr">
          <a:solidFill>
            <a:schemeClr val="accent3">
              <a:hueOff val="1372388"/>
              <a:satOff val="8237"/>
              <a:lumOff val="6275"/>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CE6E5107-F199-4239-8E4A-43F6B859BC6A}">
      <dsp:nvSpPr>
        <dsp:cNvPr id="0" name=""/>
        <dsp:cNvSpPr/>
      </dsp:nvSpPr>
      <dsp:spPr>
        <a:xfrm>
          <a:off x="692617" y="1847906"/>
          <a:ext cx="9206282" cy="527934"/>
        </a:xfrm>
        <a:prstGeom prst="rect">
          <a:avLst/>
        </a:prstGeom>
        <a:solidFill>
          <a:schemeClr val="accent3">
            <a:hueOff val="2744775"/>
            <a:satOff val="16475"/>
            <a:lumOff val="12550"/>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048" tIns="38100" rIns="38100" bIns="38100" numCol="1" spcCol="1270" anchor="ctr" anchorCtr="0">
          <a:noAutofit/>
        </a:bodyPr>
        <a:lstStyle/>
        <a:p>
          <a:pPr marL="0" lvl="0" indent="0" algn="l" defTabSz="666750">
            <a:lnSpc>
              <a:spcPct val="90000"/>
            </a:lnSpc>
            <a:spcBef>
              <a:spcPct val="0"/>
            </a:spcBef>
            <a:spcAft>
              <a:spcPct val="35000"/>
            </a:spcAft>
            <a:buNone/>
          </a:pPr>
          <a:r>
            <a:rPr lang="fr-FR" sz="1500" b="0" kern="1200">
              <a:latin typeface="DejaVu Sans"/>
              <a:ea typeface="DejaVu Sans"/>
              <a:cs typeface="DejaVu Sans"/>
            </a:rPr>
            <a:t>À Kayes, les disparités intra-urbaines restent insuffisamment documentées</a:t>
          </a:r>
          <a:endParaRPr lang="fr-FR" sz="1500" kern="1200" dirty="0"/>
        </a:p>
      </dsp:txBody>
      <dsp:txXfrm>
        <a:off x="692617" y="1847906"/>
        <a:ext cx="9206282" cy="527934"/>
      </dsp:txXfrm>
    </dsp:sp>
    <dsp:sp modelId="{1A7D3966-3340-4763-9337-DCA692E64C8B}">
      <dsp:nvSpPr>
        <dsp:cNvPr id="0" name=""/>
        <dsp:cNvSpPr/>
      </dsp:nvSpPr>
      <dsp:spPr>
        <a:xfrm>
          <a:off x="362658" y="1781914"/>
          <a:ext cx="659917" cy="659917"/>
        </a:xfrm>
        <a:prstGeom prst="ellipse">
          <a:avLst/>
        </a:prstGeom>
        <a:solidFill>
          <a:schemeClr val="lt1">
            <a:hueOff val="0"/>
            <a:satOff val="0"/>
            <a:lumOff val="0"/>
            <a:alphaOff val="0"/>
          </a:schemeClr>
        </a:solidFill>
        <a:ln w="9525" cap="flat" cmpd="sng" algn="ctr">
          <a:solidFill>
            <a:schemeClr val="accent3">
              <a:hueOff val="2744775"/>
              <a:satOff val="16475"/>
              <a:lumOff val="12550"/>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 modelId="{63A62B22-1A8C-47DF-A9DE-C72106F4BE25}">
      <dsp:nvSpPr>
        <dsp:cNvPr id="0" name=""/>
        <dsp:cNvSpPr/>
      </dsp:nvSpPr>
      <dsp:spPr>
        <a:xfrm>
          <a:off x="389940" y="2639945"/>
          <a:ext cx="9508959" cy="527934"/>
        </a:xfrm>
        <a:prstGeom prst="rect">
          <a:avLst/>
        </a:prstGeom>
        <a:solidFill>
          <a:schemeClr val="accent3">
            <a:hueOff val="4117163"/>
            <a:satOff val="24712"/>
            <a:lumOff val="18825"/>
            <a:alphaOff val="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19048" tIns="38100" rIns="38100" bIns="38100" numCol="1" spcCol="1270" anchor="ctr" anchorCtr="0">
          <a:noAutofit/>
        </a:bodyPr>
        <a:lstStyle/>
        <a:p>
          <a:pPr marL="0" lvl="0" indent="0" algn="l" defTabSz="666750">
            <a:lnSpc>
              <a:spcPct val="90000"/>
            </a:lnSpc>
            <a:spcBef>
              <a:spcPct val="0"/>
            </a:spcBef>
            <a:spcAft>
              <a:spcPct val="35000"/>
            </a:spcAft>
            <a:buNone/>
          </a:pPr>
          <a:r>
            <a:rPr lang="fr-FR" sz="1500" b="0" kern="1200" dirty="0">
              <a:latin typeface="DejaVu Sans"/>
              <a:ea typeface="DejaVu Sans"/>
              <a:cs typeface="DejaVu Sans"/>
            </a:rPr>
            <a:t>L’étude doit fournir des éléments objectifs pour orienter la planification et les investissements</a:t>
          </a:r>
          <a:endParaRPr lang="fr-FR" sz="1500" kern="1200" dirty="0"/>
        </a:p>
      </dsp:txBody>
      <dsp:txXfrm>
        <a:off x="389940" y="2639945"/>
        <a:ext cx="9508959" cy="527934"/>
      </dsp:txXfrm>
    </dsp:sp>
    <dsp:sp modelId="{A2B8D34D-F3E0-47E1-8289-7BB01B3B44CF}">
      <dsp:nvSpPr>
        <dsp:cNvPr id="0" name=""/>
        <dsp:cNvSpPr/>
      </dsp:nvSpPr>
      <dsp:spPr>
        <a:xfrm>
          <a:off x="59981" y="2573953"/>
          <a:ext cx="659917" cy="659917"/>
        </a:xfrm>
        <a:prstGeom prst="ellipse">
          <a:avLst/>
        </a:prstGeom>
        <a:solidFill>
          <a:schemeClr val="lt1">
            <a:hueOff val="0"/>
            <a:satOff val="0"/>
            <a:lumOff val="0"/>
            <a:alphaOff val="0"/>
          </a:schemeClr>
        </a:solidFill>
        <a:ln w="9525" cap="flat" cmpd="sng" algn="ctr">
          <a:solidFill>
            <a:schemeClr val="accent3">
              <a:hueOff val="4117163"/>
              <a:satOff val="24712"/>
              <a:lumOff val="18825"/>
              <a:alphaOff val="0"/>
            </a:schemeClr>
          </a:solidFill>
          <a:prstDash val="solid"/>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2966BB-EB37-4CB8-A412-44B79022B049}">
      <dsp:nvSpPr>
        <dsp:cNvPr id="0" name=""/>
        <dsp:cNvSpPr/>
      </dsp:nvSpPr>
      <dsp:spPr>
        <a:xfrm>
          <a:off x="471308" y="0"/>
          <a:ext cx="5341498" cy="3495673"/>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474845-F8D4-42A0-A1B5-8D6D2554872C}">
      <dsp:nvSpPr>
        <dsp:cNvPr id="0" name=""/>
        <dsp:cNvSpPr/>
      </dsp:nvSpPr>
      <dsp:spPr>
        <a:xfrm>
          <a:off x="2147" y="1048701"/>
          <a:ext cx="1395515" cy="139826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kern="1200" dirty="0"/>
            <a:t>Établir l’état des lieux et les taux d’accès</a:t>
          </a:r>
          <a:endParaRPr lang="fr-FR" sz="1600" kern="1200" dirty="0"/>
        </a:p>
      </dsp:txBody>
      <dsp:txXfrm>
        <a:off x="70270" y="1116824"/>
        <a:ext cx="1259269" cy="1262023"/>
      </dsp:txXfrm>
    </dsp:sp>
    <dsp:sp modelId="{05A9819E-97C9-4394-9608-F9477603DDEB}">
      <dsp:nvSpPr>
        <dsp:cNvPr id="0" name=""/>
        <dsp:cNvSpPr/>
      </dsp:nvSpPr>
      <dsp:spPr>
        <a:xfrm>
          <a:off x="1630249" y="1048701"/>
          <a:ext cx="1395515" cy="139826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kern="1200" dirty="0"/>
            <a:t>Identifier les besoins par quartier</a:t>
          </a:r>
          <a:endParaRPr lang="fr-FR" sz="1600" kern="1200" dirty="0"/>
        </a:p>
      </dsp:txBody>
      <dsp:txXfrm>
        <a:off x="1698372" y="1116824"/>
        <a:ext cx="1259269" cy="1262023"/>
      </dsp:txXfrm>
    </dsp:sp>
    <dsp:sp modelId="{71A76ECA-9A62-48C6-9CF7-0176C966161E}">
      <dsp:nvSpPr>
        <dsp:cNvPr id="0" name=""/>
        <dsp:cNvSpPr/>
      </dsp:nvSpPr>
      <dsp:spPr>
        <a:xfrm>
          <a:off x="3258350" y="1048701"/>
          <a:ext cx="1395515" cy="139826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kern="1200" dirty="0"/>
            <a:t>Localiser les services existants et futurs</a:t>
          </a:r>
          <a:endParaRPr lang="fr-FR" sz="1600" kern="1200" dirty="0"/>
        </a:p>
      </dsp:txBody>
      <dsp:txXfrm>
        <a:off x="3326473" y="1116824"/>
        <a:ext cx="1259269" cy="1262023"/>
      </dsp:txXfrm>
    </dsp:sp>
    <dsp:sp modelId="{2AB28A8B-9A01-49D1-85BE-9EBF93C730D6}">
      <dsp:nvSpPr>
        <dsp:cNvPr id="0" name=""/>
        <dsp:cNvSpPr/>
      </dsp:nvSpPr>
      <dsp:spPr>
        <a:xfrm>
          <a:off x="4886452" y="1048701"/>
          <a:ext cx="1395515" cy="1398269"/>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fr-FR" sz="1600" b="0" kern="1200" dirty="0"/>
            <a:t>Élaborer les plans types et les devis</a:t>
          </a:r>
          <a:endParaRPr lang="fr-FR" sz="1600" kern="1200" dirty="0"/>
        </a:p>
      </dsp:txBody>
      <dsp:txXfrm>
        <a:off x="4954575" y="1116824"/>
        <a:ext cx="1259269" cy="12620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72F5DA-57D7-4F53-8C10-26EDB84D1577}">
      <dsp:nvSpPr>
        <dsp:cNvPr id="0" name=""/>
        <dsp:cNvSpPr/>
      </dsp:nvSpPr>
      <dsp:spPr>
        <a:xfrm>
          <a:off x="0" y="228600"/>
          <a:ext cx="10404728" cy="304800"/>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08ABF4-03A1-4FB2-B93F-8881B94D01BA}">
      <dsp:nvSpPr>
        <dsp:cNvPr id="0" name=""/>
        <dsp:cNvSpPr/>
      </dsp:nvSpPr>
      <dsp:spPr>
        <a:xfrm>
          <a:off x="4572" y="0"/>
          <a:ext cx="3017777" cy="3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fr-FR" sz="1500" b="1" kern="1200"/>
            <a:t>Diagnostique</a:t>
          </a:r>
          <a:endParaRPr lang="fr-FR" sz="1500" kern="1200"/>
        </a:p>
      </dsp:txBody>
      <dsp:txXfrm>
        <a:off x="4572" y="0"/>
        <a:ext cx="3017777" cy="304800"/>
      </dsp:txXfrm>
    </dsp:sp>
    <dsp:sp modelId="{2514F275-6E44-4305-915C-AF16D462D257}">
      <dsp:nvSpPr>
        <dsp:cNvPr id="0" name=""/>
        <dsp:cNvSpPr/>
      </dsp:nvSpPr>
      <dsp:spPr>
        <a:xfrm>
          <a:off x="1475361" y="342900"/>
          <a:ext cx="76200" cy="76200"/>
        </a:xfrm>
        <a:prstGeom prst="ellipse">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B8D3A6-E4CA-4988-94DE-962405BDFB09}">
      <dsp:nvSpPr>
        <dsp:cNvPr id="0" name=""/>
        <dsp:cNvSpPr/>
      </dsp:nvSpPr>
      <dsp:spPr>
        <a:xfrm>
          <a:off x="3173239" y="457200"/>
          <a:ext cx="3017777" cy="3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fr-FR" sz="1500" b="1" kern="1200"/>
            <a:t>besoins hiérarchisés</a:t>
          </a:r>
          <a:endParaRPr lang="fr-FR" sz="1500" kern="1200"/>
        </a:p>
      </dsp:txBody>
      <dsp:txXfrm>
        <a:off x="3173239" y="457200"/>
        <a:ext cx="3017777" cy="304800"/>
      </dsp:txXfrm>
    </dsp:sp>
    <dsp:sp modelId="{ED225A60-9FBB-4371-AE48-5DEC68041F4B}">
      <dsp:nvSpPr>
        <dsp:cNvPr id="0" name=""/>
        <dsp:cNvSpPr/>
      </dsp:nvSpPr>
      <dsp:spPr>
        <a:xfrm>
          <a:off x="4644028" y="342900"/>
          <a:ext cx="76200" cy="76200"/>
        </a:xfrm>
        <a:prstGeom prst="ellipse">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9C3DDF-191B-4D19-BB18-35D94A141D35}">
      <dsp:nvSpPr>
        <dsp:cNvPr id="0" name=""/>
        <dsp:cNvSpPr/>
      </dsp:nvSpPr>
      <dsp:spPr>
        <a:xfrm>
          <a:off x="6341905" y="0"/>
          <a:ext cx="3017777" cy="304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fr-FR" sz="1500" b="1" kern="1200"/>
            <a:t>plan d’action sectoriel</a:t>
          </a:r>
          <a:endParaRPr lang="fr-FR" sz="1500" kern="1200"/>
        </a:p>
      </dsp:txBody>
      <dsp:txXfrm>
        <a:off x="6341905" y="0"/>
        <a:ext cx="3017777" cy="304800"/>
      </dsp:txXfrm>
    </dsp:sp>
    <dsp:sp modelId="{1D047D89-5600-418D-B14B-93C57677D32A}">
      <dsp:nvSpPr>
        <dsp:cNvPr id="0" name=""/>
        <dsp:cNvSpPr/>
      </dsp:nvSpPr>
      <dsp:spPr>
        <a:xfrm>
          <a:off x="7812694" y="342900"/>
          <a:ext cx="76200" cy="76200"/>
        </a:xfrm>
        <a:prstGeom prst="ellipse">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875B5-E7E7-4947-A07B-81B216AC4692}">
      <dsp:nvSpPr>
        <dsp:cNvPr id="0" name=""/>
        <dsp:cNvSpPr/>
      </dsp:nvSpPr>
      <dsp:spPr>
        <a:xfrm>
          <a:off x="0" y="0"/>
          <a:ext cx="4009745" cy="609961"/>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Rapport de cadrage et outils de collecte</a:t>
          </a:r>
          <a:endParaRPr lang="fr-FR" sz="1600" kern="1200" dirty="0"/>
        </a:p>
      </dsp:txBody>
      <dsp:txXfrm>
        <a:off x="17865" y="17865"/>
        <a:ext cx="3351549" cy="574231"/>
      </dsp:txXfrm>
    </dsp:sp>
    <dsp:sp modelId="{12146854-3B59-49C5-983A-A09F7B23E031}">
      <dsp:nvSpPr>
        <dsp:cNvPr id="0" name=""/>
        <dsp:cNvSpPr/>
      </dsp:nvSpPr>
      <dsp:spPr>
        <a:xfrm>
          <a:off x="353801" y="711622"/>
          <a:ext cx="4009745" cy="609961"/>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Réunion technique de validation</a:t>
          </a:r>
          <a:endParaRPr lang="fr-FR" sz="1600" kern="1200" dirty="0"/>
        </a:p>
      </dsp:txBody>
      <dsp:txXfrm>
        <a:off x="371666" y="729487"/>
        <a:ext cx="3223739" cy="574231"/>
      </dsp:txXfrm>
    </dsp:sp>
    <dsp:sp modelId="{28F8907D-58BB-4094-BD49-F32C27540ED1}">
      <dsp:nvSpPr>
        <dsp:cNvPr id="0" name=""/>
        <dsp:cNvSpPr/>
      </dsp:nvSpPr>
      <dsp:spPr>
        <a:xfrm>
          <a:off x="707602" y="1423244"/>
          <a:ext cx="4009745" cy="609961"/>
        </a:xfrm>
        <a:prstGeom prst="roundRect">
          <a:avLst>
            <a:gd name="adj" fmla="val 10000"/>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Introduction auprès des autorités</a:t>
          </a:r>
          <a:endParaRPr lang="fr-FR" sz="1600" kern="1200" dirty="0"/>
        </a:p>
      </dsp:txBody>
      <dsp:txXfrm>
        <a:off x="725467" y="1441109"/>
        <a:ext cx="3223739" cy="574231"/>
      </dsp:txXfrm>
    </dsp:sp>
    <dsp:sp modelId="{ABD02F5A-4DBD-422B-B490-962C0564FF5C}">
      <dsp:nvSpPr>
        <dsp:cNvPr id="0" name=""/>
        <dsp:cNvSpPr/>
      </dsp:nvSpPr>
      <dsp:spPr>
        <a:xfrm>
          <a:off x="3613270" y="462554"/>
          <a:ext cx="396475" cy="396475"/>
        </a:xfrm>
        <a:prstGeom prst="downArrow">
          <a:avLst>
            <a:gd name="adj1" fmla="val 55000"/>
            <a:gd name="adj2" fmla="val 45000"/>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fr-FR" sz="1800" kern="1200"/>
        </a:p>
      </dsp:txBody>
      <dsp:txXfrm>
        <a:off x="3702477" y="462554"/>
        <a:ext cx="218061" cy="298347"/>
      </dsp:txXfrm>
    </dsp:sp>
    <dsp:sp modelId="{8B43E273-586A-4187-A672-7C1B284846F4}">
      <dsp:nvSpPr>
        <dsp:cNvPr id="0" name=""/>
        <dsp:cNvSpPr/>
      </dsp:nvSpPr>
      <dsp:spPr>
        <a:xfrm>
          <a:off x="3967071" y="1170110"/>
          <a:ext cx="396475" cy="396475"/>
        </a:xfrm>
        <a:prstGeom prst="downArrow">
          <a:avLst>
            <a:gd name="adj1" fmla="val 55000"/>
            <a:gd name="adj2" fmla="val 45000"/>
          </a:avLst>
        </a:prstGeom>
        <a:solidFill>
          <a:schemeClr val="accent1">
            <a:alpha val="90000"/>
            <a:tint val="40000"/>
            <a:hueOff val="0"/>
            <a:satOff val="0"/>
            <a:lumOff val="0"/>
            <a:alphaOff val="0"/>
          </a:schemeClr>
        </a:solidFill>
        <a:ln w="1079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fr-FR" sz="1800" kern="1200"/>
        </a:p>
      </dsp:txBody>
      <dsp:txXfrm>
        <a:off x="4056278" y="1170110"/>
        <a:ext cx="218061" cy="2983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95CCD-1A7A-4EA7-B167-18ACFA526618}">
      <dsp:nvSpPr>
        <dsp:cNvPr id="0" name=""/>
        <dsp:cNvSpPr/>
      </dsp:nvSpPr>
      <dsp:spPr>
        <a:xfrm>
          <a:off x="0" y="1006437"/>
          <a:ext cx="6083759" cy="2033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E5267F28-39BB-4146-A9F8-B9BBF439E1CE}">
      <dsp:nvSpPr>
        <dsp:cNvPr id="0" name=""/>
        <dsp:cNvSpPr/>
      </dsp:nvSpPr>
      <dsp:spPr>
        <a:xfrm>
          <a:off x="5986199" y="935275"/>
          <a:ext cx="121992" cy="162656"/>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7E8D8143-2214-4513-A8B9-CEDFA7B887D0}">
      <dsp:nvSpPr>
        <dsp:cNvPr id="0" name=""/>
        <dsp:cNvSpPr/>
      </dsp:nvSpPr>
      <dsp:spPr>
        <a:xfrm>
          <a:off x="260996" y="511183"/>
          <a:ext cx="2027424" cy="448231"/>
        </a:xfrm>
        <a:prstGeom prst="rect">
          <a:avLst/>
        </a:prstGeom>
        <a:noFill/>
        <a:ln>
          <a:noFill/>
        </a:ln>
        <a:effectLst/>
      </dsp:spPr>
      <dsp:style>
        <a:lnRef idx="0">
          <a:scrgbClr r="0" g="0" b="0"/>
        </a:lnRef>
        <a:fillRef idx="0">
          <a:scrgbClr r="0" g="0" b="0"/>
        </a:fillRef>
        <a:effectRef idx="0">
          <a:scrgbClr r="0" g="0" b="0"/>
        </a:effectRef>
        <a:fontRef idx="minor"/>
      </dsp:style>
    </dsp:sp>
    <dsp:sp modelId="{82157109-95FE-4F5C-B28F-30EE9B178AD5}">
      <dsp:nvSpPr>
        <dsp:cNvPr id="0" name=""/>
        <dsp:cNvSpPr/>
      </dsp:nvSpPr>
      <dsp:spPr>
        <a:xfrm>
          <a:off x="260996" y="279340"/>
          <a:ext cx="2027424" cy="23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defRPr b="1"/>
          </a:pPr>
          <a:r>
            <a:rPr lang="fr-FR" sz="1100" b="1" kern="1200" dirty="0">
              <a:solidFill>
                <a:srgbClr val="1D2935"/>
              </a:solidFill>
              <a:latin typeface="DejaVu Sans"/>
              <a:ea typeface="DejaVu Sans"/>
              <a:cs typeface="DejaVu Sans"/>
            </a:rPr>
            <a:t>Formation et collecte géolocalisée</a:t>
          </a:r>
          <a:endParaRPr lang="fr-FR" sz="1100" b="1" kern="1200" dirty="0"/>
        </a:p>
      </dsp:txBody>
      <dsp:txXfrm>
        <a:off x="260996" y="279340"/>
        <a:ext cx="2027424" cy="231843"/>
      </dsp:txXfrm>
    </dsp:sp>
    <dsp:sp modelId="{5BD7D02B-107F-4DB1-85B7-449D8DC93212}">
      <dsp:nvSpPr>
        <dsp:cNvPr id="0" name=""/>
        <dsp:cNvSpPr/>
      </dsp:nvSpPr>
      <dsp:spPr>
        <a:xfrm>
          <a:off x="122738" y="263883"/>
          <a:ext cx="16265" cy="75735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46D5E731-0D5B-439B-969D-6549B3D3A41F}">
      <dsp:nvSpPr>
        <dsp:cNvPr id="0" name=""/>
        <dsp:cNvSpPr/>
      </dsp:nvSpPr>
      <dsp:spPr>
        <a:xfrm>
          <a:off x="1482336" y="1400257"/>
          <a:ext cx="2027424" cy="372556"/>
        </a:xfrm>
        <a:prstGeom prst="rect">
          <a:avLst/>
        </a:prstGeom>
        <a:noFill/>
        <a:ln>
          <a:noFill/>
        </a:ln>
        <a:effectLst/>
      </dsp:spPr>
      <dsp:style>
        <a:lnRef idx="0">
          <a:scrgbClr r="0" g="0" b="0"/>
        </a:lnRef>
        <a:fillRef idx="0">
          <a:scrgbClr r="0" g="0" b="0"/>
        </a:fillRef>
        <a:effectRef idx="0">
          <a:scrgbClr r="0" g="0" b="0"/>
        </a:effectRef>
        <a:fontRef idx="minor"/>
      </dsp:style>
    </dsp:sp>
    <dsp:sp modelId="{5466DB78-610A-453C-AF2D-599949AF04D9}">
      <dsp:nvSpPr>
        <dsp:cNvPr id="0" name=""/>
        <dsp:cNvSpPr/>
      </dsp:nvSpPr>
      <dsp:spPr>
        <a:xfrm>
          <a:off x="1482336" y="1154528"/>
          <a:ext cx="2027424" cy="24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defRPr b="1"/>
          </a:pPr>
          <a:r>
            <a:rPr lang="fr-FR" sz="1100" b="1" kern="1200" dirty="0">
              <a:solidFill>
                <a:srgbClr val="1D2935"/>
              </a:solidFill>
              <a:latin typeface="DejaVu Sans"/>
              <a:ea typeface="DejaVu Sans"/>
              <a:cs typeface="DejaVu Sans"/>
            </a:rPr>
            <a:t>Analyse et rapport provisoire</a:t>
          </a:r>
          <a:endParaRPr lang="fr-FR" sz="1100" b="1" kern="1200" dirty="0"/>
        </a:p>
      </dsp:txBody>
      <dsp:txXfrm>
        <a:off x="1482336" y="1154528"/>
        <a:ext cx="2027424" cy="245728"/>
      </dsp:txXfrm>
    </dsp:sp>
    <dsp:sp modelId="{CC42CC2A-6B13-4DE7-87F3-A1805D9E5627}">
      <dsp:nvSpPr>
        <dsp:cNvPr id="0" name=""/>
        <dsp:cNvSpPr/>
      </dsp:nvSpPr>
      <dsp:spPr>
        <a:xfrm>
          <a:off x="1344078" y="1011847"/>
          <a:ext cx="16265" cy="776819"/>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5186E3AC-DEB3-400C-9A69-5E564C092D6F}">
      <dsp:nvSpPr>
        <dsp:cNvPr id="0" name=""/>
        <dsp:cNvSpPr/>
      </dsp:nvSpPr>
      <dsp:spPr>
        <a:xfrm>
          <a:off x="88580" y="223697"/>
          <a:ext cx="84581" cy="80372"/>
        </a:xfrm>
        <a:prstGeom prst="ellipse">
          <a:avLst/>
        </a:prstGeom>
        <a:solidFill>
          <a:schemeClr val="accent1">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2D038993-78DB-455F-8027-C4A1B1B4CE5B}">
      <dsp:nvSpPr>
        <dsp:cNvPr id="0" name=""/>
        <dsp:cNvSpPr/>
      </dsp:nvSpPr>
      <dsp:spPr>
        <a:xfrm>
          <a:off x="1309920" y="1747448"/>
          <a:ext cx="84581" cy="82438"/>
        </a:xfrm>
        <a:prstGeom prst="ellipse">
          <a:avLst/>
        </a:prstGeom>
        <a:solidFill>
          <a:schemeClr val="accent1">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E933A893-052F-481C-B359-AD027AED7C8F}">
      <dsp:nvSpPr>
        <dsp:cNvPr id="0" name=""/>
        <dsp:cNvSpPr/>
      </dsp:nvSpPr>
      <dsp:spPr>
        <a:xfrm>
          <a:off x="2703676" y="511183"/>
          <a:ext cx="2027424" cy="448231"/>
        </a:xfrm>
        <a:prstGeom prst="rect">
          <a:avLst/>
        </a:prstGeom>
        <a:noFill/>
        <a:ln>
          <a:noFill/>
        </a:ln>
        <a:effectLst/>
      </dsp:spPr>
      <dsp:style>
        <a:lnRef idx="0">
          <a:scrgbClr r="0" g="0" b="0"/>
        </a:lnRef>
        <a:fillRef idx="0">
          <a:scrgbClr r="0" g="0" b="0"/>
        </a:fillRef>
        <a:effectRef idx="0">
          <a:scrgbClr r="0" g="0" b="0"/>
        </a:effectRef>
        <a:fontRef idx="minor"/>
      </dsp:style>
    </dsp:sp>
    <dsp:sp modelId="{CC8E9F5C-8626-422F-8337-12DEA65EA965}">
      <dsp:nvSpPr>
        <dsp:cNvPr id="0" name=""/>
        <dsp:cNvSpPr/>
      </dsp:nvSpPr>
      <dsp:spPr>
        <a:xfrm>
          <a:off x="2703676" y="279340"/>
          <a:ext cx="2027424" cy="231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defRPr b="1"/>
          </a:pPr>
          <a:r>
            <a:rPr lang="fr-FR" sz="1100" b="1" kern="1200" dirty="0">
              <a:solidFill>
                <a:srgbClr val="1D2935"/>
              </a:solidFill>
              <a:latin typeface="DejaVu Sans"/>
              <a:ea typeface="DejaVu Sans"/>
              <a:cs typeface="DejaVu Sans"/>
            </a:rPr>
            <a:t>Restitution et prise en charge des observations</a:t>
          </a:r>
          <a:endParaRPr lang="fr-FR" sz="1100" b="1" kern="1200" dirty="0"/>
        </a:p>
      </dsp:txBody>
      <dsp:txXfrm>
        <a:off x="2703676" y="279340"/>
        <a:ext cx="2027424" cy="231843"/>
      </dsp:txXfrm>
    </dsp:sp>
    <dsp:sp modelId="{A33E34B7-8848-465D-A595-67842570DA31}">
      <dsp:nvSpPr>
        <dsp:cNvPr id="0" name=""/>
        <dsp:cNvSpPr/>
      </dsp:nvSpPr>
      <dsp:spPr>
        <a:xfrm>
          <a:off x="2565418" y="263883"/>
          <a:ext cx="16265" cy="75735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CA870E54-AD4B-40E6-B619-E6EE1302CA63}">
      <dsp:nvSpPr>
        <dsp:cNvPr id="0" name=""/>
        <dsp:cNvSpPr/>
      </dsp:nvSpPr>
      <dsp:spPr>
        <a:xfrm>
          <a:off x="3925016" y="1400257"/>
          <a:ext cx="2027424" cy="372556"/>
        </a:xfrm>
        <a:prstGeom prst="rect">
          <a:avLst/>
        </a:prstGeom>
        <a:noFill/>
        <a:ln>
          <a:noFill/>
        </a:ln>
        <a:effectLst/>
      </dsp:spPr>
      <dsp:style>
        <a:lnRef idx="0">
          <a:scrgbClr r="0" g="0" b="0"/>
        </a:lnRef>
        <a:fillRef idx="0">
          <a:scrgbClr r="0" g="0" b="0"/>
        </a:fillRef>
        <a:effectRef idx="0">
          <a:scrgbClr r="0" g="0" b="0"/>
        </a:effectRef>
        <a:fontRef idx="minor"/>
      </dsp:style>
    </dsp:sp>
    <dsp:sp modelId="{AD0327A9-7D13-4813-BA40-4583F16FDB80}">
      <dsp:nvSpPr>
        <dsp:cNvPr id="0" name=""/>
        <dsp:cNvSpPr/>
      </dsp:nvSpPr>
      <dsp:spPr>
        <a:xfrm>
          <a:off x="3925016" y="1154528"/>
          <a:ext cx="2027424" cy="245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defRPr b="1"/>
          </a:pPr>
          <a:r>
            <a:rPr lang="fr-FR" sz="1100" b="1" kern="1200">
              <a:solidFill>
                <a:srgbClr val="1D2935"/>
              </a:solidFill>
              <a:latin typeface="DejaVu Sans"/>
              <a:ea typeface="DejaVu Sans"/>
              <a:cs typeface="DejaVu Sans"/>
            </a:rPr>
            <a:t>Rapport final après validation</a:t>
          </a:r>
          <a:endParaRPr lang="fr-FR" sz="1100" b="1" kern="1200" dirty="0"/>
        </a:p>
      </dsp:txBody>
      <dsp:txXfrm>
        <a:off x="3925016" y="1154528"/>
        <a:ext cx="2027424" cy="245728"/>
      </dsp:txXfrm>
    </dsp:sp>
    <dsp:sp modelId="{D5400057-C239-4809-A01C-280686ACFB5A}">
      <dsp:nvSpPr>
        <dsp:cNvPr id="0" name=""/>
        <dsp:cNvSpPr/>
      </dsp:nvSpPr>
      <dsp:spPr>
        <a:xfrm>
          <a:off x="3786758" y="1011847"/>
          <a:ext cx="16265" cy="776819"/>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F9C99EF7-6D9C-473C-BD60-00AB677BFBCE}">
      <dsp:nvSpPr>
        <dsp:cNvPr id="0" name=""/>
        <dsp:cNvSpPr/>
      </dsp:nvSpPr>
      <dsp:spPr>
        <a:xfrm>
          <a:off x="2531260" y="223697"/>
          <a:ext cx="84581" cy="80372"/>
        </a:xfrm>
        <a:prstGeom prst="ellipse">
          <a:avLst/>
        </a:prstGeom>
        <a:solidFill>
          <a:schemeClr val="accent1">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 modelId="{C93C8A9A-315C-4D6D-89ED-FE640A2D222B}">
      <dsp:nvSpPr>
        <dsp:cNvPr id="0" name=""/>
        <dsp:cNvSpPr/>
      </dsp:nvSpPr>
      <dsp:spPr>
        <a:xfrm>
          <a:off x="3752600" y="1747448"/>
          <a:ext cx="84581" cy="82438"/>
        </a:xfrm>
        <a:prstGeom prst="ellipse">
          <a:avLst/>
        </a:prstGeom>
        <a:solidFill>
          <a:schemeClr val="accent1">
            <a:hueOff val="0"/>
            <a:satOff val="0"/>
            <a:lumOff val="0"/>
            <a:alphaOff val="0"/>
          </a:schemeClr>
        </a:solidFill>
        <a:ln w="9525" cap="flat" cmpd="sng" algn="ctr">
          <a:solidFill>
            <a:schemeClr val="lt1">
              <a:alpha val="0"/>
              <a:hueOff val="0"/>
              <a:satOff val="0"/>
              <a:lumOff val="0"/>
              <a:alphaOff val="0"/>
            </a:schemeClr>
          </a:solidFill>
          <a:prstDash val="solid"/>
        </a:ln>
        <a:effectLst/>
      </dsp:spPr>
      <dsp:style>
        <a:lnRef idx="1">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421F03-4BB7-410F-9BAF-6C2588D3D47C}">
      <dsp:nvSpPr>
        <dsp:cNvPr id="0" name=""/>
        <dsp:cNvSpPr/>
      </dsp:nvSpPr>
      <dsp:spPr>
        <a:xfrm>
          <a:off x="0" y="3300"/>
          <a:ext cx="10525125" cy="37440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fr-FR" sz="1300" b="1" kern="1200"/>
            <a:t>Références : Ministères maliens chargés de l’Éducation et de la Santé, complétées par la grille d’équipement du Burkina Faso.</a:t>
          </a:r>
          <a:endParaRPr lang="fr-FR" sz="1300" kern="1200"/>
        </a:p>
      </dsp:txBody>
      <dsp:txXfrm>
        <a:off x="18277" y="21577"/>
        <a:ext cx="10488571" cy="33784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75AB5-073C-4565-9C7D-4BCA75A84C3D}">
      <dsp:nvSpPr>
        <dsp:cNvPr id="0" name=""/>
        <dsp:cNvSpPr/>
      </dsp:nvSpPr>
      <dsp:spPr>
        <a:xfrm>
          <a:off x="0" y="72697"/>
          <a:ext cx="2857500" cy="311805"/>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fr-FR" sz="1300" b="1" kern="1200"/>
            <a:t>37 % de l’offre se concentre au Plateau.</a:t>
          </a:r>
          <a:endParaRPr lang="fr-FR" sz="1300" kern="1200"/>
        </a:p>
      </dsp:txBody>
      <dsp:txXfrm>
        <a:off x="15221" y="87918"/>
        <a:ext cx="2827058" cy="2813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221810-E1ED-4604-A154-153364C6273E}">
      <dsp:nvSpPr>
        <dsp:cNvPr id="0" name=""/>
        <dsp:cNvSpPr/>
      </dsp:nvSpPr>
      <dsp:spPr>
        <a:xfrm>
          <a:off x="0" y="33344"/>
          <a:ext cx="2667000" cy="67626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Légal-Ségou et Liberté ne disposent d’aucun CSCOM.</a:t>
          </a:r>
          <a:endParaRPr lang="fr-FR" sz="1700" kern="1200"/>
        </a:p>
      </dsp:txBody>
      <dsp:txXfrm>
        <a:off x="33012" y="66356"/>
        <a:ext cx="2600976" cy="61023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9E6C4-1379-4051-BB41-917EF79C8F0B}">
      <dsp:nvSpPr>
        <dsp:cNvPr id="0" name=""/>
        <dsp:cNvSpPr/>
      </dsp:nvSpPr>
      <dsp:spPr>
        <a:xfrm>
          <a:off x="0" y="278392"/>
          <a:ext cx="4953000" cy="38376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Ouvrages obstrués dans les quartiers bas</a:t>
          </a:r>
          <a:endParaRPr lang="fr-FR" sz="1600" kern="1200" dirty="0"/>
        </a:p>
      </dsp:txBody>
      <dsp:txXfrm>
        <a:off x="18734" y="297126"/>
        <a:ext cx="4915532" cy="346292"/>
      </dsp:txXfrm>
    </dsp:sp>
    <dsp:sp modelId="{38E281C4-73BA-4C58-91D6-21C8AA805658}">
      <dsp:nvSpPr>
        <dsp:cNvPr id="0" name=""/>
        <dsp:cNvSpPr/>
      </dsp:nvSpPr>
      <dsp:spPr>
        <a:xfrm>
          <a:off x="0" y="708232"/>
          <a:ext cx="4953000" cy="38376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Collecteurs prévus mais non réalisés dans les extensions</a:t>
          </a:r>
          <a:endParaRPr lang="fr-FR" sz="1600" kern="1200" dirty="0"/>
        </a:p>
      </dsp:txBody>
      <dsp:txXfrm>
        <a:off x="18734" y="726966"/>
        <a:ext cx="4915532" cy="346292"/>
      </dsp:txXfrm>
    </dsp:sp>
    <dsp:sp modelId="{AC435959-812F-4210-B0C8-97221EBA7A73}">
      <dsp:nvSpPr>
        <dsp:cNvPr id="0" name=""/>
        <dsp:cNvSpPr/>
      </dsp:nvSpPr>
      <dsp:spPr>
        <a:xfrm>
          <a:off x="0" y="1138072"/>
          <a:ext cx="4953000" cy="38376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fr-FR" sz="1600" b="0" kern="1200" dirty="0"/>
            <a:t>Érosion des berges de Papara et </a:t>
          </a:r>
          <a:r>
            <a:rPr lang="fr-FR" sz="1600" b="0" kern="1200" dirty="0" err="1"/>
            <a:t>Kamankolé</a:t>
          </a:r>
          <a:endParaRPr lang="fr-FR" sz="1600" kern="1200" dirty="0"/>
        </a:p>
      </dsp:txBody>
      <dsp:txXfrm>
        <a:off x="18734" y="1156806"/>
        <a:ext cx="4915532" cy="34629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E4D90B-E5B0-4D9D-8641-F6FBEEA8E7A1}">
      <dsp:nvSpPr>
        <dsp:cNvPr id="0" name=""/>
        <dsp:cNvSpPr/>
      </dsp:nvSpPr>
      <dsp:spPr>
        <a:xfrm>
          <a:off x="0" y="6317"/>
          <a:ext cx="4762500" cy="33579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0" kern="1200"/>
            <a:t>Farada–Kamankolé : 1 500 ml</a:t>
          </a:r>
        </a:p>
      </dsp:txBody>
      <dsp:txXfrm>
        <a:off x="16392" y="22709"/>
        <a:ext cx="4729716" cy="303006"/>
      </dsp:txXfrm>
    </dsp:sp>
    <dsp:sp modelId="{6329C999-10AE-48BA-9B92-9227270F1E84}">
      <dsp:nvSpPr>
        <dsp:cNvPr id="0" name=""/>
        <dsp:cNvSpPr/>
      </dsp:nvSpPr>
      <dsp:spPr>
        <a:xfrm>
          <a:off x="0" y="382427"/>
          <a:ext cx="4762500" cy="33579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0" kern="1200"/>
            <a:t>Le long des Rails : 2 × 3 340 ml</a:t>
          </a:r>
        </a:p>
      </dsp:txBody>
      <dsp:txXfrm>
        <a:off x="16392" y="398819"/>
        <a:ext cx="4729716" cy="303006"/>
      </dsp:txXfrm>
    </dsp:sp>
    <dsp:sp modelId="{D11EC6FE-7376-44C6-BED7-BE38354CD533}">
      <dsp:nvSpPr>
        <dsp:cNvPr id="0" name=""/>
        <dsp:cNvSpPr/>
      </dsp:nvSpPr>
      <dsp:spPr>
        <a:xfrm>
          <a:off x="0" y="758537"/>
          <a:ext cx="4762500" cy="33579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0" kern="1200"/>
            <a:t>Bencounda–Papara : 3 528 ml</a:t>
          </a:r>
        </a:p>
      </dsp:txBody>
      <dsp:txXfrm>
        <a:off x="16392" y="774929"/>
        <a:ext cx="4729716" cy="303006"/>
      </dsp:txXfrm>
    </dsp:sp>
    <dsp:sp modelId="{18613827-3800-410E-B667-A68474DAC6AD}">
      <dsp:nvSpPr>
        <dsp:cNvPr id="0" name=""/>
        <dsp:cNvSpPr/>
      </dsp:nvSpPr>
      <dsp:spPr>
        <a:xfrm>
          <a:off x="0" y="1134647"/>
          <a:ext cx="4762500" cy="33579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0" kern="1200"/>
            <a:t>Kayes N’di : 3 × 1 700 ml</a:t>
          </a:r>
        </a:p>
      </dsp:txBody>
      <dsp:txXfrm>
        <a:off x="16392" y="1151039"/>
        <a:ext cx="4729716" cy="303006"/>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24/layout/BulletTimelineInverted">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0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ltNode1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2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NoLn">
    <dgm:scene3d>
      <a:camera prst="orthographicFront"/>
      <a:lightRig rig="flat" dir="t"/>
    </dgm:scene3d>
    <dgm:sp3d prstMaterial="plastic">
      <a:bevelT w="120900" h="88900"/>
      <a:bevelB w="88900" h="31750" prst="angle"/>
    </dgm:sp3d>
    <dgm:txPr/>
    <dgm:style>
      <a:lnRef idx="1">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A1BAA-2EE5-EAE8-A92E-2C7C39AFB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CCE3C8-DB7F-558E-AE90-B039C0974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E0DDB-F723-4F5F-91DA-553FDC38A9C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EEB98D9-FEBF-EAAA-DE7A-903663D3DF0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48665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75C07-FD25-5B76-ADD8-EA8C1B285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90662A-E5D3-445E-3B14-02BC5DC163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458AE-890B-DCB7-DBC0-DA401966B98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8F232C5-2227-61F0-35E8-DE6BC820BB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402783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CC618-F871-F8FE-BE24-AAC36E900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3EA3DE-72C1-AB70-0449-2367B7BDE7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F27038-40FA-1011-6809-3DDEE389035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659991D-AFA1-2E4D-8FEA-C7578D05876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269253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Rapport provisoire sur les disparités d’accès aux services sociaux de base de la ville de Kayes, AUA Abdaty KOUNTA, 16 juin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Rapport provisoire sur les disparités d’accès aux services sociaux de base de la ville de Kayes, AUA Abdaty KOUNTA, 16 juin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Rapport provisoire sur les disparités d’accès aux services sociaux de base de la ville de Kayes, AUA Abdaty KOUNTA, 16 juin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5AB8A-45ED-46E6-91CD-690431315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26B20-49E8-AED7-3D1D-1BFA49BFC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84718C-4883-7046-6213-9CF974D90C9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6D1FD21-8492-AC8D-AAB3-B96382A63CB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41268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42F5F-1F55-31C7-057B-6C0892324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1009D-7363-6D40-5041-1CF206ABFC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8616E-7CC5-AE2E-5359-84E5DFFFA46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8837B72-BD35-21F1-86C2-11E9704944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273523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7F7C-1E53-EDB5-61DE-6C92F6279F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B8369-5817-2ACA-B683-3EB010E45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B17A7-FB62-A563-2250-68E0531B33E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C96DA89-2121-05DD-1781-F3D0A87846D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37330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 /><Relationship Id="rId7" Type="http://schemas.microsoft.com/office/2007/relationships/diagramDrawing" Target="../diagrams/drawing1.xml"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diagramColors" Target="../diagrams/colors1.xml" /><Relationship Id="rId5" Type="http://schemas.openxmlformats.org/officeDocument/2006/relationships/diagramQuickStyle" Target="../diagrams/quickStyle1.xml" /><Relationship Id="rId4" Type="http://schemas.openxmlformats.org/officeDocument/2006/relationships/diagramLayout" Target="../diagrams/layout1.xml" /></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3.xml" /><Relationship Id="rId3" Type="http://schemas.openxmlformats.org/officeDocument/2006/relationships/diagramData" Target="../diagrams/data2.xml" /><Relationship Id="rId7" Type="http://schemas.microsoft.com/office/2007/relationships/diagramDrawing" Target="../diagrams/drawing2.xml" /><Relationship Id="rId12" Type="http://schemas.microsoft.com/office/2007/relationships/diagramDrawing" Target="../diagrams/drawing3.xml"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diagramColors" Target="../diagrams/colors2.xml" /><Relationship Id="rId11" Type="http://schemas.openxmlformats.org/officeDocument/2006/relationships/diagramColors" Target="../diagrams/colors3.xml" /><Relationship Id="rId5" Type="http://schemas.openxmlformats.org/officeDocument/2006/relationships/diagramQuickStyle" Target="../diagrams/quickStyle2.xml" /><Relationship Id="rId10" Type="http://schemas.openxmlformats.org/officeDocument/2006/relationships/diagramQuickStyle" Target="../diagrams/quickStyle3.xml" /><Relationship Id="rId4" Type="http://schemas.openxmlformats.org/officeDocument/2006/relationships/diagramLayout" Target="../diagrams/layout2.xml" /><Relationship Id="rId9" Type="http://schemas.openxmlformats.org/officeDocument/2006/relationships/diagramLayout" Target="../diagrams/layout3.xml" /></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5.xml" /><Relationship Id="rId3" Type="http://schemas.openxmlformats.org/officeDocument/2006/relationships/diagramData" Target="../diagrams/data4.xml" /><Relationship Id="rId7" Type="http://schemas.microsoft.com/office/2007/relationships/diagramDrawing" Target="../diagrams/drawing4.xml" /><Relationship Id="rId12" Type="http://schemas.microsoft.com/office/2007/relationships/diagramDrawing" Target="../diagrams/drawing5.xml" /><Relationship Id="rId2" Type="http://schemas.openxmlformats.org/officeDocument/2006/relationships/notesSlide" Target="../notesSlides/notesSlide6.xml" /><Relationship Id="rId1" Type="http://schemas.openxmlformats.org/officeDocument/2006/relationships/slideLayout" Target="../slideLayouts/slideLayout1.xml" /><Relationship Id="rId6" Type="http://schemas.openxmlformats.org/officeDocument/2006/relationships/diagramColors" Target="../diagrams/colors4.xml" /><Relationship Id="rId11" Type="http://schemas.openxmlformats.org/officeDocument/2006/relationships/diagramColors" Target="../diagrams/colors5.xml" /><Relationship Id="rId5" Type="http://schemas.openxmlformats.org/officeDocument/2006/relationships/diagramQuickStyle" Target="../diagrams/quickStyle4.xml" /><Relationship Id="rId10" Type="http://schemas.openxmlformats.org/officeDocument/2006/relationships/diagramQuickStyle" Target="../diagrams/quickStyle5.xml" /><Relationship Id="rId4" Type="http://schemas.openxmlformats.org/officeDocument/2006/relationships/diagramLayout" Target="../diagrams/layout4.xml" /><Relationship Id="rId9" Type="http://schemas.openxmlformats.org/officeDocument/2006/relationships/diagramLayout" Target="../diagrams/layout5.xml" /></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 /><Relationship Id="rId7" Type="http://schemas.microsoft.com/office/2007/relationships/diagramDrawing" Target="../diagrams/drawing6.xml" /><Relationship Id="rId2" Type="http://schemas.openxmlformats.org/officeDocument/2006/relationships/notesSlide" Target="../notesSlides/notesSlide7.xml" /><Relationship Id="rId1" Type="http://schemas.openxmlformats.org/officeDocument/2006/relationships/slideLayout" Target="../slideLayouts/slideLayout1.xml" /><Relationship Id="rId6" Type="http://schemas.openxmlformats.org/officeDocument/2006/relationships/diagramColors" Target="../diagrams/colors6.xml" /><Relationship Id="rId5" Type="http://schemas.openxmlformats.org/officeDocument/2006/relationships/diagramQuickStyle" Target="../diagrams/quickStyle6.xml" /><Relationship Id="rId4" Type="http://schemas.openxmlformats.org/officeDocument/2006/relationships/diagramLayout" Target="../diagrams/layout6.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chart" Target="../charts/chart2.xml"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chart" Target="../charts/chart3.xml" /><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chart" Target="../charts/chart4.xml"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chart" Target="../charts/chart5.xml"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8" Type="http://schemas.microsoft.com/office/2007/relationships/diagramDrawing" Target="../diagrams/drawing7.xml" /><Relationship Id="rId3" Type="http://schemas.openxmlformats.org/officeDocument/2006/relationships/chart" Target="../charts/chart6.xml" /><Relationship Id="rId7" Type="http://schemas.openxmlformats.org/officeDocument/2006/relationships/diagramColors" Target="../diagrams/colors7.xml" /><Relationship Id="rId2" Type="http://schemas.openxmlformats.org/officeDocument/2006/relationships/notesSlide" Target="../notesSlides/notesSlide17.xml" /><Relationship Id="rId1" Type="http://schemas.openxmlformats.org/officeDocument/2006/relationships/slideLayout" Target="../slideLayouts/slideLayout1.xml" /><Relationship Id="rId6" Type="http://schemas.openxmlformats.org/officeDocument/2006/relationships/diagramQuickStyle" Target="../diagrams/quickStyle7.xml" /><Relationship Id="rId5" Type="http://schemas.openxmlformats.org/officeDocument/2006/relationships/diagramLayout" Target="../diagrams/layout7.xml" /><Relationship Id="rId4" Type="http://schemas.openxmlformats.org/officeDocument/2006/relationships/diagramData" Target="../diagrams/data7.xml" /></Relationships>
</file>

<file path=ppt/slides/_rels/slide18.xml.rels><?xml version="1.0" encoding="UTF-8" standalone="yes"?>
<Relationships xmlns="http://schemas.openxmlformats.org/package/2006/relationships"><Relationship Id="rId8" Type="http://schemas.microsoft.com/office/2007/relationships/diagramDrawing" Target="../diagrams/drawing8.xml" /><Relationship Id="rId3" Type="http://schemas.openxmlformats.org/officeDocument/2006/relationships/chart" Target="../charts/chart7.xml" /><Relationship Id="rId7" Type="http://schemas.openxmlformats.org/officeDocument/2006/relationships/diagramColors" Target="../diagrams/colors8.xml" /><Relationship Id="rId2" Type="http://schemas.openxmlformats.org/officeDocument/2006/relationships/notesSlide" Target="../notesSlides/notesSlide18.xml" /><Relationship Id="rId1" Type="http://schemas.openxmlformats.org/officeDocument/2006/relationships/slideLayout" Target="../slideLayouts/slideLayout1.xml" /><Relationship Id="rId6" Type="http://schemas.openxmlformats.org/officeDocument/2006/relationships/diagramQuickStyle" Target="../diagrams/quickStyle8.xml" /><Relationship Id="rId5" Type="http://schemas.openxmlformats.org/officeDocument/2006/relationships/diagramLayout" Target="../diagrams/layout8.xml" /><Relationship Id="rId4" Type="http://schemas.openxmlformats.org/officeDocument/2006/relationships/diagramData" Target="../diagrams/data8.xml" /></Relationships>
</file>

<file path=ppt/slides/_rels/slide19.xml.rels><?xml version="1.0" encoding="UTF-8" standalone="yes"?>
<Relationships xmlns="http://schemas.openxmlformats.org/package/2006/relationships"><Relationship Id="rId3" Type="http://schemas.openxmlformats.org/officeDocument/2006/relationships/chart" Target="../charts/chart8.xml" /><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chart" Target="../charts/chart9.xml" /><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8" Type="http://schemas.openxmlformats.org/officeDocument/2006/relationships/diagramColors" Target="../diagrams/colors9.xml" /><Relationship Id="rId13" Type="http://schemas.openxmlformats.org/officeDocument/2006/relationships/diagramColors" Target="../diagrams/colors10.xml" /><Relationship Id="rId3" Type="http://schemas.openxmlformats.org/officeDocument/2006/relationships/image" Target="../media/image3.png" /><Relationship Id="rId7" Type="http://schemas.openxmlformats.org/officeDocument/2006/relationships/diagramQuickStyle" Target="../diagrams/quickStyle9.xml" /><Relationship Id="rId12" Type="http://schemas.openxmlformats.org/officeDocument/2006/relationships/diagramQuickStyle" Target="../diagrams/quickStyle10.xml" /><Relationship Id="rId2" Type="http://schemas.openxmlformats.org/officeDocument/2006/relationships/notesSlide" Target="../notesSlides/notesSlide21.xml" /><Relationship Id="rId1" Type="http://schemas.openxmlformats.org/officeDocument/2006/relationships/slideLayout" Target="../slideLayouts/slideLayout1.xml" /><Relationship Id="rId6" Type="http://schemas.openxmlformats.org/officeDocument/2006/relationships/diagramLayout" Target="../diagrams/layout9.xml" /><Relationship Id="rId11" Type="http://schemas.openxmlformats.org/officeDocument/2006/relationships/diagramLayout" Target="../diagrams/layout10.xml" /><Relationship Id="rId5" Type="http://schemas.openxmlformats.org/officeDocument/2006/relationships/diagramData" Target="../diagrams/data9.xml" /><Relationship Id="rId10" Type="http://schemas.openxmlformats.org/officeDocument/2006/relationships/diagramData" Target="../diagrams/data10.xml" /><Relationship Id="rId4" Type="http://schemas.openxmlformats.org/officeDocument/2006/relationships/image" Target="../media/image4.jpeg" /><Relationship Id="rId9" Type="http://schemas.microsoft.com/office/2007/relationships/diagramDrawing" Target="../diagrams/drawing9.xml" /><Relationship Id="rId14" Type="http://schemas.microsoft.com/office/2007/relationships/diagramDrawing" Target="../diagrams/drawing10.xml" /></Relationships>
</file>

<file path=ppt/slides/_rels/slide2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22.xml" /><Relationship Id="rId1" Type="http://schemas.openxmlformats.org/officeDocument/2006/relationships/slideLayout" Target="../slideLayouts/slideLayout1.xml" /><Relationship Id="rId4" Type="http://schemas.openxmlformats.org/officeDocument/2006/relationships/image" Target="../media/image6.png"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3" Type="http://schemas.openxmlformats.org/officeDocument/2006/relationships/chart" Target="../charts/chart10.xml" /><Relationship Id="rId2" Type="http://schemas.openxmlformats.org/officeDocument/2006/relationships/notesSlide" Target="../notesSlides/notesSlide27.xml"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l="14053" r="14053"/>
          <a:stretch>
            <a:fillRect/>
          </a:stretch>
        </p:blipFill>
        <p:spPr>
          <a:xfrm>
            <a:off x="5781676" y="-774700"/>
            <a:ext cx="7721600" cy="7721600"/>
          </a:xfrm>
          <a:prstGeom prst="roundRect">
            <a:avLst>
              <a:gd name="adj" fmla="val 2222"/>
            </a:avLst>
          </a:prstGeom>
        </p:spPr>
      </p:pic>
      <p:sp>
        <p:nvSpPr>
          <p:cNvPr id="2" name="Rectangle 1">
            <a:extLst>
              <a:ext uri="{FF2B5EF4-FFF2-40B4-BE49-F238E27FC236}">
                <a16:creationId xmlns:a16="http://schemas.microsoft.com/office/drawing/2014/main" id="{A8296609-5113-4DF3-950F-7DB0293786DC}"/>
              </a:ext>
            </a:extLst>
          </p:cNvPr>
          <p:cNvSpPr>
            <a:spLocks noGrp="1"/>
          </p:cNvSpPr>
          <p:nvPr/>
        </p:nvSpPr>
        <p:spPr>
          <a:xfrm>
            <a:off x="0" y="0"/>
            <a:ext cx="5781676" cy="6858000"/>
          </a:xfrm>
          <a:prstGeom prst="rect">
            <a:avLst/>
          </a:prstGeom>
          <a:solidFill>
            <a:srgbClr val="17324D"/>
          </a:solidFill>
          <a:ln w="0">
            <a:noFill/>
          </a:ln>
        </p:spPr>
        <p:txBody>
          <a:bodyPr/>
          <a:lstStyle/>
          <a:p>
            <a:endParaRPr lang="fr-FR"/>
          </a:p>
        </p:txBody>
      </p:sp>
      <p:sp>
        <p:nvSpPr>
          <p:cNvPr id="3" name="Rectangle 2">
            <a:extLst>
              <a:ext uri="{FF2B5EF4-FFF2-40B4-BE49-F238E27FC236}">
                <a16:creationId xmlns:a16="http://schemas.microsoft.com/office/drawing/2014/main" id="{9B3E8644-2289-4443-BF6F-0721D29B07C0}"/>
              </a:ext>
            </a:extLst>
          </p:cNvPr>
          <p:cNvSpPr>
            <a:spLocks noGrp="1"/>
          </p:cNvSpPr>
          <p:nvPr/>
        </p:nvSpPr>
        <p:spPr>
          <a:xfrm>
            <a:off x="0" y="0"/>
            <a:ext cx="12192000" cy="6858000"/>
          </a:xfrm>
          <a:prstGeom prst="rect">
            <a:avLst/>
          </a:prstGeom>
          <a:solidFill>
            <a:srgbClr val="17324D">
              <a:alpha val="75000"/>
            </a:srgbClr>
          </a:solidFill>
          <a:ln w="0">
            <a:noFill/>
          </a:ln>
        </p:spPr>
        <p:txBody>
          <a:bodyPr/>
          <a:lstStyle/>
          <a:p>
            <a:endParaRPr lang="fr-FR"/>
          </a:p>
        </p:txBody>
      </p:sp>
      <p:sp>
        <p:nvSpPr>
          <p:cNvPr id="4" name="Rectangle 3">
            <a:extLst>
              <a:ext uri="{FF2B5EF4-FFF2-40B4-BE49-F238E27FC236}">
                <a16:creationId xmlns:a16="http://schemas.microsoft.com/office/drawing/2014/main" id="{F5BB0FF9-AF0E-4E90-A804-85D151F81C60}"/>
              </a:ext>
            </a:extLst>
          </p:cNvPr>
          <p:cNvSpPr>
            <a:spLocks noGrp="1"/>
          </p:cNvSpPr>
          <p:nvPr/>
        </p:nvSpPr>
        <p:spPr>
          <a:xfrm>
            <a:off x="180974" y="528638"/>
            <a:ext cx="5600702" cy="2041307"/>
          </a:xfrm>
          <a:prstGeom prst="rect">
            <a:avLst/>
          </a:prstGeom>
          <a:noFill/>
          <a:ln w="0">
            <a:noFill/>
          </a:ln>
        </p:spPr>
        <p:txBody>
          <a:bodyPr anchor="ctr">
            <a:normAutofit/>
          </a:bodyPr>
          <a:lstStyle/>
          <a:p>
            <a:r>
              <a:rPr lang="fr-ML" sz="2500" b="1" dirty="0">
                <a:solidFill>
                  <a:schemeClr val="bg1"/>
                </a:solidFill>
              </a:rPr>
              <a:t>ETUDE SUR LES DISPARITES ENTRE LES QUARTIERS EN TERME D’ACCES AUX SERVICES SOCIAUX DE BASE DE LA VILLE DE KAYES</a:t>
            </a:r>
            <a:endParaRPr lang="fr-FR" sz="2500" dirty="0">
              <a:solidFill>
                <a:schemeClr val="bg1"/>
              </a:solidFill>
            </a:endParaRPr>
          </a:p>
        </p:txBody>
      </p:sp>
      <p:sp>
        <p:nvSpPr>
          <p:cNvPr id="6" name="Rectangle 5">
            <a:extLst>
              <a:ext uri="{FF2B5EF4-FFF2-40B4-BE49-F238E27FC236}">
                <a16:creationId xmlns:a16="http://schemas.microsoft.com/office/drawing/2014/main" id="{2D8EAFA9-9C1E-46C5-8780-6AC25ABD7205}"/>
              </a:ext>
            </a:extLst>
          </p:cNvPr>
          <p:cNvSpPr>
            <a:spLocks noGrp="1"/>
          </p:cNvSpPr>
          <p:nvPr/>
        </p:nvSpPr>
        <p:spPr>
          <a:xfrm>
            <a:off x="153152" y="3429000"/>
            <a:ext cx="3582805" cy="938212"/>
          </a:xfrm>
          <a:prstGeom prst="rect">
            <a:avLst/>
          </a:prstGeom>
          <a:noFill/>
          <a:ln w="0">
            <a:noFill/>
          </a:ln>
        </p:spPr>
        <p:txBody>
          <a:bodyPr anchor="ctr">
            <a:noAutofit/>
          </a:bodyPr>
          <a:lstStyle/>
          <a:p>
            <a:r>
              <a:rPr lang="fr-FR" sz="1600" b="1" dirty="0">
                <a:solidFill>
                  <a:srgbClr val="E8C47A"/>
                </a:solidFill>
                <a:latin typeface="DejaVu Sans"/>
              </a:rPr>
              <a:t>Présentation du </a:t>
            </a:r>
            <a:r>
              <a:rPr sz="1600" b="1" dirty="0">
                <a:solidFill>
                  <a:srgbClr val="E8C47A"/>
                </a:solidFill>
                <a:latin typeface="DejaVu Sans"/>
              </a:rPr>
              <a:t>Rapport </a:t>
            </a:r>
            <a:r>
              <a:rPr lang="fr-FR" sz="1600" b="1" noProof="0" dirty="0">
                <a:solidFill>
                  <a:srgbClr val="E8C47A"/>
                </a:solidFill>
                <a:latin typeface="DejaVu Sans"/>
              </a:rPr>
              <a:t>provisoire soumis </a:t>
            </a:r>
            <a:r>
              <a:rPr sz="1600" b="1" dirty="0">
                <a:solidFill>
                  <a:srgbClr val="E8C47A"/>
                </a:solidFill>
                <a:latin typeface="DejaVu Sans"/>
              </a:rPr>
              <a:t>à</a:t>
            </a:r>
            <a:r>
              <a:rPr lang="fr-FR" sz="1600" b="1" dirty="0">
                <a:solidFill>
                  <a:srgbClr val="E8C47A"/>
                </a:solidFill>
                <a:latin typeface="DejaVu Sans"/>
              </a:rPr>
              <a:t> la</a:t>
            </a:r>
            <a:r>
              <a:rPr sz="1600" b="1" dirty="0">
                <a:solidFill>
                  <a:srgbClr val="E8C47A"/>
                </a:solidFill>
                <a:latin typeface="DejaVu Sans"/>
              </a:rPr>
              <a:t> validation</a:t>
            </a:r>
            <a:r>
              <a:rPr lang="fr-FR" sz="1600" b="1" dirty="0">
                <a:solidFill>
                  <a:srgbClr val="E8C47A"/>
                </a:solidFill>
                <a:latin typeface="DejaVu Sans"/>
              </a:rPr>
              <a:t> régionale</a:t>
            </a:r>
            <a:endParaRPr sz="1600" b="1" dirty="0">
              <a:solidFill>
                <a:srgbClr val="E8C47A"/>
              </a:solidFill>
              <a:latin typeface="DejaVu Sans"/>
            </a:endParaRPr>
          </a:p>
        </p:txBody>
      </p:sp>
      <p:sp>
        <p:nvSpPr>
          <p:cNvPr id="7" name="Rectangle 6">
            <a:extLst>
              <a:ext uri="{FF2B5EF4-FFF2-40B4-BE49-F238E27FC236}">
                <a16:creationId xmlns:a16="http://schemas.microsoft.com/office/drawing/2014/main" id="{988D25CA-99AA-45A0-A5B0-672CFA2566DC}"/>
              </a:ext>
            </a:extLst>
          </p:cNvPr>
          <p:cNvSpPr>
            <a:spLocks noGrp="1"/>
          </p:cNvSpPr>
          <p:nvPr/>
        </p:nvSpPr>
        <p:spPr>
          <a:xfrm>
            <a:off x="153152" y="6243988"/>
            <a:ext cx="4395737" cy="285750"/>
          </a:xfrm>
          <a:prstGeom prst="rect">
            <a:avLst/>
          </a:prstGeom>
          <a:noFill/>
          <a:ln w="0">
            <a:noFill/>
          </a:ln>
        </p:spPr>
        <p:txBody>
          <a:bodyPr anchor="ctr">
            <a:normAutofit/>
          </a:bodyPr>
          <a:lstStyle/>
          <a:p>
            <a:pPr algn="l">
              <a:defRPr sz="1200" b="0">
                <a:solidFill>
                  <a:srgbClr val="FFFFFF"/>
                </a:solidFill>
                <a:latin typeface="DejaVu Sans"/>
                <a:ea typeface="DejaVu Sans"/>
                <a:cs typeface="DejaVu Sans"/>
              </a:defRPr>
            </a:pPr>
            <a:r>
              <a:rPr sz="1200" b="0" dirty="0">
                <a:solidFill>
                  <a:srgbClr val="FFFFFF"/>
                </a:solidFill>
                <a:latin typeface="DejaVu Sans"/>
                <a:ea typeface="DejaVu Sans"/>
                <a:cs typeface="DejaVu Sans"/>
              </a:rPr>
              <a:t>Observatoire National des Villes · AUA Abdaty KOUNTA</a:t>
            </a:r>
          </a:p>
        </p:txBody>
      </p:sp>
      <p:sp>
        <p:nvSpPr>
          <p:cNvPr id="8" name="Rectangle 7">
            <a:extLst>
              <a:ext uri="{FF2B5EF4-FFF2-40B4-BE49-F238E27FC236}">
                <a16:creationId xmlns:a16="http://schemas.microsoft.com/office/drawing/2014/main" id="{3ABFFD67-C7C7-499F-B5BE-2DA96749594D}"/>
              </a:ext>
            </a:extLst>
          </p:cNvPr>
          <p:cNvSpPr>
            <a:spLocks noGrp="1"/>
          </p:cNvSpPr>
          <p:nvPr/>
        </p:nvSpPr>
        <p:spPr>
          <a:xfrm>
            <a:off x="180974" y="6529738"/>
            <a:ext cx="2381250" cy="238125"/>
          </a:xfrm>
          <a:prstGeom prst="rect">
            <a:avLst/>
          </a:prstGeom>
          <a:noFill/>
          <a:ln w="0">
            <a:noFill/>
          </a:ln>
        </p:spPr>
        <p:txBody>
          <a:bodyPr anchor="ctr">
            <a:normAutofit fontScale="85556" lnSpcReduction="10000"/>
          </a:bodyPr>
          <a:lstStyle/>
          <a:p>
            <a:pPr algn="l">
              <a:defRPr sz="1125" b="1">
                <a:solidFill>
                  <a:srgbClr val="E8C47A"/>
                </a:solidFill>
                <a:latin typeface="DejaVu Sans"/>
                <a:ea typeface="DejaVu Sans"/>
                <a:cs typeface="DejaVu Sans"/>
              </a:defRPr>
            </a:pPr>
            <a:r>
              <a:rPr lang="fr-FR" sz="1125" b="1" dirty="0">
                <a:solidFill>
                  <a:srgbClr val="E8C47A"/>
                </a:solidFill>
                <a:latin typeface="DejaVu Sans"/>
                <a:ea typeface="DejaVu Sans"/>
                <a:cs typeface="DejaVu Sans"/>
              </a:rPr>
              <a:t>Septembre </a:t>
            </a:r>
            <a:r>
              <a:rPr sz="1125" b="1" dirty="0">
                <a:solidFill>
                  <a:srgbClr val="E8C47A"/>
                </a:solidFill>
                <a:latin typeface="DejaVu Sans"/>
                <a:ea typeface="DejaVu Sans"/>
                <a:cs typeface="DejaVu Sans"/>
              </a:rPr>
              <a:t>2026</a:t>
            </a:r>
          </a:p>
        </p:txBody>
      </p:sp>
    </p:spTree>
    <p:extLst>
      <p:ext uri="{BB962C8B-B14F-4D97-AF65-F5344CB8AC3E}">
        <p14:creationId xmlns:p14="http://schemas.microsoft.com/office/powerpoint/2010/main" val="515421215"/>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367D36F-E66B-4D1F-BA48-E5BC6EC5DAA6}"/>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2D1BE57A-CEE6-47F6-8772-B0BF50705A97}"/>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lang="fr-FR" sz="2325" b="1" dirty="0">
                <a:solidFill>
                  <a:srgbClr val="455360"/>
                </a:solidFill>
                <a:latin typeface="DejaVu Sans"/>
                <a:ea typeface="DejaVu Sans"/>
                <a:cs typeface="DejaVu Sans"/>
              </a:rPr>
              <a:t>Sommaire</a:t>
            </a:r>
            <a:endParaRPr sz="2325" b="1" dirty="0">
              <a:solidFill>
                <a:srgbClr val="455360"/>
              </a:solidFill>
              <a:latin typeface="DejaVu Sans"/>
              <a:ea typeface="DejaVu Sans"/>
              <a:cs typeface="DejaVu Sans"/>
            </a:endParaRPr>
          </a:p>
        </p:txBody>
      </p:sp>
      <p:sp>
        <p:nvSpPr>
          <p:cNvPr id="4" name="Rectangle 3">
            <a:extLst>
              <a:ext uri="{FF2B5EF4-FFF2-40B4-BE49-F238E27FC236}">
                <a16:creationId xmlns:a16="http://schemas.microsoft.com/office/drawing/2014/main" id="{EE701527-2680-43FF-937F-240043D1D193}"/>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9C0BDB1C-9758-40D0-B8BF-0137C068109F}"/>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02</a:t>
            </a:r>
          </a:p>
        </p:txBody>
      </p:sp>
      <p:sp>
        <p:nvSpPr>
          <p:cNvPr id="6" name="Rectangle 5">
            <a:extLst>
              <a:ext uri="{FF2B5EF4-FFF2-40B4-BE49-F238E27FC236}">
                <a16:creationId xmlns:a16="http://schemas.microsoft.com/office/drawing/2014/main" id="{415669DD-4BA3-4977-9BA9-403482044B35}"/>
              </a:ext>
            </a:extLst>
          </p:cNvPr>
          <p:cNvSpPr>
            <a:spLocks noGrp="1"/>
          </p:cNvSpPr>
          <p:nvPr/>
        </p:nvSpPr>
        <p:spPr>
          <a:xfrm>
            <a:off x="714375" y="147637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I</a:t>
            </a:r>
          </a:p>
        </p:txBody>
      </p:sp>
      <p:sp>
        <p:nvSpPr>
          <p:cNvPr id="7" name="Rectangle 6">
            <a:extLst>
              <a:ext uri="{FF2B5EF4-FFF2-40B4-BE49-F238E27FC236}">
                <a16:creationId xmlns:a16="http://schemas.microsoft.com/office/drawing/2014/main" id="{472BA877-C74C-449C-8FC4-FD7712B76B5B}"/>
              </a:ext>
            </a:extLst>
          </p:cNvPr>
          <p:cNvSpPr>
            <a:spLocks noGrp="1"/>
          </p:cNvSpPr>
          <p:nvPr/>
        </p:nvSpPr>
        <p:spPr>
          <a:xfrm>
            <a:off x="1524000" y="147637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Introduction</a:t>
            </a:r>
          </a:p>
        </p:txBody>
      </p:sp>
      <p:sp>
        <p:nvSpPr>
          <p:cNvPr id="8" name="Rectangle 7">
            <a:extLst>
              <a:ext uri="{FF2B5EF4-FFF2-40B4-BE49-F238E27FC236}">
                <a16:creationId xmlns:a16="http://schemas.microsoft.com/office/drawing/2014/main" id="{69A18DD1-520B-4F73-AE4D-239B83D306D3}"/>
              </a:ext>
            </a:extLst>
          </p:cNvPr>
          <p:cNvSpPr>
            <a:spLocks noGrp="1"/>
          </p:cNvSpPr>
          <p:nvPr/>
        </p:nvSpPr>
        <p:spPr>
          <a:xfrm>
            <a:off x="1524000" y="2028825"/>
            <a:ext cx="8763000" cy="9525"/>
          </a:xfrm>
          <a:prstGeom prst="rect">
            <a:avLst/>
          </a:prstGeom>
          <a:solidFill>
            <a:srgbClr val="D9E1E5"/>
          </a:solidFill>
          <a:ln w="0">
            <a:noFill/>
          </a:ln>
        </p:spPr>
        <p:txBody>
          <a:bodyPr/>
          <a:lstStyle/>
          <a:p>
            <a:endParaRPr lang="fr-FR"/>
          </a:p>
        </p:txBody>
      </p:sp>
      <p:sp>
        <p:nvSpPr>
          <p:cNvPr id="9" name="Rectangle 8">
            <a:extLst>
              <a:ext uri="{FF2B5EF4-FFF2-40B4-BE49-F238E27FC236}">
                <a16:creationId xmlns:a16="http://schemas.microsoft.com/office/drawing/2014/main" id="{DE502207-A778-4821-9789-B6291074EEA6}"/>
              </a:ext>
            </a:extLst>
          </p:cNvPr>
          <p:cNvSpPr>
            <a:spLocks noGrp="1"/>
          </p:cNvSpPr>
          <p:nvPr/>
        </p:nvSpPr>
        <p:spPr>
          <a:xfrm>
            <a:off x="714375" y="221932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II</a:t>
            </a:r>
          </a:p>
        </p:txBody>
      </p:sp>
      <p:sp>
        <p:nvSpPr>
          <p:cNvPr id="10" name="Rectangle 9">
            <a:extLst>
              <a:ext uri="{FF2B5EF4-FFF2-40B4-BE49-F238E27FC236}">
                <a16:creationId xmlns:a16="http://schemas.microsoft.com/office/drawing/2014/main" id="{A1FBC66E-86CE-484D-BEE2-5B6C79B62612}"/>
              </a:ext>
            </a:extLst>
          </p:cNvPr>
          <p:cNvSpPr>
            <a:spLocks noGrp="1"/>
          </p:cNvSpPr>
          <p:nvPr/>
        </p:nvSpPr>
        <p:spPr>
          <a:xfrm>
            <a:off x="1524000" y="221932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Présentation de la ville de Kayes</a:t>
            </a:r>
          </a:p>
        </p:txBody>
      </p:sp>
      <p:sp>
        <p:nvSpPr>
          <p:cNvPr id="11" name="Rectangle 10">
            <a:extLst>
              <a:ext uri="{FF2B5EF4-FFF2-40B4-BE49-F238E27FC236}">
                <a16:creationId xmlns:a16="http://schemas.microsoft.com/office/drawing/2014/main" id="{1B1BA437-0E73-4F61-B869-A23CB7B33FBC}"/>
              </a:ext>
            </a:extLst>
          </p:cNvPr>
          <p:cNvSpPr>
            <a:spLocks noGrp="1"/>
          </p:cNvSpPr>
          <p:nvPr/>
        </p:nvSpPr>
        <p:spPr>
          <a:xfrm>
            <a:off x="1524000" y="2771775"/>
            <a:ext cx="8763000" cy="9525"/>
          </a:xfrm>
          <a:prstGeom prst="rect">
            <a:avLst/>
          </a:prstGeom>
          <a:solidFill>
            <a:srgbClr val="D9E1E5"/>
          </a:solidFill>
          <a:ln w="0">
            <a:noFill/>
          </a:ln>
        </p:spPr>
        <p:txBody>
          <a:bodyPr/>
          <a:lstStyle/>
          <a:p>
            <a:endParaRPr lang="fr-FR"/>
          </a:p>
        </p:txBody>
      </p:sp>
      <p:sp>
        <p:nvSpPr>
          <p:cNvPr id="12" name="Rectangle 11">
            <a:extLst>
              <a:ext uri="{FF2B5EF4-FFF2-40B4-BE49-F238E27FC236}">
                <a16:creationId xmlns:a16="http://schemas.microsoft.com/office/drawing/2014/main" id="{CDBD2AE1-8D76-43AC-AB8F-EC363FD060A8}"/>
              </a:ext>
            </a:extLst>
          </p:cNvPr>
          <p:cNvSpPr>
            <a:spLocks noGrp="1"/>
          </p:cNvSpPr>
          <p:nvPr/>
        </p:nvSpPr>
        <p:spPr>
          <a:xfrm>
            <a:off x="714375" y="296227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III</a:t>
            </a:r>
          </a:p>
        </p:txBody>
      </p:sp>
      <p:sp>
        <p:nvSpPr>
          <p:cNvPr id="13" name="Rectangle 12">
            <a:extLst>
              <a:ext uri="{FF2B5EF4-FFF2-40B4-BE49-F238E27FC236}">
                <a16:creationId xmlns:a16="http://schemas.microsoft.com/office/drawing/2014/main" id="{8F20B87A-82E1-44D5-9657-D0E275BBA9DC}"/>
              </a:ext>
            </a:extLst>
          </p:cNvPr>
          <p:cNvSpPr>
            <a:spLocks noGrp="1"/>
          </p:cNvSpPr>
          <p:nvPr/>
        </p:nvSpPr>
        <p:spPr>
          <a:xfrm>
            <a:off x="1524000" y="296227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Accès aux services sociaux de base</a:t>
            </a:r>
          </a:p>
        </p:txBody>
      </p:sp>
      <p:sp>
        <p:nvSpPr>
          <p:cNvPr id="14" name="Rectangle 13">
            <a:extLst>
              <a:ext uri="{FF2B5EF4-FFF2-40B4-BE49-F238E27FC236}">
                <a16:creationId xmlns:a16="http://schemas.microsoft.com/office/drawing/2014/main" id="{574650AE-E036-44D6-982C-D250B83E5018}"/>
              </a:ext>
            </a:extLst>
          </p:cNvPr>
          <p:cNvSpPr>
            <a:spLocks noGrp="1"/>
          </p:cNvSpPr>
          <p:nvPr/>
        </p:nvSpPr>
        <p:spPr>
          <a:xfrm>
            <a:off x="1524000" y="3514725"/>
            <a:ext cx="8763000" cy="9525"/>
          </a:xfrm>
          <a:prstGeom prst="rect">
            <a:avLst/>
          </a:prstGeom>
          <a:solidFill>
            <a:srgbClr val="D9E1E5"/>
          </a:solidFill>
          <a:ln w="0">
            <a:noFill/>
          </a:ln>
        </p:spPr>
        <p:txBody>
          <a:bodyPr/>
          <a:lstStyle/>
          <a:p>
            <a:endParaRPr lang="fr-FR"/>
          </a:p>
        </p:txBody>
      </p:sp>
      <p:sp>
        <p:nvSpPr>
          <p:cNvPr id="15" name="Rectangle 14">
            <a:extLst>
              <a:ext uri="{FF2B5EF4-FFF2-40B4-BE49-F238E27FC236}">
                <a16:creationId xmlns:a16="http://schemas.microsoft.com/office/drawing/2014/main" id="{7899855E-CA27-4BFE-9A60-D153CC0310F4}"/>
              </a:ext>
            </a:extLst>
          </p:cNvPr>
          <p:cNvSpPr>
            <a:spLocks noGrp="1"/>
          </p:cNvSpPr>
          <p:nvPr/>
        </p:nvSpPr>
        <p:spPr>
          <a:xfrm>
            <a:off x="714375" y="370522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IV</a:t>
            </a:r>
          </a:p>
        </p:txBody>
      </p:sp>
      <p:sp>
        <p:nvSpPr>
          <p:cNvPr id="16" name="Rectangle 15">
            <a:extLst>
              <a:ext uri="{FF2B5EF4-FFF2-40B4-BE49-F238E27FC236}">
                <a16:creationId xmlns:a16="http://schemas.microsoft.com/office/drawing/2014/main" id="{7FC87948-3075-4FED-B3C3-97B492DECD37}"/>
              </a:ext>
            </a:extLst>
          </p:cNvPr>
          <p:cNvSpPr>
            <a:spLocks noGrp="1"/>
          </p:cNvSpPr>
          <p:nvPr/>
        </p:nvSpPr>
        <p:spPr>
          <a:xfrm>
            <a:off x="1524000" y="370522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Identification des besoins prioritaires</a:t>
            </a:r>
          </a:p>
        </p:txBody>
      </p:sp>
      <p:sp>
        <p:nvSpPr>
          <p:cNvPr id="17" name="Rectangle 16">
            <a:extLst>
              <a:ext uri="{FF2B5EF4-FFF2-40B4-BE49-F238E27FC236}">
                <a16:creationId xmlns:a16="http://schemas.microsoft.com/office/drawing/2014/main" id="{C874F826-4EE0-4D30-80A7-928499A12933}"/>
              </a:ext>
            </a:extLst>
          </p:cNvPr>
          <p:cNvSpPr>
            <a:spLocks noGrp="1"/>
          </p:cNvSpPr>
          <p:nvPr/>
        </p:nvSpPr>
        <p:spPr>
          <a:xfrm>
            <a:off x="1524000" y="4257675"/>
            <a:ext cx="8763000" cy="9525"/>
          </a:xfrm>
          <a:prstGeom prst="rect">
            <a:avLst/>
          </a:prstGeom>
          <a:solidFill>
            <a:srgbClr val="D9E1E5"/>
          </a:solidFill>
          <a:ln w="0">
            <a:noFill/>
          </a:ln>
        </p:spPr>
        <p:txBody>
          <a:bodyPr/>
          <a:lstStyle/>
          <a:p>
            <a:endParaRPr lang="fr-FR"/>
          </a:p>
        </p:txBody>
      </p:sp>
      <p:sp>
        <p:nvSpPr>
          <p:cNvPr id="18" name="Rectangle 17">
            <a:extLst>
              <a:ext uri="{FF2B5EF4-FFF2-40B4-BE49-F238E27FC236}">
                <a16:creationId xmlns:a16="http://schemas.microsoft.com/office/drawing/2014/main" id="{60C69DB2-EB53-49D7-9754-167AD3C81CB2}"/>
              </a:ext>
            </a:extLst>
          </p:cNvPr>
          <p:cNvSpPr>
            <a:spLocks noGrp="1"/>
          </p:cNvSpPr>
          <p:nvPr/>
        </p:nvSpPr>
        <p:spPr>
          <a:xfrm>
            <a:off x="714375" y="444817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V</a:t>
            </a:r>
          </a:p>
        </p:txBody>
      </p:sp>
      <p:sp>
        <p:nvSpPr>
          <p:cNvPr id="19" name="Rectangle 18">
            <a:extLst>
              <a:ext uri="{FF2B5EF4-FFF2-40B4-BE49-F238E27FC236}">
                <a16:creationId xmlns:a16="http://schemas.microsoft.com/office/drawing/2014/main" id="{F8910768-FF88-4A64-A952-C99FB5D97C9B}"/>
              </a:ext>
            </a:extLst>
          </p:cNvPr>
          <p:cNvSpPr>
            <a:spLocks noGrp="1"/>
          </p:cNvSpPr>
          <p:nvPr/>
        </p:nvSpPr>
        <p:spPr>
          <a:xfrm>
            <a:off x="1524000" y="444817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Plan d’actions et devis</a:t>
            </a:r>
          </a:p>
        </p:txBody>
      </p:sp>
      <p:sp>
        <p:nvSpPr>
          <p:cNvPr id="20" name="Rectangle 19">
            <a:extLst>
              <a:ext uri="{FF2B5EF4-FFF2-40B4-BE49-F238E27FC236}">
                <a16:creationId xmlns:a16="http://schemas.microsoft.com/office/drawing/2014/main" id="{1DA6DF4E-BD4D-4877-88F6-DF0243BB0EE3}"/>
              </a:ext>
            </a:extLst>
          </p:cNvPr>
          <p:cNvSpPr>
            <a:spLocks noGrp="1"/>
          </p:cNvSpPr>
          <p:nvPr/>
        </p:nvSpPr>
        <p:spPr>
          <a:xfrm>
            <a:off x="1524000" y="5000625"/>
            <a:ext cx="8763000" cy="9525"/>
          </a:xfrm>
          <a:prstGeom prst="rect">
            <a:avLst/>
          </a:prstGeom>
          <a:solidFill>
            <a:srgbClr val="D9E1E5"/>
          </a:solidFill>
          <a:ln w="0">
            <a:noFill/>
          </a:ln>
        </p:spPr>
        <p:txBody>
          <a:bodyPr/>
          <a:lstStyle/>
          <a:p>
            <a:endParaRPr lang="fr-FR"/>
          </a:p>
        </p:txBody>
      </p:sp>
      <p:sp>
        <p:nvSpPr>
          <p:cNvPr id="21" name="Rectangle 20">
            <a:extLst>
              <a:ext uri="{FF2B5EF4-FFF2-40B4-BE49-F238E27FC236}">
                <a16:creationId xmlns:a16="http://schemas.microsoft.com/office/drawing/2014/main" id="{BB333631-4B8C-4D61-A5BD-98DBE677C1C2}"/>
              </a:ext>
            </a:extLst>
          </p:cNvPr>
          <p:cNvSpPr>
            <a:spLocks noGrp="1"/>
          </p:cNvSpPr>
          <p:nvPr/>
        </p:nvSpPr>
        <p:spPr>
          <a:xfrm>
            <a:off x="714375" y="5191125"/>
            <a:ext cx="666750" cy="523875"/>
          </a:xfrm>
          <a:prstGeom prst="rect">
            <a:avLst/>
          </a:prstGeom>
          <a:noFill/>
          <a:ln w="0">
            <a:noFill/>
          </a:ln>
        </p:spPr>
        <p:txBody>
          <a:bodyPr anchor="ctr">
            <a:normAutofit/>
          </a:bodyPr>
          <a:lstStyle/>
          <a:p>
            <a:pPr algn="l">
              <a:defRPr sz="1875" b="1">
                <a:solidFill>
                  <a:srgbClr val="E8C47A"/>
                </a:solidFill>
                <a:latin typeface="DejaVu Sans"/>
                <a:ea typeface="DejaVu Sans"/>
                <a:cs typeface="DejaVu Sans"/>
              </a:defRPr>
            </a:pPr>
            <a:r>
              <a:rPr sz="1875" b="1">
                <a:solidFill>
                  <a:srgbClr val="E8C47A"/>
                </a:solidFill>
                <a:latin typeface="DejaVu Sans"/>
                <a:ea typeface="DejaVu Sans"/>
                <a:cs typeface="DejaVu Sans"/>
              </a:rPr>
              <a:t>VI</a:t>
            </a:r>
          </a:p>
        </p:txBody>
      </p:sp>
      <p:sp>
        <p:nvSpPr>
          <p:cNvPr id="22" name="Rectangle 21">
            <a:extLst>
              <a:ext uri="{FF2B5EF4-FFF2-40B4-BE49-F238E27FC236}">
                <a16:creationId xmlns:a16="http://schemas.microsoft.com/office/drawing/2014/main" id="{199782D1-F4EE-445F-94F2-3E5E74D42E05}"/>
              </a:ext>
            </a:extLst>
          </p:cNvPr>
          <p:cNvSpPr>
            <a:spLocks noGrp="1"/>
          </p:cNvSpPr>
          <p:nvPr/>
        </p:nvSpPr>
        <p:spPr>
          <a:xfrm>
            <a:off x="1524000" y="5191125"/>
            <a:ext cx="9334500" cy="523875"/>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Conclusion</a:t>
            </a:r>
          </a:p>
        </p:txBody>
      </p:sp>
      <p:sp>
        <p:nvSpPr>
          <p:cNvPr id="23" name="Rectangle 22">
            <a:extLst>
              <a:ext uri="{FF2B5EF4-FFF2-40B4-BE49-F238E27FC236}">
                <a16:creationId xmlns:a16="http://schemas.microsoft.com/office/drawing/2014/main" id="{A8934BF8-64C3-413B-8952-529FB4249369}"/>
              </a:ext>
            </a:extLst>
          </p:cNvPr>
          <p:cNvSpPr>
            <a:spLocks noGrp="1"/>
          </p:cNvSpPr>
          <p:nvPr/>
        </p:nvSpPr>
        <p:spPr>
          <a:xfrm>
            <a:off x="1524000" y="5743575"/>
            <a:ext cx="8763000" cy="9525"/>
          </a:xfrm>
          <a:prstGeom prst="rect">
            <a:avLst/>
          </a:prstGeom>
          <a:solidFill>
            <a:srgbClr val="D9E1E5"/>
          </a:solidFill>
          <a:ln w="0">
            <a:noFill/>
          </a:ln>
        </p:spPr>
        <p:txBody>
          <a:bodyPr/>
          <a:lstStyle/>
          <a:p>
            <a:endParaRPr lang="fr-FR"/>
          </a:p>
        </p:txBody>
      </p:sp>
    </p:spTree>
    <p:extLst>
      <p:ext uri="{BB962C8B-B14F-4D97-AF65-F5344CB8AC3E}">
        <p14:creationId xmlns:p14="http://schemas.microsoft.com/office/powerpoint/2010/main" val="195633327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64600C-A629-49B3-BF39-8737D72F1792}"/>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B01A4CE9-40EB-4B7C-957D-AE173A552F97}"/>
              </a:ext>
            </a:extLst>
          </p:cNvPr>
          <p:cNvSpPr>
            <a:spLocks noGrp="1"/>
          </p:cNvSpPr>
          <p:nvPr/>
        </p:nvSpPr>
        <p:spPr>
          <a:xfrm>
            <a:off x="762000" y="1190625"/>
            <a:ext cx="1905000" cy="762000"/>
          </a:xfrm>
          <a:prstGeom prst="rect">
            <a:avLst/>
          </a:prstGeom>
          <a:noFill/>
          <a:ln w="0">
            <a:noFill/>
          </a:ln>
        </p:spPr>
        <p:txBody>
          <a:bodyPr anchor="ctr">
            <a:normAutofit/>
          </a:bodyPr>
          <a:lstStyle/>
          <a:p>
            <a:pPr algn="l">
              <a:defRPr sz="4200" b="1">
                <a:solidFill>
                  <a:srgbClr val="E8C47A"/>
                </a:solidFill>
                <a:latin typeface="DejaVu Sans"/>
                <a:ea typeface="DejaVu Sans"/>
                <a:cs typeface="DejaVu Sans"/>
              </a:defRPr>
            </a:pPr>
            <a:r>
              <a:rPr sz="4200" b="1" dirty="0">
                <a:solidFill>
                  <a:srgbClr val="E8C47A"/>
                </a:solidFill>
                <a:latin typeface="DejaVu Sans"/>
                <a:ea typeface="DejaVu Sans"/>
                <a:cs typeface="DejaVu Sans"/>
              </a:rPr>
              <a:t>I</a:t>
            </a:r>
          </a:p>
        </p:txBody>
      </p:sp>
      <p:sp>
        <p:nvSpPr>
          <p:cNvPr id="3" name="Rectangle 2">
            <a:extLst>
              <a:ext uri="{FF2B5EF4-FFF2-40B4-BE49-F238E27FC236}">
                <a16:creationId xmlns:a16="http://schemas.microsoft.com/office/drawing/2014/main" id="{CBA4D9CC-4AB5-4E75-8C24-582DC0CA2C4A}"/>
              </a:ext>
            </a:extLst>
          </p:cNvPr>
          <p:cNvSpPr>
            <a:spLocks noGrp="1"/>
          </p:cNvSpPr>
          <p:nvPr/>
        </p:nvSpPr>
        <p:spPr>
          <a:xfrm>
            <a:off x="762000" y="2190750"/>
            <a:ext cx="10001250" cy="952500"/>
          </a:xfrm>
          <a:prstGeom prst="rect">
            <a:avLst/>
          </a:prstGeom>
          <a:noFill/>
          <a:ln w="0">
            <a:noFill/>
          </a:ln>
        </p:spPr>
        <p:txBody>
          <a:bodyPr anchor="ctr">
            <a:normAutofit/>
          </a:bodyPr>
          <a:lstStyle/>
          <a:p>
            <a:pPr algn="l">
              <a:defRPr sz="3150" b="1">
                <a:solidFill>
                  <a:srgbClr val="FFFFFF"/>
                </a:solidFill>
                <a:latin typeface="DejaVu Sans"/>
                <a:ea typeface="DejaVu Sans"/>
                <a:cs typeface="DejaVu Sans"/>
              </a:defRPr>
            </a:pPr>
            <a:r>
              <a:rPr lang="fr-FR" sz="3150" b="1" dirty="0">
                <a:solidFill>
                  <a:srgbClr val="FFFFFF"/>
                </a:solidFill>
                <a:latin typeface="DejaVu Sans"/>
                <a:ea typeface="DejaVu Sans"/>
                <a:cs typeface="DejaVu Sans"/>
              </a:rPr>
              <a:t>INTRODUCTION</a:t>
            </a:r>
            <a:endParaRPr sz="3150" b="1" dirty="0">
              <a:solidFill>
                <a:srgbClr val="FFFFFF"/>
              </a:solidFill>
              <a:latin typeface="DejaVu Sans"/>
              <a:ea typeface="DejaVu Sans"/>
              <a:cs typeface="DejaVu Sans"/>
            </a:endParaRPr>
          </a:p>
        </p:txBody>
      </p:sp>
      <p:sp>
        <p:nvSpPr>
          <p:cNvPr id="4" name="Rectangle 3">
            <a:extLst>
              <a:ext uri="{FF2B5EF4-FFF2-40B4-BE49-F238E27FC236}">
                <a16:creationId xmlns:a16="http://schemas.microsoft.com/office/drawing/2014/main" id="{8ABA7A12-E121-470F-8F59-F1BDB4079C33}"/>
              </a:ext>
            </a:extLst>
          </p:cNvPr>
          <p:cNvSpPr>
            <a:spLocks noGrp="1"/>
          </p:cNvSpPr>
          <p:nvPr/>
        </p:nvSpPr>
        <p:spPr>
          <a:xfrm>
            <a:off x="781050" y="3429000"/>
            <a:ext cx="8572500" cy="762000"/>
          </a:xfrm>
          <a:prstGeom prst="rect">
            <a:avLst/>
          </a:prstGeom>
          <a:noFill/>
          <a:ln w="0">
            <a:noFill/>
          </a:ln>
        </p:spPr>
        <p:txBody>
          <a:bodyPr anchor="ctr">
            <a:normAutofit/>
          </a:bodyPr>
          <a:lstStyle/>
          <a:p>
            <a:pPr algn="l">
              <a:defRPr sz="1650" b="0">
                <a:solidFill>
                  <a:srgbClr val="FFFFFF"/>
                </a:solidFill>
                <a:latin typeface="DejaVu Sans"/>
                <a:ea typeface="DejaVu Sans"/>
                <a:cs typeface="DejaVu Sans"/>
              </a:defRPr>
            </a:pPr>
            <a:r>
              <a:rPr lang="fr-FR" sz="1650" b="0" dirty="0">
                <a:solidFill>
                  <a:srgbClr val="FFFFFF"/>
                </a:solidFill>
                <a:latin typeface="DejaVu Sans"/>
                <a:ea typeface="DejaVu Sans"/>
                <a:cs typeface="DejaVu Sans"/>
              </a:rPr>
              <a:t>Contexte et justification de l’étude </a:t>
            </a:r>
            <a:r>
              <a:rPr sz="1650" b="0" dirty="0">
                <a:solidFill>
                  <a:srgbClr val="FFFFFF"/>
                </a:solidFill>
                <a:latin typeface="DejaVu Sans"/>
                <a:ea typeface="DejaVu Sans"/>
                <a:cs typeface="DejaVu Sans"/>
              </a:rPr>
              <a:t>· </a:t>
            </a:r>
            <a:r>
              <a:rPr lang="fr-FR" sz="1650" b="0" dirty="0">
                <a:solidFill>
                  <a:srgbClr val="FFFFFF"/>
                </a:solidFill>
                <a:latin typeface="DejaVu Sans"/>
                <a:ea typeface="DejaVu Sans"/>
                <a:cs typeface="DejaVu Sans"/>
              </a:rPr>
              <a:t>Objectifs et résultats attendus</a:t>
            </a:r>
            <a:r>
              <a:rPr sz="1650" b="0" dirty="0">
                <a:solidFill>
                  <a:srgbClr val="FFFFFF"/>
                </a:solidFill>
                <a:latin typeface="DejaVu Sans"/>
                <a:ea typeface="DejaVu Sans"/>
                <a:cs typeface="DejaVu Sans"/>
              </a:rPr>
              <a:t> · </a:t>
            </a:r>
            <a:r>
              <a:rPr lang="fr-FR" sz="1650" b="0" dirty="0">
                <a:solidFill>
                  <a:srgbClr val="FFFFFF"/>
                </a:solidFill>
                <a:latin typeface="DejaVu Sans"/>
                <a:ea typeface="DejaVu Sans"/>
                <a:cs typeface="DejaVu Sans"/>
              </a:rPr>
              <a:t>Approche méthodologique</a:t>
            </a:r>
            <a:r>
              <a:rPr sz="1650" b="0" dirty="0">
                <a:solidFill>
                  <a:srgbClr val="FFFFFF"/>
                </a:solidFill>
                <a:latin typeface="DejaVu Sans"/>
                <a:ea typeface="DejaVu Sans"/>
                <a:cs typeface="DejaVu Sans"/>
              </a:rPr>
              <a:t> · </a:t>
            </a:r>
            <a:r>
              <a:rPr lang="fr-FR" sz="1650" b="0" dirty="0">
                <a:solidFill>
                  <a:srgbClr val="FFFFFF"/>
                </a:solidFill>
                <a:latin typeface="DejaVu Sans"/>
                <a:ea typeface="DejaVu Sans"/>
                <a:cs typeface="DejaVu Sans"/>
              </a:rPr>
              <a:t>Normes utilisées pour apprécier les déficits</a:t>
            </a:r>
          </a:p>
        </p:txBody>
      </p:sp>
    </p:spTree>
    <p:extLst>
      <p:ext uri="{BB962C8B-B14F-4D97-AF65-F5344CB8AC3E}">
        <p14:creationId xmlns:p14="http://schemas.microsoft.com/office/powerpoint/2010/main" val="52464137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15EEFFD-B4E3-47DF-921D-063BB10F7977}"/>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EF2036DE-D418-4510-89DF-305EFFFA1ED9}"/>
              </a:ext>
            </a:extLst>
          </p:cNvPr>
          <p:cNvSpPr>
            <a:spLocks noGrp="1"/>
          </p:cNvSpPr>
          <p:nvPr/>
        </p:nvSpPr>
        <p:spPr>
          <a:xfrm>
            <a:off x="533400" y="323850"/>
            <a:ext cx="10858500" cy="571500"/>
          </a:xfrm>
          <a:prstGeom prst="rect">
            <a:avLst/>
          </a:prstGeom>
          <a:noFill/>
          <a:ln w="0">
            <a:noFill/>
          </a:ln>
        </p:spPr>
        <p:txBody>
          <a:bodyPr anchor="ctr">
            <a:normAutofit/>
          </a:bodyPr>
          <a:lstStyle/>
          <a:p>
            <a:pPr>
              <a:defRPr sz="2325" b="1">
                <a:solidFill>
                  <a:srgbClr val="17324D"/>
                </a:solidFill>
                <a:latin typeface="DejaVu Sans"/>
                <a:ea typeface="DejaVu Sans"/>
                <a:cs typeface="DejaVu Sans"/>
              </a:defRPr>
            </a:pPr>
            <a:r>
              <a:rPr lang="fr-FR" sz="2400" b="1" dirty="0">
                <a:solidFill>
                  <a:srgbClr val="455360"/>
                </a:solidFill>
                <a:latin typeface="DejaVu Sans"/>
                <a:ea typeface="DejaVu Sans"/>
                <a:cs typeface="DejaVu Sans"/>
              </a:rPr>
              <a:t>I. INTRODUCTION</a:t>
            </a:r>
            <a:endParaRPr sz="2325" b="1" dirty="0">
              <a:solidFill>
                <a:srgbClr val="455360"/>
              </a:solidFill>
              <a:latin typeface="DejaVu Sans"/>
              <a:ea typeface="DejaVu Sans"/>
              <a:cs typeface="DejaVu Sans"/>
            </a:endParaRPr>
          </a:p>
        </p:txBody>
      </p:sp>
      <p:sp>
        <p:nvSpPr>
          <p:cNvPr id="3" name="Rectangle 2">
            <a:extLst>
              <a:ext uri="{FF2B5EF4-FFF2-40B4-BE49-F238E27FC236}">
                <a16:creationId xmlns:a16="http://schemas.microsoft.com/office/drawing/2014/main" id="{E696B485-5F5E-46EC-B872-04E7A57866DC}"/>
              </a:ext>
            </a:extLst>
          </p:cNvPr>
          <p:cNvSpPr>
            <a:spLocks noGrp="1"/>
          </p:cNvSpPr>
          <p:nvPr/>
        </p:nvSpPr>
        <p:spPr>
          <a:xfrm>
            <a:off x="533400" y="914400"/>
            <a:ext cx="7639050" cy="228600"/>
          </a:xfrm>
          <a:prstGeom prst="rect">
            <a:avLst/>
          </a:prstGeom>
          <a:noFill/>
          <a:ln w="0">
            <a:noFill/>
          </a:ln>
        </p:spPr>
        <p:txBody>
          <a:bodyPr anchor="ctr">
            <a:noAutofit/>
          </a:bodyPr>
          <a:lstStyle/>
          <a:p>
            <a:pPr algn="l">
              <a:defRPr sz="900" b="1">
                <a:solidFill>
                  <a:srgbClr val="276A8C"/>
                </a:solidFill>
                <a:latin typeface="DejaVu Sans"/>
                <a:ea typeface="DejaVu Sans"/>
                <a:cs typeface="DejaVu Sans"/>
              </a:defRPr>
            </a:pPr>
            <a:r>
              <a:rPr lang="fr-FR" sz="1200" b="1" dirty="0">
                <a:solidFill>
                  <a:srgbClr val="276A8C"/>
                </a:solidFill>
                <a:latin typeface="DejaVu Sans"/>
                <a:ea typeface="DejaVu Sans"/>
                <a:cs typeface="DejaVu Sans"/>
              </a:rPr>
              <a:t>Contexte et justification de l’étude</a:t>
            </a:r>
            <a:endParaRPr sz="1200" b="1" dirty="0">
              <a:solidFill>
                <a:srgbClr val="276A8C"/>
              </a:solidFill>
              <a:latin typeface="DejaVu Sans"/>
              <a:ea typeface="DejaVu Sans"/>
              <a:cs typeface="DejaVu Sans"/>
            </a:endParaRPr>
          </a:p>
        </p:txBody>
      </p:sp>
      <p:sp>
        <p:nvSpPr>
          <p:cNvPr id="4" name="Rectangle 3">
            <a:extLst>
              <a:ext uri="{FF2B5EF4-FFF2-40B4-BE49-F238E27FC236}">
                <a16:creationId xmlns:a16="http://schemas.microsoft.com/office/drawing/2014/main" id="{18229334-A294-46C4-8D5B-847D134B44B6}"/>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F6D4E918-DFD5-4F8F-89B4-9AC4F54903B0}"/>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03</a:t>
            </a:r>
          </a:p>
        </p:txBody>
      </p:sp>
      <p:sp>
        <p:nvSpPr>
          <p:cNvPr id="6" name="Rectangle 5">
            <a:extLst>
              <a:ext uri="{FF2B5EF4-FFF2-40B4-BE49-F238E27FC236}">
                <a16:creationId xmlns:a16="http://schemas.microsoft.com/office/drawing/2014/main" id="{DD3AE3F1-81A4-43C0-B2E9-37788CA88499}"/>
              </a:ext>
            </a:extLst>
          </p:cNvPr>
          <p:cNvSpPr>
            <a:spLocks noGrp="1"/>
          </p:cNvSpPr>
          <p:nvPr/>
        </p:nvSpPr>
        <p:spPr>
          <a:xfrm>
            <a:off x="533400" y="1327383"/>
            <a:ext cx="9944100" cy="476250"/>
          </a:xfrm>
          <a:prstGeom prst="rect">
            <a:avLst/>
          </a:prstGeom>
          <a:noFill/>
          <a:ln w="0">
            <a:noFill/>
          </a:ln>
        </p:spPr>
        <p:txBody>
          <a:bodyPr anchor="ctr">
            <a:normAutofit fontScale="97509"/>
          </a:bodyPr>
          <a:lstStyle/>
          <a:p>
            <a:pPr algn="l">
              <a:defRPr sz="2025" b="1">
                <a:solidFill>
                  <a:srgbClr val="17324D"/>
                </a:solidFill>
                <a:latin typeface="DejaVu Sans"/>
                <a:ea typeface="DejaVu Sans"/>
                <a:cs typeface="DejaVu Sans"/>
              </a:defRPr>
            </a:pPr>
            <a:r>
              <a:rPr lang="fr-FR" sz="2025" b="1" noProof="0" dirty="0">
                <a:solidFill>
                  <a:srgbClr val="17324D"/>
                </a:solidFill>
                <a:latin typeface="DejaVu Sans"/>
                <a:ea typeface="DejaVu Sans"/>
                <a:cs typeface="DejaVu Sans"/>
              </a:rPr>
              <a:t>Une croissance urbaine plus rapide que l’équipement des quartiers</a:t>
            </a:r>
          </a:p>
        </p:txBody>
      </p:sp>
      <p:graphicFrame>
        <p:nvGraphicFramePr>
          <p:cNvPr id="12" name="Diagramme 11">
            <a:extLst>
              <a:ext uri="{FF2B5EF4-FFF2-40B4-BE49-F238E27FC236}">
                <a16:creationId xmlns:a16="http://schemas.microsoft.com/office/drawing/2014/main" id="{C57A9A65-A7E7-2D99-B874-02249B82CF1F}"/>
              </a:ext>
            </a:extLst>
          </p:cNvPr>
          <p:cNvGraphicFramePr/>
          <p:nvPr>
            <p:extLst>
              <p:ext uri="{D42A27DB-BD31-4B8C-83A1-F6EECF244321}">
                <p14:modId xmlns:p14="http://schemas.microsoft.com/office/powerpoint/2010/main" val="2453255339"/>
              </p:ext>
            </p:extLst>
          </p:nvPr>
        </p:nvGraphicFramePr>
        <p:xfrm>
          <a:off x="533400" y="1803633"/>
          <a:ext cx="9944100" cy="34317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ZoneTexte 13">
            <a:extLst>
              <a:ext uri="{FF2B5EF4-FFF2-40B4-BE49-F238E27FC236}">
                <a16:creationId xmlns:a16="http://schemas.microsoft.com/office/drawing/2014/main" id="{26AA8A42-D75F-A0C1-9398-DBB1F1ED6299}"/>
              </a:ext>
            </a:extLst>
          </p:cNvPr>
          <p:cNvSpPr txBox="1"/>
          <p:nvPr/>
        </p:nvSpPr>
        <p:spPr>
          <a:xfrm>
            <a:off x="533400" y="5522976"/>
            <a:ext cx="9944100" cy="553998"/>
          </a:xfrm>
          <a:prstGeom prst="rect">
            <a:avLst/>
          </a:prstGeom>
          <a:noFill/>
        </p:spPr>
        <p:txBody>
          <a:bodyPr wrap="square" rtlCol="0">
            <a:spAutoFit/>
          </a:bodyPr>
          <a:lstStyle/>
          <a:p>
            <a:pPr algn="ctr"/>
            <a:r>
              <a:rPr lang="fr-FR" sz="1500" b="1" dirty="0">
                <a:solidFill>
                  <a:srgbClr val="276A8C"/>
                </a:solidFill>
                <a:latin typeface="DejaVu Sans"/>
                <a:ea typeface="DejaVu Sans"/>
                <a:cs typeface="DejaVu Sans"/>
              </a:rPr>
              <a:t>L’enjeu central de l’étude est donc de garantir un accès plus équitable aux services essentiels entre les quartiers.</a:t>
            </a:r>
          </a:p>
        </p:txBody>
      </p:sp>
    </p:spTree>
    <p:extLst>
      <p:ext uri="{BB962C8B-B14F-4D97-AF65-F5344CB8AC3E}">
        <p14:creationId xmlns:p14="http://schemas.microsoft.com/office/powerpoint/2010/main" val="67168218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852EA0E-6980-4A63-92BA-3F541D4E6DF4}"/>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4" name="Rectangle 3">
            <a:extLst>
              <a:ext uri="{FF2B5EF4-FFF2-40B4-BE49-F238E27FC236}">
                <a16:creationId xmlns:a16="http://schemas.microsoft.com/office/drawing/2014/main" id="{E3800F82-D5AD-4241-8C40-0022871892F3}"/>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73F65CED-C9D1-489F-8C8C-9DA7806EAB8C}"/>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04</a:t>
            </a:r>
          </a:p>
        </p:txBody>
      </p:sp>
      <p:sp>
        <p:nvSpPr>
          <p:cNvPr id="6" name="Rectangle 5">
            <a:extLst>
              <a:ext uri="{FF2B5EF4-FFF2-40B4-BE49-F238E27FC236}">
                <a16:creationId xmlns:a16="http://schemas.microsoft.com/office/drawing/2014/main" id="{ADE04E6C-545B-4904-BEDE-52CFA9B34EC6}"/>
              </a:ext>
            </a:extLst>
          </p:cNvPr>
          <p:cNvSpPr>
            <a:spLocks noGrp="1"/>
          </p:cNvSpPr>
          <p:nvPr/>
        </p:nvSpPr>
        <p:spPr>
          <a:xfrm>
            <a:off x="714375" y="1524000"/>
            <a:ext cx="4000500" cy="36195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Objectif général</a:t>
            </a:r>
          </a:p>
        </p:txBody>
      </p:sp>
      <p:sp>
        <p:nvSpPr>
          <p:cNvPr id="7" name="Rectangle 6">
            <a:extLst>
              <a:ext uri="{FF2B5EF4-FFF2-40B4-BE49-F238E27FC236}">
                <a16:creationId xmlns:a16="http://schemas.microsoft.com/office/drawing/2014/main" id="{212D2EA2-2628-4489-A8B0-B397769256E0}"/>
              </a:ext>
            </a:extLst>
          </p:cNvPr>
          <p:cNvSpPr>
            <a:spLocks noGrp="1"/>
          </p:cNvSpPr>
          <p:nvPr/>
        </p:nvSpPr>
        <p:spPr>
          <a:xfrm>
            <a:off x="714375" y="1952625"/>
            <a:ext cx="4667250" cy="1047750"/>
          </a:xfrm>
          <a:prstGeom prst="rect">
            <a:avLst/>
          </a:prstGeom>
          <a:noFill/>
          <a:ln w="0">
            <a:noFill/>
          </a:ln>
        </p:spPr>
        <p:txBody>
          <a:bodyPr anchor="ctr">
            <a:normAutofit/>
          </a:bodyPr>
          <a:lstStyle/>
          <a:p>
            <a:pPr algn="l">
              <a:defRPr sz="1575" b="0">
                <a:solidFill>
                  <a:srgbClr val="1D2935"/>
                </a:solidFill>
                <a:latin typeface="DejaVu Sans"/>
                <a:ea typeface="DejaVu Sans"/>
                <a:cs typeface="DejaVu Sans"/>
              </a:defRPr>
            </a:pPr>
            <a:r>
              <a:rPr sz="1575" b="0">
                <a:solidFill>
                  <a:srgbClr val="1D2935"/>
                </a:solidFill>
                <a:latin typeface="DejaVu Sans"/>
                <a:ea typeface="DejaVu Sans"/>
                <a:cs typeface="DejaVu Sans"/>
              </a:rPr>
              <a:t>Faire ressortir les disparités d’accès entre les quartiers et proposer un plan d’action pour orienter les futurs investissements.</a:t>
            </a:r>
          </a:p>
        </p:txBody>
      </p:sp>
      <p:sp>
        <p:nvSpPr>
          <p:cNvPr id="8" name="Rectangle 7">
            <a:extLst>
              <a:ext uri="{FF2B5EF4-FFF2-40B4-BE49-F238E27FC236}">
                <a16:creationId xmlns:a16="http://schemas.microsoft.com/office/drawing/2014/main" id="{469D0831-2486-4092-8718-B20D664E1820}"/>
              </a:ext>
            </a:extLst>
          </p:cNvPr>
          <p:cNvSpPr>
            <a:spLocks noGrp="1"/>
          </p:cNvSpPr>
          <p:nvPr/>
        </p:nvSpPr>
        <p:spPr>
          <a:xfrm>
            <a:off x="5357715" y="1447800"/>
            <a:ext cx="47626" cy="3276600"/>
          </a:xfrm>
          <a:prstGeom prst="rect">
            <a:avLst/>
          </a:prstGeom>
          <a:solidFill>
            <a:srgbClr val="D9E1E5"/>
          </a:solidFill>
          <a:ln w="0">
            <a:noFill/>
          </a:ln>
        </p:spPr>
        <p:txBody>
          <a:bodyPr/>
          <a:lstStyle/>
          <a:p>
            <a:endParaRPr lang="fr-FR"/>
          </a:p>
        </p:txBody>
      </p:sp>
      <p:sp>
        <p:nvSpPr>
          <p:cNvPr id="9" name="Rectangle 8">
            <a:extLst>
              <a:ext uri="{FF2B5EF4-FFF2-40B4-BE49-F238E27FC236}">
                <a16:creationId xmlns:a16="http://schemas.microsoft.com/office/drawing/2014/main" id="{461299D3-8AE7-429A-8C98-0D0E5DC8EC71}"/>
              </a:ext>
            </a:extLst>
          </p:cNvPr>
          <p:cNvSpPr>
            <a:spLocks noGrp="1"/>
          </p:cNvSpPr>
          <p:nvPr/>
        </p:nvSpPr>
        <p:spPr>
          <a:xfrm>
            <a:off x="6334125" y="1524000"/>
            <a:ext cx="4095750" cy="36195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Objectifs spécifiques</a:t>
            </a:r>
          </a:p>
        </p:txBody>
      </p:sp>
      <p:graphicFrame>
        <p:nvGraphicFramePr>
          <p:cNvPr id="20" name="Diagramme 19">
            <a:extLst>
              <a:ext uri="{FF2B5EF4-FFF2-40B4-BE49-F238E27FC236}">
                <a16:creationId xmlns:a16="http://schemas.microsoft.com/office/drawing/2014/main" id="{AB288D37-1DE0-2BF4-797D-AA6F858D5F11}"/>
              </a:ext>
            </a:extLst>
          </p:cNvPr>
          <p:cNvGraphicFramePr/>
          <p:nvPr>
            <p:extLst>
              <p:ext uri="{D42A27DB-BD31-4B8C-83A1-F6EECF244321}">
                <p14:modId xmlns:p14="http://schemas.microsoft.com/office/powerpoint/2010/main" val="3836459821"/>
              </p:ext>
            </p:extLst>
          </p:nvPr>
        </p:nvGraphicFramePr>
        <p:xfrm>
          <a:off x="5500594" y="1905001"/>
          <a:ext cx="6284116" cy="3495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Rectangle 10">
            <a:extLst>
              <a:ext uri="{FF2B5EF4-FFF2-40B4-BE49-F238E27FC236}">
                <a16:creationId xmlns:a16="http://schemas.microsoft.com/office/drawing/2014/main" id="{04583952-C83A-4FC0-9B12-C41106231473}"/>
              </a:ext>
            </a:extLst>
          </p:cNvPr>
          <p:cNvSpPr>
            <a:spLocks noGrp="1"/>
          </p:cNvSpPr>
          <p:nvPr/>
        </p:nvSpPr>
        <p:spPr>
          <a:xfrm>
            <a:off x="4095462" y="5219699"/>
            <a:ext cx="2572131" cy="361950"/>
          </a:xfrm>
          <a:prstGeom prst="rect">
            <a:avLst/>
          </a:prstGeom>
          <a:noFill/>
          <a:ln w="0">
            <a:noFill/>
          </a:ln>
        </p:spPr>
        <p:txBody>
          <a:bodyPr anchor="ctr">
            <a:normAutofit/>
          </a:bodyPr>
          <a:lstStyle/>
          <a:p>
            <a:pPr algn="ctr">
              <a:defRPr sz="1725" b="1">
                <a:solidFill>
                  <a:srgbClr val="276A8C"/>
                </a:solidFill>
                <a:latin typeface="DejaVu Sans"/>
                <a:ea typeface="DejaVu Sans"/>
                <a:cs typeface="DejaVu Sans"/>
              </a:defRPr>
            </a:pPr>
            <a:r>
              <a:rPr lang="fr-FR" sz="1725" b="1" noProof="0" dirty="0">
                <a:solidFill>
                  <a:srgbClr val="276A8C"/>
                </a:solidFill>
                <a:latin typeface="DejaVu Sans"/>
                <a:ea typeface="DejaVu Sans"/>
                <a:cs typeface="DejaVu Sans"/>
              </a:rPr>
              <a:t>Résultats attendus</a:t>
            </a:r>
          </a:p>
        </p:txBody>
      </p:sp>
      <p:graphicFrame>
        <p:nvGraphicFramePr>
          <p:cNvPr id="21" name="Diagramme 20">
            <a:extLst>
              <a:ext uri="{FF2B5EF4-FFF2-40B4-BE49-F238E27FC236}">
                <a16:creationId xmlns:a16="http://schemas.microsoft.com/office/drawing/2014/main" id="{37376C34-174D-21E7-CA76-9458A2418034}"/>
              </a:ext>
            </a:extLst>
          </p:cNvPr>
          <p:cNvGraphicFramePr/>
          <p:nvPr>
            <p:extLst>
              <p:ext uri="{D42A27DB-BD31-4B8C-83A1-F6EECF244321}">
                <p14:modId xmlns:p14="http://schemas.microsoft.com/office/powerpoint/2010/main" val="1015128665"/>
              </p:ext>
            </p:extLst>
          </p:nvPr>
        </p:nvGraphicFramePr>
        <p:xfrm>
          <a:off x="714375" y="5724525"/>
          <a:ext cx="10404729"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5" name="Rectangle 14">
            <a:extLst>
              <a:ext uri="{FF2B5EF4-FFF2-40B4-BE49-F238E27FC236}">
                <a16:creationId xmlns:a16="http://schemas.microsoft.com/office/drawing/2014/main" id="{0AE7B9C6-2FDB-FAAA-C2D2-297F23955470}"/>
              </a:ext>
            </a:extLst>
          </p:cNvPr>
          <p:cNvSpPr>
            <a:spLocks noGrp="1"/>
          </p:cNvSpPr>
          <p:nvPr/>
        </p:nvSpPr>
        <p:spPr>
          <a:xfrm>
            <a:off x="533400" y="323850"/>
            <a:ext cx="10858500" cy="571500"/>
          </a:xfrm>
          <a:prstGeom prst="rect">
            <a:avLst/>
          </a:prstGeom>
          <a:noFill/>
          <a:ln w="0">
            <a:noFill/>
          </a:ln>
        </p:spPr>
        <p:txBody>
          <a:bodyPr anchor="ctr">
            <a:normAutofit/>
          </a:bodyPr>
          <a:lstStyle/>
          <a:p>
            <a:pPr>
              <a:defRPr sz="2325" b="1">
                <a:solidFill>
                  <a:srgbClr val="17324D"/>
                </a:solidFill>
                <a:latin typeface="DejaVu Sans"/>
                <a:ea typeface="DejaVu Sans"/>
                <a:cs typeface="DejaVu Sans"/>
              </a:defRPr>
            </a:pPr>
            <a:r>
              <a:rPr lang="fr-FR" sz="2400" b="1" dirty="0">
                <a:solidFill>
                  <a:srgbClr val="455360"/>
                </a:solidFill>
                <a:latin typeface="DejaVu Sans"/>
                <a:ea typeface="DejaVu Sans"/>
                <a:cs typeface="DejaVu Sans"/>
              </a:rPr>
              <a:t>I. INTRODUCTION</a:t>
            </a:r>
            <a:endParaRPr sz="2325" b="1" dirty="0">
              <a:solidFill>
                <a:srgbClr val="455360"/>
              </a:solidFill>
              <a:latin typeface="DejaVu Sans"/>
              <a:ea typeface="DejaVu Sans"/>
              <a:cs typeface="DejaVu Sans"/>
            </a:endParaRPr>
          </a:p>
        </p:txBody>
      </p:sp>
      <p:sp>
        <p:nvSpPr>
          <p:cNvPr id="17" name="Rectangle 16">
            <a:extLst>
              <a:ext uri="{FF2B5EF4-FFF2-40B4-BE49-F238E27FC236}">
                <a16:creationId xmlns:a16="http://schemas.microsoft.com/office/drawing/2014/main" id="{8188FE75-5992-EC0A-95D4-6A68C6D79A22}"/>
              </a:ext>
            </a:extLst>
          </p:cNvPr>
          <p:cNvSpPr>
            <a:spLocks noGrp="1"/>
          </p:cNvSpPr>
          <p:nvPr/>
        </p:nvSpPr>
        <p:spPr>
          <a:xfrm>
            <a:off x="533400" y="914400"/>
            <a:ext cx="7639050" cy="228600"/>
          </a:xfrm>
          <a:prstGeom prst="rect">
            <a:avLst/>
          </a:prstGeom>
          <a:noFill/>
          <a:ln w="0">
            <a:noFill/>
          </a:ln>
        </p:spPr>
        <p:txBody>
          <a:bodyPr anchor="ctr">
            <a:noAutofit/>
          </a:bodyPr>
          <a:lstStyle/>
          <a:p>
            <a:r>
              <a:rPr lang="fr-FR" sz="1200" b="1" dirty="0">
                <a:solidFill>
                  <a:srgbClr val="276A8C"/>
                </a:solidFill>
                <a:latin typeface="DejaVu Sans"/>
              </a:rPr>
              <a:t>Objectifs et résultats attendus</a:t>
            </a:r>
          </a:p>
        </p:txBody>
      </p:sp>
    </p:spTree>
    <p:extLst>
      <p:ext uri="{BB962C8B-B14F-4D97-AF65-F5344CB8AC3E}">
        <p14:creationId xmlns:p14="http://schemas.microsoft.com/office/powerpoint/2010/main" val="478271871"/>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F54E4BA-DFDC-0D2A-01DD-4A15C4AFAE1B}"/>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8436826-A026-EE7F-E44E-40CFD6D5992F}"/>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4" name="Rectangle 3">
            <a:extLst>
              <a:ext uri="{FF2B5EF4-FFF2-40B4-BE49-F238E27FC236}">
                <a16:creationId xmlns:a16="http://schemas.microsoft.com/office/drawing/2014/main" id="{3F96E465-33D5-0585-1B3D-54E1DCAFAC10}"/>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7C184B15-2C38-8A7D-1FA3-F2B257A38AD6}"/>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dirty="0">
                <a:solidFill>
                  <a:srgbClr val="647481"/>
                </a:solidFill>
                <a:latin typeface="DejaVu Sans"/>
                <a:ea typeface="DejaVu Sans"/>
                <a:cs typeface="DejaVu Sans"/>
              </a:rPr>
              <a:t>0</a:t>
            </a:r>
            <a:r>
              <a:rPr lang="fr-FR" sz="825" b="0" dirty="0">
                <a:solidFill>
                  <a:srgbClr val="647481"/>
                </a:solidFill>
                <a:latin typeface="DejaVu Sans"/>
                <a:ea typeface="DejaVu Sans"/>
                <a:cs typeface="DejaVu Sans"/>
              </a:rPr>
              <a:t>5</a:t>
            </a:r>
            <a:endParaRPr sz="825" b="0" dirty="0">
              <a:solidFill>
                <a:srgbClr val="647481"/>
              </a:solidFill>
              <a:latin typeface="DejaVu Sans"/>
              <a:ea typeface="DejaVu Sans"/>
              <a:cs typeface="DejaVu Sans"/>
            </a:endParaRPr>
          </a:p>
        </p:txBody>
      </p:sp>
      <p:sp>
        <p:nvSpPr>
          <p:cNvPr id="6" name="Rectangle 5">
            <a:extLst>
              <a:ext uri="{FF2B5EF4-FFF2-40B4-BE49-F238E27FC236}">
                <a16:creationId xmlns:a16="http://schemas.microsoft.com/office/drawing/2014/main" id="{FAFB79F0-4A9C-F6CB-5D8A-EC0FCFBC7E3C}"/>
              </a:ext>
            </a:extLst>
          </p:cNvPr>
          <p:cNvSpPr>
            <a:spLocks noGrp="1"/>
          </p:cNvSpPr>
          <p:nvPr/>
        </p:nvSpPr>
        <p:spPr>
          <a:xfrm>
            <a:off x="714375" y="1524000"/>
            <a:ext cx="4000500" cy="361950"/>
          </a:xfrm>
          <a:prstGeom prst="rect">
            <a:avLst/>
          </a:prstGeom>
          <a:noFill/>
          <a:ln w="0">
            <a:noFill/>
          </a:ln>
        </p:spPr>
        <p:txBody>
          <a:bodyPr anchor="ctr">
            <a:normAutofit/>
          </a:bodyPr>
          <a:lstStyle/>
          <a:p>
            <a:pPr>
              <a:defRPr sz="1800" b="1">
                <a:solidFill>
                  <a:srgbClr val="276A8C"/>
                </a:solidFill>
                <a:latin typeface="DejaVu Sans"/>
                <a:ea typeface="DejaVu Sans"/>
                <a:cs typeface="DejaVu Sans"/>
              </a:defRPr>
            </a:pPr>
            <a:r>
              <a:rPr lang="fr-FR" sz="1600" b="1" dirty="0">
                <a:solidFill>
                  <a:srgbClr val="276A8C"/>
                </a:solidFill>
                <a:latin typeface="DejaVu Sans"/>
                <a:ea typeface="DejaVu Sans"/>
                <a:cs typeface="DejaVu Sans"/>
              </a:rPr>
              <a:t>Phase préliminaire</a:t>
            </a:r>
          </a:p>
        </p:txBody>
      </p:sp>
      <p:sp>
        <p:nvSpPr>
          <p:cNvPr id="8" name="Rectangle 7">
            <a:extLst>
              <a:ext uri="{FF2B5EF4-FFF2-40B4-BE49-F238E27FC236}">
                <a16:creationId xmlns:a16="http://schemas.microsoft.com/office/drawing/2014/main" id="{5957827A-9A56-3FD0-34ED-0D5FF31D6641}"/>
              </a:ext>
            </a:extLst>
          </p:cNvPr>
          <p:cNvSpPr>
            <a:spLocks noGrp="1"/>
          </p:cNvSpPr>
          <p:nvPr/>
        </p:nvSpPr>
        <p:spPr>
          <a:xfrm>
            <a:off x="5357715" y="1447800"/>
            <a:ext cx="47626" cy="3276600"/>
          </a:xfrm>
          <a:prstGeom prst="rect">
            <a:avLst/>
          </a:prstGeom>
          <a:solidFill>
            <a:srgbClr val="D9E1E5"/>
          </a:solidFill>
          <a:ln w="0">
            <a:noFill/>
          </a:ln>
        </p:spPr>
        <p:txBody>
          <a:bodyPr/>
          <a:lstStyle/>
          <a:p>
            <a:endParaRPr lang="fr-FR"/>
          </a:p>
        </p:txBody>
      </p:sp>
      <p:sp>
        <p:nvSpPr>
          <p:cNvPr id="9" name="Rectangle 8">
            <a:extLst>
              <a:ext uri="{FF2B5EF4-FFF2-40B4-BE49-F238E27FC236}">
                <a16:creationId xmlns:a16="http://schemas.microsoft.com/office/drawing/2014/main" id="{CD228766-9787-2054-88BF-AC6B1E609251}"/>
              </a:ext>
            </a:extLst>
          </p:cNvPr>
          <p:cNvSpPr>
            <a:spLocks noGrp="1"/>
          </p:cNvSpPr>
          <p:nvPr/>
        </p:nvSpPr>
        <p:spPr>
          <a:xfrm>
            <a:off x="6334125" y="1524000"/>
            <a:ext cx="4095750" cy="361950"/>
          </a:xfrm>
          <a:prstGeom prst="rect">
            <a:avLst/>
          </a:prstGeom>
          <a:noFill/>
          <a:ln w="0">
            <a:noFill/>
          </a:ln>
        </p:spPr>
        <p:txBody>
          <a:bodyPr anchor="ctr">
            <a:normAutofit/>
          </a:bodyPr>
          <a:lstStyle/>
          <a:p>
            <a:pPr>
              <a:defRPr sz="1800" b="1">
                <a:solidFill>
                  <a:srgbClr val="276A8C"/>
                </a:solidFill>
                <a:latin typeface="DejaVu Sans"/>
                <a:ea typeface="DejaVu Sans"/>
                <a:cs typeface="DejaVu Sans"/>
              </a:defRPr>
            </a:pPr>
            <a:r>
              <a:rPr lang="fr-FR" sz="1600" b="1" dirty="0">
                <a:solidFill>
                  <a:srgbClr val="276A8C"/>
                </a:solidFill>
                <a:latin typeface="DejaVu Sans"/>
                <a:ea typeface="DejaVu Sans"/>
                <a:cs typeface="DejaVu Sans"/>
              </a:rPr>
              <a:t>Phase opératoire</a:t>
            </a:r>
          </a:p>
        </p:txBody>
      </p:sp>
      <p:sp>
        <p:nvSpPr>
          <p:cNvPr id="15" name="Rectangle 14">
            <a:extLst>
              <a:ext uri="{FF2B5EF4-FFF2-40B4-BE49-F238E27FC236}">
                <a16:creationId xmlns:a16="http://schemas.microsoft.com/office/drawing/2014/main" id="{8A49BE34-8023-E919-6760-35C59DF29919}"/>
              </a:ext>
            </a:extLst>
          </p:cNvPr>
          <p:cNvSpPr>
            <a:spLocks noGrp="1"/>
          </p:cNvSpPr>
          <p:nvPr/>
        </p:nvSpPr>
        <p:spPr>
          <a:xfrm>
            <a:off x="533400" y="323850"/>
            <a:ext cx="10858500" cy="571500"/>
          </a:xfrm>
          <a:prstGeom prst="rect">
            <a:avLst/>
          </a:prstGeom>
          <a:noFill/>
          <a:ln w="0">
            <a:noFill/>
          </a:ln>
        </p:spPr>
        <p:txBody>
          <a:bodyPr anchor="ctr">
            <a:normAutofit/>
          </a:bodyPr>
          <a:lstStyle/>
          <a:p>
            <a:pPr>
              <a:defRPr sz="2325" b="1">
                <a:solidFill>
                  <a:srgbClr val="17324D"/>
                </a:solidFill>
                <a:latin typeface="DejaVu Sans"/>
                <a:ea typeface="DejaVu Sans"/>
                <a:cs typeface="DejaVu Sans"/>
              </a:defRPr>
            </a:pPr>
            <a:r>
              <a:rPr lang="fr-FR" sz="2400" b="1" dirty="0">
                <a:solidFill>
                  <a:srgbClr val="455360"/>
                </a:solidFill>
                <a:latin typeface="DejaVu Sans"/>
                <a:ea typeface="DejaVu Sans"/>
                <a:cs typeface="DejaVu Sans"/>
              </a:rPr>
              <a:t>I. INTRODUCTION</a:t>
            </a:r>
            <a:endParaRPr sz="2325" b="1" dirty="0">
              <a:solidFill>
                <a:srgbClr val="455360"/>
              </a:solidFill>
              <a:latin typeface="DejaVu Sans"/>
              <a:ea typeface="DejaVu Sans"/>
              <a:cs typeface="DejaVu Sans"/>
            </a:endParaRPr>
          </a:p>
        </p:txBody>
      </p:sp>
      <p:sp>
        <p:nvSpPr>
          <p:cNvPr id="17" name="Rectangle 16">
            <a:extLst>
              <a:ext uri="{FF2B5EF4-FFF2-40B4-BE49-F238E27FC236}">
                <a16:creationId xmlns:a16="http://schemas.microsoft.com/office/drawing/2014/main" id="{EBB310D4-49AD-2C32-9714-EE62FCADE283}"/>
              </a:ext>
            </a:extLst>
          </p:cNvPr>
          <p:cNvSpPr>
            <a:spLocks noGrp="1"/>
          </p:cNvSpPr>
          <p:nvPr/>
        </p:nvSpPr>
        <p:spPr>
          <a:xfrm>
            <a:off x="533400" y="914400"/>
            <a:ext cx="7639050" cy="228600"/>
          </a:xfrm>
          <a:prstGeom prst="rect">
            <a:avLst/>
          </a:prstGeom>
          <a:noFill/>
          <a:ln w="0">
            <a:noFill/>
          </a:ln>
        </p:spPr>
        <p:txBody>
          <a:bodyPr anchor="ctr">
            <a:noAutofit/>
          </a:bodyPr>
          <a:lstStyle/>
          <a:p>
            <a:r>
              <a:rPr lang="fr-FR" sz="1200" b="1" dirty="0">
                <a:solidFill>
                  <a:srgbClr val="276A8C"/>
                </a:solidFill>
                <a:latin typeface="DejaVu Sans"/>
              </a:rPr>
              <a:t>Approche méthodologique</a:t>
            </a:r>
          </a:p>
        </p:txBody>
      </p:sp>
      <p:graphicFrame>
        <p:nvGraphicFramePr>
          <p:cNvPr id="10" name="Diagramme 9">
            <a:extLst>
              <a:ext uri="{FF2B5EF4-FFF2-40B4-BE49-F238E27FC236}">
                <a16:creationId xmlns:a16="http://schemas.microsoft.com/office/drawing/2014/main" id="{3A3AB783-6286-C74C-2B01-5539A8EB6EFE}"/>
              </a:ext>
            </a:extLst>
          </p:cNvPr>
          <p:cNvGraphicFramePr/>
          <p:nvPr>
            <p:extLst>
              <p:ext uri="{D42A27DB-BD31-4B8C-83A1-F6EECF244321}">
                <p14:modId xmlns:p14="http://schemas.microsoft.com/office/powerpoint/2010/main" val="89136398"/>
              </p:ext>
            </p:extLst>
          </p:nvPr>
        </p:nvGraphicFramePr>
        <p:xfrm>
          <a:off x="533400" y="2028826"/>
          <a:ext cx="4717348" cy="20332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me 13">
            <a:extLst>
              <a:ext uri="{FF2B5EF4-FFF2-40B4-BE49-F238E27FC236}">
                <a16:creationId xmlns:a16="http://schemas.microsoft.com/office/drawing/2014/main" id="{F696BA61-F128-B86E-2919-FB2ADFE78979}"/>
              </a:ext>
            </a:extLst>
          </p:cNvPr>
          <p:cNvGraphicFramePr/>
          <p:nvPr>
            <p:extLst>
              <p:ext uri="{D42A27DB-BD31-4B8C-83A1-F6EECF244321}">
                <p14:modId xmlns:p14="http://schemas.microsoft.com/office/powerpoint/2010/main" val="364654072"/>
              </p:ext>
            </p:extLst>
          </p:nvPr>
        </p:nvGraphicFramePr>
        <p:xfrm>
          <a:off x="5512308" y="2028825"/>
          <a:ext cx="6108192" cy="20332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ZoneTexte 17">
            <a:extLst>
              <a:ext uri="{FF2B5EF4-FFF2-40B4-BE49-F238E27FC236}">
                <a16:creationId xmlns:a16="http://schemas.microsoft.com/office/drawing/2014/main" id="{A39BA089-DD90-761E-1E3E-1E52F2EF02CF}"/>
              </a:ext>
            </a:extLst>
          </p:cNvPr>
          <p:cNvSpPr txBox="1"/>
          <p:nvPr/>
        </p:nvSpPr>
        <p:spPr>
          <a:xfrm>
            <a:off x="533400" y="4867275"/>
            <a:ext cx="11087100" cy="288541"/>
          </a:xfrm>
          <a:prstGeom prst="rect">
            <a:avLst/>
          </a:prstGeom>
          <a:noFill/>
        </p:spPr>
        <p:txBody>
          <a:bodyPr wrap="square">
            <a:spAutoFit/>
          </a:bodyPr>
          <a:lstStyle/>
          <a:p>
            <a:pPr algn="ctr">
              <a:defRPr sz="1275" b="1">
                <a:solidFill>
                  <a:srgbClr val="647481"/>
                </a:solidFill>
                <a:latin typeface="DejaVu Sans"/>
                <a:ea typeface="DejaVu Sans"/>
                <a:cs typeface="DejaVu Sans"/>
              </a:defRPr>
            </a:pPr>
            <a:r>
              <a:rPr lang="fr-FR" sz="1275" b="1" dirty="0">
                <a:solidFill>
                  <a:srgbClr val="647481"/>
                </a:solidFill>
                <a:latin typeface="DejaVu Sans"/>
                <a:ea typeface="DejaVu Sans"/>
                <a:cs typeface="DejaVu Sans"/>
              </a:rPr>
              <a:t>Les données de terrain étaient transmises directement à la base du consultant et suivies en temps réel.</a:t>
            </a:r>
          </a:p>
        </p:txBody>
      </p:sp>
    </p:spTree>
    <p:extLst>
      <p:ext uri="{BB962C8B-B14F-4D97-AF65-F5344CB8AC3E}">
        <p14:creationId xmlns:p14="http://schemas.microsoft.com/office/powerpoint/2010/main" val="245156517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0F41AB2-DE38-496E-8F01-B5C2BDCFB5EB}"/>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4" name="Rectangle 3">
            <a:extLst>
              <a:ext uri="{FF2B5EF4-FFF2-40B4-BE49-F238E27FC236}">
                <a16:creationId xmlns:a16="http://schemas.microsoft.com/office/drawing/2014/main" id="{A50E3032-6287-49B4-9CDC-50BF51193472}"/>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39AF496C-DB9F-414A-BB69-D1AB9641B60E}"/>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06</a:t>
            </a:r>
          </a:p>
        </p:txBody>
      </p:sp>
      <p:sp>
        <p:nvSpPr>
          <p:cNvPr id="6" name="Rectangle : coins arrondis 5">
            <a:extLst>
              <a:ext uri="{FF2B5EF4-FFF2-40B4-BE49-F238E27FC236}">
                <a16:creationId xmlns:a16="http://schemas.microsoft.com/office/drawing/2014/main" id="{4949A50D-AA12-4893-83CA-15CD0B6896E8}"/>
              </a:ext>
            </a:extLst>
          </p:cNvPr>
          <p:cNvSpPr>
            <a:spLocks noGrp="1"/>
          </p:cNvSpPr>
          <p:nvPr/>
        </p:nvSpPr>
        <p:spPr>
          <a:xfrm>
            <a:off x="762000" y="1571625"/>
            <a:ext cx="4953000" cy="3714750"/>
          </a:xfrm>
          <a:prstGeom prst="roundRect">
            <a:avLst>
              <a:gd name="adj" fmla="val 2051"/>
            </a:avLst>
          </a:prstGeom>
          <a:solidFill>
            <a:srgbClr val="F2F5F5"/>
          </a:solidFill>
          <a:ln w="0">
            <a:noFill/>
          </a:ln>
        </p:spPr>
        <p:txBody>
          <a:bodyPr/>
          <a:lstStyle/>
          <a:p>
            <a:endParaRPr lang="fr-FR"/>
          </a:p>
        </p:txBody>
      </p:sp>
      <p:sp>
        <p:nvSpPr>
          <p:cNvPr id="7" name="Rectangle 6">
            <a:extLst>
              <a:ext uri="{FF2B5EF4-FFF2-40B4-BE49-F238E27FC236}">
                <a16:creationId xmlns:a16="http://schemas.microsoft.com/office/drawing/2014/main" id="{AF046176-61EB-4ECD-A145-D68AD874E156}"/>
              </a:ext>
            </a:extLst>
          </p:cNvPr>
          <p:cNvSpPr>
            <a:spLocks noGrp="1"/>
          </p:cNvSpPr>
          <p:nvPr/>
        </p:nvSpPr>
        <p:spPr>
          <a:xfrm>
            <a:off x="1047750" y="1762125"/>
            <a:ext cx="4381500" cy="428625"/>
          </a:xfrm>
          <a:prstGeom prst="rect">
            <a:avLst/>
          </a:prstGeom>
          <a:noFill/>
          <a:ln w="0">
            <a:noFill/>
          </a:ln>
        </p:spPr>
        <p:txBody>
          <a:bodyPr anchor="ctr">
            <a:normAutofit/>
          </a:bodyPr>
          <a:lstStyle/>
          <a:p>
            <a:pPr algn="l">
              <a:defRPr sz="1875" b="1">
                <a:solidFill>
                  <a:srgbClr val="276A8C"/>
                </a:solidFill>
                <a:latin typeface="DejaVu Sans"/>
                <a:ea typeface="DejaVu Sans"/>
                <a:cs typeface="DejaVu Sans"/>
              </a:defRPr>
            </a:pPr>
            <a:r>
              <a:rPr sz="1875" b="1">
                <a:solidFill>
                  <a:srgbClr val="276A8C"/>
                </a:solidFill>
                <a:latin typeface="DejaVu Sans"/>
                <a:ea typeface="DejaVu Sans"/>
                <a:cs typeface="DejaVu Sans"/>
              </a:rPr>
              <a:t>Éducation</a:t>
            </a:r>
          </a:p>
        </p:txBody>
      </p:sp>
      <p:sp>
        <p:nvSpPr>
          <p:cNvPr id="8" name="Rectangle 7">
            <a:extLst>
              <a:ext uri="{FF2B5EF4-FFF2-40B4-BE49-F238E27FC236}">
                <a16:creationId xmlns:a16="http://schemas.microsoft.com/office/drawing/2014/main" id="{1CD116DE-20F8-4098-B0C1-592A3FF12CC8}"/>
              </a:ext>
            </a:extLst>
          </p:cNvPr>
          <p:cNvSpPr>
            <a:spLocks noGrp="1"/>
          </p:cNvSpPr>
          <p:nvPr/>
        </p:nvSpPr>
        <p:spPr>
          <a:xfrm>
            <a:off x="1095375" y="24765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50 élèves par classe</a:t>
            </a:r>
          </a:p>
        </p:txBody>
      </p:sp>
      <p:sp>
        <p:nvSpPr>
          <p:cNvPr id="9" name="Rectangle 8">
            <a:extLst>
              <a:ext uri="{FF2B5EF4-FFF2-40B4-BE49-F238E27FC236}">
                <a16:creationId xmlns:a16="http://schemas.microsoft.com/office/drawing/2014/main" id="{44D03CC3-2C53-4C70-A88F-044AEFB36C6C}"/>
              </a:ext>
            </a:extLst>
          </p:cNvPr>
          <p:cNvSpPr>
            <a:spLocks noGrp="1"/>
          </p:cNvSpPr>
          <p:nvPr/>
        </p:nvSpPr>
        <p:spPr>
          <a:xfrm>
            <a:off x="1095375" y="2971800"/>
            <a:ext cx="3905250" cy="9525"/>
          </a:xfrm>
          <a:prstGeom prst="rect">
            <a:avLst/>
          </a:prstGeom>
          <a:solidFill>
            <a:srgbClr val="D9E1E5"/>
          </a:solidFill>
          <a:ln w="0">
            <a:noFill/>
          </a:ln>
        </p:spPr>
        <p:txBody>
          <a:bodyPr/>
          <a:lstStyle/>
          <a:p>
            <a:endParaRPr lang="fr-FR"/>
          </a:p>
        </p:txBody>
      </p:sp>
      <p:sp>
        <p:nvSpPr>
          <p:cNvPr id="10" name="Rectangle 9">
            <a:extLst>
              <a:ext uri="{FF2B5EF4-FFF2-40B4-BE49-F238E27FC236}">
                <a16:creationId xmlns:a16="http://schemas.microsoft.com/office/drawing/2014/main" id="{00DD1C7E-F476-4962-A757-82329793D16B}"/>
              </a:ext>
            </a:extLst>
          </p:cNvPr>
          <p:cNvSpPr>
            <a:spLocks noGrp="1"/>
          </p:cNvSpPr>
          <p:nvPr/>
        </p:nvSpPr>
        <p:spPr>
          <a:xfrm>
            <a:off x="1095375" y="31623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école 1er cycle / 5 000 hab</a:t>
            </a:r>
          </a:p>
        </p:txBody>
      </p:sp>
      <p:sp>
        <p:nvSpPr>
          <p:cNvPr id="11" name="Rectangle 10">
            <a:extLst>
              <a:ext uri="{FF2B5EF4-FFF2-40B4-BE49-F238E27FC236}">
                <a16:creationId xmlns:a16="http://schemas.microsoft.com/office/drawing/2014/main" id="{50F02928-8B4D-439A-B194-78A63A74C172}"/>
              </a:ext>
            </a:extLst>
          </p:cNvPr>
          <p:cNvSpPr>
            <a:spLocks noGrp="1"/>
          </p:cNvSpPr>
          <p:nvPr/>
        </p:nvSpPr>
        <p:spPr>
          <a:xfrm>
            <a:off x="1095375" y="3657600"/>
            <a:ext cx="3905250" cy="9525"/>
          </a:xfrm>
          <a:prstGeom prst="rect">
            <a:avLst/>
          </a:prstGeom>
          <a:solidFill>
            <a:srgbClr val="D9E1E5"/>
          </a:solidFill>
          <a:ln w="0">
            <a:noFill/>
          </a:ln>
        </p:spPr>
        <p:txBody>
          <a:bodyPr/>
          <a:lstStyle/>
          <a:p>
            <a:endParaRPr lang="fr-FR"/>
          </a:p>
        </p:txBody>
      </p:sp>
      <p:sp>
        <p:nvSpPr>
          <p:cNvPr id="12" name="Rectangle 11">
            <a:extLst>
              <a:ext uri="{FF2B5EF4-FFF2-40B4-BE49-F238E27FC236}">
                <a16:creationId xmlns:a16="http://schemas.microsoft.com/office/drawing/2014/main" id="{79C83DE8-7DB6-4C21-B4D7-4B7E7BFEA45D}"/>
              </a:ext>
            </a:extLst>
          </p:cNvPr>
          <p:cNvSpPr>
            <a:spLocks noGrp="1"/>
          </p:cNvSpPr>
          <p:nvPr/>
        </p:nvSpPr>
        <p:spPr>
          <a:xfrm>
            <a:off x="1095375" y="38481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école 2e cycle / 10 000 hab</a:t>
            </a:r>
          </a:p>
        </p:txBody>
      </p:sp>
      <p:sp>
        <p:nvSpPr>
          <p:cNvPr id="13" name="Rectangle 12">
            <a:extLst>
              <a:ext uri="{FF2B5EF4-FFF2-40B4-BE49-F238E27FC236}">
                <a16:creationId xmlns:a16="http://schemas.microsoft.com/office/drawing/2014/main" id="{3B09BA88-D4DE-4F4E-98C4-4FBD02E2BC6A}"/>
              </a:ext>
            </a:extLst>
          </p:cNvPr>
          <p:cNvSpPr>
            <a:spLocks noGrp="1"/>
          </p:cNvSpPr>
          <p:nvPr/>
        </p:nvSpPr>
        <p:spPr>
          <a:xfrm>
            <a:off x="1095375" y="4343400"/>
            <a:ext cx="3905250" cy="9525"/>
          </a:xfrm>
          <a:prstGeom prst="rect">
            <a:avLst/>
          </a:prstGeom>
          <a:solidFill>
            <a:srgbClr val="D9E1E5"/>
          </a:solidFill>
          <a:ln w="0">
            <a:noFill/>
          </a:ln>
        </p:spPr>
        <p:txBody>
          <a:bodyPr/>
          <a:lstStyle/>
          <a:p>
            <a:endParaRPr lang="fr-FR"/>
          </a:p>
        </p:txBody>
      </p:sp>
      <p:sp>
        <p:nvSpPr>
          <p:cNvPr id="14" name="Rectangle 13">
            <a:extLst>
              <a:ext uri="{FF2B5EF4-FFF2-40B4-BE49-F238E27FC236}">
                <a16:creationId xmlns:a16="http://schemas.microsoft.com/office/drawing/2014/main" id="{7E75E2A0-319B-4B1F-AF7B-1E510D56DABE}"/>
              </a:ext>
            </a:extLst>
          </p:cNvPr>
          <p:cNvSpPr>
            <a:spLocks noGrp="1"/>
          </p:cNvSpPr>
          <p:nvPr/>
        </p:nvSpPr>
        <p:spPr>
          <a:xfrm>
            <a:off x="1095375" y="45339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lycée / 50 000 hab</a:t>
            </a:r>
          </a:p>
        </p:txBody>
      </p:sp>
      <p:sp>
        <p:nvSpPr>
          <p:cNvPr id="15" name="Rectangle 14">
            <a:extLst>
              <a:ext uri="{FF2B5EF4-FFF2-40B4-BE49-F238E27FC236}">
                <a16:creationId xmlns:a16="http://schemas.microsoft.com/office/drawing/2014/main" id="{E45D9565-1098-4B68-AC64-1701033A8F4A}"/>
              </a:ext>
            </a:extLst>
          </p:cNvPr>
          <p:cNvSpPr>
            <a:spLocks noGrp="1"/>
          </p:cNvSpPr>
          <p:nvPr/>
        </p:nvSpPr>
        <p:spPr>
          <a:xfrm>
            <a:off x="1095375" y="5029200"/>
            <a:ext cx="3905250" cy="9525"/>
          </a:xfrm>
          <a:prstGeom prst="rect">
            <a:avLst/>
          </a:prstGeom>
          <a:solidFill>
            <a:srgbClr val="D9E1E5"/>
          </a:solidFill>
          <a:ln w="0">
            <a:noFill/>
          </a:ln>
        </p:spPr>
        <p:txBody>
          <a:bodyPr/>
          <a:lstStyle/>
          <a:p>
            <a:endParaRPr lang="fr-FR"/>
          </a:p>
        </p:txBody>
      </p:sp>
      <p:sp>
        <p:nvSpPr>
          <p:cNvPr id="16" name="Rectangle : coins arrondis 15">
            <a:extLst>
              <a:ext uri="{FF2B5EF4-FFF2-40B4-BE49-F238E27FC236}">
                <a16:creationId xmlns:a16="http://schemas.microsoft.com/office/drawing/2014/main" id="{225FD74A-C6AE-4ACD-AD3C-7643A1DF6057}"/>
              </a:ext>
            </a:extLst>
          </p:cNvPr>
          <p:cNvSpPr>
            <a:spLocks noGrp="1"/>
          </p:cNvSpPr>
          <p:nvPr/>
        </p:nvSpPr>
        <p:spPr>
          <a:xfrm>
            <a:off x="6334125" y="1571625"/>
            <a:ext cx="4953000" cy="3714750"/>
          </a:xfrm>
          <a:prstGeom prst="roundRect">
            <a:avLst>
              <a:gd name="adj" fmla="val 2051"/>
            </a:avLst>
          </a:prstGeom>
          <a:solidFill>
            <a:srgbClr val="F2F5F5"/>
          </a:solidFill>
          <a:ln w="0">
            <a:noFill/>
          </a:ln>
        </p:spPr>
        <p:txBody>
          <a:bodyPr/>
          <a:lstStyle/>
          <a:p>
            <a:endParaRPr lang="fr-FR"/>
          </a:p>
        </p:txBody>
      </p:sp>
      <p:sp>
        <p:nvSpPr>
          <p:cNvPr id="17" name="Rectangle 16">
            <a:extLst>
              <a:ext uri="{FF2B5EF4-FFF2-40B4-BE49-F238E27FC236}">
                <a16:creationId xmlns:a16="http://schemas.microsoft.com/office/drawing/2014/main" id="{D499172B-DBA4-4E84-B27D-986FBF1834FC}"/>
              </a:ext>
            </a:extLst>
          </p:cNvPr>
          <p:cNvSpPr>
            <a:spLocks noGrp="1"/>
          </p:cNvSpPr>
          <p:nvPr/>
        </p:nvSpPr>
        <p:spPr>
          <a:xfrm>
            <a:off x="6619875" y="1762125"/>
            <a:ext cx="4381500" cy="428625"/>
          </a:xfrm>
          <a:prstGeom prst="rect">
            <a:avLst/>
          </a:prstGeom>
          <a:noFill/>
          <a:ln w="0">
            <a:noFill/>
          </a:ln>
        </p:spPr>
        <p:txBody>
          <a:bodyPr anchor="ctr">
            <a:normAutofit/>
          </a:bodyPr>
          <a:lstStyle/>
          <a:p>
            <a:pPr algn="l">
              <a:defRPr sz="1875" b="1">
                <a:solidFill>
                  <a:srgbClr val="276A8C"/>
                </a:solidFill>
                <a:latin typeface="DejaVu Sans"/>
                <a:ea typeface="DejaVu Sans"/>
                <a:cs typeface="DejaVu Sans"/>
              </a:defRPr>
            </a:pPr>
            <a:r>
              <a:rPr sz="1875" b="1">
                <a:solidFill>
                  <a:srgbClr val="276A8C"/>
                </a:solidFill>
                <a:latin typeface="DejaVu Sans"/>
                <a:ea typeface="DejaVu Sans"/>
                <a:cs typeface="DejaVu Sans"/>
              </a:rPr>
              <a:t>Santé</a:t>
            </a:r>
          </a:p>
        </p:txBody>
      </p:sp>
      <p:sp>
        <p:nvSpPr>
          <p:cNvPr id="18" name="Rectangle 17">
            <a:extLst>
              <a:ext uri="{FF2B5EF4-FFF2-40B4-BE49-F238E27FC236}">
                <a16:creationId xmlns:a16="http://schemas.microsoft.com/office/drawing/2014/main" id="{3F19B480-D289-408C-90B2-FCE98971EF4A}"/>
              </a:ext>
            </a:extLst>
          </p:cNvPr>
          <p:cNvSpPr>
            <a:spLocks noGrp="1"/>
          </p:cNvSpPr>
          <p:nvPr/>
        </p:nvSpPr>
        <p:spPr>
          <a:xfrm>
            <a:off x="6667500" y="24765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CSCOM / 5 000 hab</a:t>
            </a:r>
          </a:p>
        </p:txBody>
      </p:sp>
      <p:sp>
        <p:nvSpPr>
          <p:cNvPr id="19" name="Rectangle 18">
            <a:extLst>
              <a:ext uri="{FF2B5EF4-FFF2-40B4-BE49-F238E27FC236}">
                <a16:creationId xmlns:a16="http://schemas.microsoft.com/office/drawing/2014/main" id="{D15634D7-21A0-4B44-8320-056F7BBE15E0}"/>
              </a:ext>
            </a:extLst>
          </p:cNvPr>
          <p:cNvSpPr>
            <a:spLocks noGrp="1"/>
          </p:cNvSpPr>
          <p:nvPr/>
        </p:nvSpPr>
        <p:spPr>
          <a:xfrm>
            <a:off x="6667500" y="2971800"/>
            <a:ext cx="3905250" cy="9525"/>
          </a:xfrm>
          <a:prstGeom prst="rect">
            <a:avLst/>
          </a:prstGeom>
          <a:solidFill>
            <a:srgbClr val="D9E1E5"/>
          </a:solidFill>
          <a:ln w="0">
            <a:noFill/>
          </a:ln>
        </p:spPr>
        <p:txBody>
          <a:bodyPr/>
          <a:lstStyle/>
          <a:p>
            <a:endParaRPr lang="fr-FR"/>
          </a:p>
        </p:txBody>
      </p:sp>
      <p:sp>
        <p:nvSpPr>
          <p:cNvPr id="20" name="Rectangle 19">
            <a:extLst>
              <a:ext uri="{FF2B5EF4-FFF2-40B4-BE49-F238E27FC236}">
                <a16:creationId xmlns:a16="http://schemas.microsoft.com/office/drawing/2014/main" id="{D872C36B-BCE0-4FDD-8BA5-1FB1391AF6E6}"/>
              </a:ext>
            </a:extLst>
          </p:cNvPr>
          <p:cNvSpPr>
            <a:spLocks noGrp="1"/>
          </p:cNvSpPr>
          <p:nvPr/>
        </p:nvSpPr>
        <p:spPr>
          <a:xfrm>
            <a:off x="6667500" y="31623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CS-réf / 100 000 hab</a:t>
            </a:r>
          </a:p>
        </p:txBody>
      </p:sp>
      <p:sp>
        <p:nvSpPr>
          <p:cNvPr id="21" name="Rectangle 20">
            <a:extLst>
              <a:ext uri="{FF2B5EF4-FFF2-40B4-BE49-F238E27FC236}">
                <a16:creationId xmlns:a16="http://schemas.microsoft.com/office/drawing/2014/main" id="{F0FCBFC5-BCDF-4D79-AA52-D89F9CAC1FCF}"/>
              </a:ext>
            </a:extLst>
          </p:cNvPr>
          <p:cNvSpPr>
            <a:spLocks noGrp="1"/>
          </p:cNvSpPr>
          <p:nvPr/>
        </p:nvSpPr>
        <p:spPr>
          <a:xfrm>
            <a:off x="6667500" y="3657600"/>
            <a:ext cx="3905250" cy="9525"/>
          </a:xfrm>
          <a:prstGeom prst="rect">
            <a:avLst/>
          </a:prstGeom>
          <a:solidFill>
            <a:srgbClr val="D9E1E5"/>
          </a:solidFill>
          <a:ln w="0">
            <a:noFill/>
          </a:ln>
        </p:spPr>
        <p:txBody>
          <a:bodyPr/>
          <a:lstStyle/>
          <a:p>
            <a:endParaRPr lang="fr-FR"/>
          </a:p>
        </p:txBody>
      </p:sp>
      <p:sp>
        <p:nvSpPr>
          <p:cNvPr id="22" name="Rectangle 21">
            <a:extLst>
              <a:ext uri="{FF2B5EF4-FFF2-40B4-BE49-F238E27FC236}">
                <a16:creationId xmlns:a16="http://schemas.microsoft.com/office/drawing/2014/main" id="{DB57086D-00C4-4AE9-9398-0171E948F139}"/>
              </a:ext>
            </a:extLst>
          </p:cNvPr>
          <p:cNvSpPr>
            <a:spLocks noGrp="1"/>
          </p:cNvSpPr>
          <p:nvPr/>
        </p:nvSpPr>
        <p:spPr>
          <a:xfrm>
            <a:off x="6667500" y="3848100"/>
            <a:ext cx="4286250" cy="45720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 hôpital / 500 000 hab</a:t>
            </a:r>
          </a:p>
        </p:txBody>
      </p:sp>
      <p:sp>
        <p:nvSpPr>
          <p:cNvPr id="23" name="Rectangle 22">
            <a:extLst>
              <a:ext uri="{FF2B5EF4-FFF2-40B4-BE49-F238E27FC236}">
                <a16:creationId xmlns:a16="http://schemas.microsoft.com/office/drawing/2014/main" id="{3A8DEC1D-F605-4A7E-B7D3-FC1B3EE8917E}"/>
              </a:ext>
            </a:extLst>
          </p:cNvPr>
          <p:cNvSpPr>
            <a:spLocks noGrp="1"/>
          </p:cNvSpPr>
          <p:nvPr/>
        </p:nvSpPr>
        <p:spPr>
          <a:xfrm>
            <a:off x="6667500" y="4343400"/>
            <a:ext cx="3905250" cy="9525"/>
          </a:xfrm>
          <a:prstGeom prst="rect">
            <a:avLst/>
          </a:prstGeom>
          <a:solidFill>
            <a:srgbClr val="D9E1E5"/>
          </a:solidFill>
          <a:ln w="0">
            <a:noFill/>
          </a:ln>
        </p:spPr>
        <p:txBody>
          <a:bodyPr/>
          <a:lstStyle/>
          <a:p>
            <a:endParaRPr lang="fr-FR"/>
          </a:p>
        </p:txBody>
      </p:sp>
      <p:graphicFrame>
        <p:nvGraphicFramePr>
          <p:cNvPr id="32" name="Diagramme 31">
            <a:extLst>
              <a:ext uri="{FF2B5EF4-FFF2-40B4-BE49-F238E27FC236}">
                <a16:creationId xmlns:a16="http://schemas.microsoft.com/office/drawing/2014/main" id="{24C56626-A5E2-6DE4-27E6-9406C13BAD3B}"/>
              </a:ext>
            </a:extLst>
          </p:cNvPr>
          <p:cNvGraphicFramePr/>
          <p:nvPr>
            <p:extLst>
              <p:ext uri="{D42A27DB-BD31-4B8C-83A1-F6EECF244321}">
                <p14:modId xmlns:p14="http://schemas.microsoft.com/office/powerpoint/2010/main" val="3498819282"/>
              </p:ext>
            </p:extLst>
          </p:nvPr>
        </p:nvGraphicFramePr>
        <p:xfrm>
          <a:off x="762000" y="5638800"/>
          <a:ext cx="10525125" cy="38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7" name="Rectangle 26">
            <a:extLst>
              <a:ext uri="{FF2B5EF4-FFF2-40B4-BE49-F238E27FC236}">
                <a16:creationId xmlns:a16="http://schemas.microsoft.com/office/drawing/2014/main" id="{26D8336C-F742-8A40-029B-31245438A493}"/>
              </a:ext>
            </a:extLst>
          </p:cNvPr>
          <p:cNvSpPr>
            <a:spLocks noGrp="1"/>
          </p:cNvSpPr>
          <p:nvPr/>
        </p:nvSpPr>
        <p:spPr>
          <a:xfrm>
            <a:off x="533400" y="323850"/>
            <a:ext cx="10858500" cy="571500"/>
          </a:xfrm>
          <a:prstGeom prst="rect">
            <a:avLst/>
          </a:prstGeom>
          <a:noFill/>
          <a:ln w="0">
            <a:noFill/>
          </a:ln>
        </p:spPr>
        <p:txBody>
          <a:bodyPr anchor="ctr">
            <a:normAutofit/>
          </a:bodyPr>
          <a:lstStyle/>
          <a:p>
            <a:pPr>
              <a:defRPr sz="2325" b="1">
                <a:solidFill>
                  <a:srgbClr val="17324D"/>
                </a:solidFill>
                <a:latin typeface="DejaVu Sans"/>
                <a:ea typeface="DejaVu Sans"/>
                <a:cs typeface="DejaVu Sans"/>
              </a:defRPr>
            </a:pPr>
            <a:r>
              <a:rPr lang="fr-FR" sz="2400" b="1" dirty="0">
                <a:solidFill>
                  <a:srgbClr val="455360"/>
                </a:solidFill>
                <a:latin typeface="DejaVu Sans"/>
                <a:ea typeface="DejaVu Sans"/>
                <a:cs typeface="DejaVu Sans"/>
              </a:rPr>
              <a:t>I. INTRODUCTION</a:t>
            </a:r>
            <a:endParaRPr sz="2325" b="1" dirty="0">
              <a:solidFill>
                <a:srgbClr val="455360"/>
              </a:solidFill>
              <a:latin typeface="DejaVu Sans"/>
              <a:ea typeface="DejaVu Sans"/>
              <a:cs typeface="DejaVu Sans"/>
            </a:endParaRPr>
          </a:p>
        </p:txBody>
      </p:sp>
      <p:sp>
        <p:nvSpPr>
          <p:cNvPr id="31" name="Rectangle 30">
            <a:extLst>
              <a:ext uri="{FF2B5EF4-FFF2-40B4-BE49-F238E27FC236}">
                <a16:creationId xmlns:a16="http://schemas.microsoft.com/office/drawing/2014/main" id="{4A3FD421-77FA-5CD6-6407-C501A6B1CCDA}"/>
              </a:ext>
            </a:extLst>
          </p:cNvPr>
          <p:cNvSpPr>
            <a:spLocks noGrp="1"/>
          </p:cNvSpPr>
          <p:nvPr/>
        </p:nvSpPr>
        <p:spPr>
          <a:xfrm>
            <a:off x="533400" y="914400"/>
            <a:ext cx="7639050" cy="228600"/>
          </a:xfrm>
          <a:prstGeom prst="rect">
            <a:avLst/>
          </a:prstGeom>
          <a:noFill/>
          <a:ln w="0">
            <a:noFill/>
          </a:ln>
        </p:spPr>
        <p:txBody>
          <a:bodyPr anchor="ctr">
            <a:noAutofit/>
          </a:bodyPr>
          <a:lstStyle/>
          <a:p>
            <a:r>
              <a:rPr lang="fr-FR" sz="1200" b="1" dirty="0">
                <a:solidFill>
                  <a:srgbClr val="276A8C"/>
                </a:solidFill>
                <a:latin typeface="DejaVu Sans"/>
              </a:rPr>
              <a:t>Normes utilisées pour apprécier les déficits</a:t>
            </a:r>
          </a:p>
        </p:txBody>
      </p:sp>
    </p:spTree>
    <p:extLst>
      <p:ext uri="{BB962C8B-B14F-4D97-AF65-F5344CB8AC3E}">
        <p14:creationId xmlns:p14="http://schemas.microsoft.com/office/powerpoint/2010/main" val="114127041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0E5B6578-F9C6-2D3F-398C-8DE3FCB8237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6692C0D-9183-A0DC-AE7A-A82CB81D7300}"/>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19EB8C52-36C6-A917-8DC5-63AD28217C24}"/>
              </a:ext>
            </a:extLst>
          </p:cNvPr>
          <p:cNvSpPr>
            <a:spLocks noGrp="1"/>
          </p:cNvSpPr>
          <p:nvPr/>
        </p:nvSpPr>
        <p:spPr>
          <a:xfrm>
            <a:off x="762000" y="1190625"/>
            <a:ext cx="1905000" cy="762000"/>
          </a:xfrm>
          <a:prstGeom prst="rect">
            <a:avLst/>
          </a:prstGeom>
          <a:noFill/>
          <a:ln w="0">
            <a:noFill/>
          </a:ln>
        </p:spPr>
        <p:txBody>
          <a:bodyPr anchor="ctr">
            <a:normAutofit/>
          </a:bodyPr>
          <a:lstStyle/>
          <a:p>
            <a:pPr algn="l">
              <a:defRPr sz="4200" b="1">
                <a:solidFill>
                  <a:srgbClr val="E8C47A"/>
                </a:solidFill>
                <a:latin typeface="DejaVu Sans"/>
                <a:ea typeface="DejaVu Sans"/>
                <a:cs typeface="DejaVu Sans"/>
              </a:defRPr>
            </a:pPr>
            <a:r>
              <a:rPr sz="4200" b="1" dirty="0">
                <a:solidFill>
                  <a:srgbClr val="E8C47A"/>
                </a:solidFill>
                <a:latin typeface="DejaVu Sans"/>
                <a:ea typeface="DejaVu Sans"/>
                <a:cs typeface="DejaVu Sans"/>
              </a:rPr>
              <a:t>I</a:t>
            </a:r>
            <a:r>
              <a:rPr lang="fr-FR" sz="4200" b="1" dirty="0">
                <a:solidFill>
                  <a:srgbClr val="E8C47A"/>
                </a:solidFill>
                <a:latin typeface="DejaVu Sans"/>
                <a:ea typeface="DejaVu Sans"/>
                <a:cs typeface="DejaVu Sans"/>
              </a:rPr>
              <a:t>I</a:t>
            </a:r>
            <a:endParaRPr sz="4200" b="1" dirty="0">
              <a:solidFill>
                <a:srgbClr val="E8C47A"/>
              </a:solidFill>
              <a:latin typeface="DejaVu Sans"/>
              <a:ea typeface="DejaVu Sans"/>
              <a:cs typeface="DejaVu Sans"/>
            </a:endParaRPr>
          </a:p>
        </p:txBody>
      </p:sp>
      <p:sp>
        <p:nvSpPr>
          <p:cNvPr id="3" name="Rectangle 2">
            <a:extLst>
              <a:ext uri="{FF2B5EF4-FFF2-40B4-BE49-F238E27FC236}">
                <a16:creationId xmlns:a16="http://schemas.microsoft.com/office/drawing/2014/main" id="{05F0F4FE-4573-F9A5-C6D6-BFFE954BB088}"/>
              </a:ext>
            </a:extLst>
          </p:cNvPr>
          <p:cNvSpPr>
            <a:spLocks noGrp="1"/>
          </p:cNvSpPr>
          <p:nvPr/>
        </p:nvSpPr>
        <p:spPr>
          <a:xfrm>
            <a:off x="762000" y="2190750"/>
            <a:ext cx="10001250" cy="952500"/>
          </a:xfrm>
          <a:prstGeom prst="rect">
            <a:avLst/>
          </a:prstGeom>
          <a:noFill/>
          <a:ln w="0">
            <a:noFill/>
          </a:ln>
        </p:spPr>
        <p:txBody>
          <a:bodyPr anchor="ctr">
            <a:normAutofit/>
          </a:bodyPr>
          <a:lstStyle/>
          <a:p>
            <a:pPr>
              <a:defRPr sz="3150" b="1">
                <a:solidFill>
                  <a:srgbClr val="FFFFFF"/>
                </a:solidFill>
                <a:latin typeface="DejaVu Sans"/>
                <a:ea typeface="DejaVu Sans"/>
                <a:cs typeface="DejaVu Sans"/>
              </a:defRPr>
            </a:pPr>
            <a:r>
              <a:rPr lang="fr-FR" b="1" dirty="0">
                <a:solidFill>
                  <a:schemeClr val="bg1"/>
                </a:solidFill>
                <a:latin typeface="DejaVu Sans"/>
              </a:rPr>
              <a:t>PRÉSENTATION DE LA VILLE</a:t>
            </a:r>
            <a:endParaRPr sz="3150" b="1" dirty="0">
              <a:solidFill>
                <a:schemeClr val="bg1"/>
              </a:solidFill>
              <a:latin typeface="DejaVu Sans"/>
              <a:ea typeface="DejaVu Sans"/>
              <a:cs typeface="DejaVu Sans"/>
            </a:endParaRPr>
          </a:p>
        </p:txBody>
      </p:sp>
      <p:sp>
        <p:nvSpPr>
          <p:cNvPr id="4" name="Rectangle 3">
            <a:extLst>
              <a:ext uri="{FF2B5EF4-FFF2-40B4-BE49-F238E27FC236}">
                <a16:creationId xmlns:a16="http://schemas.microsoft.com/office/drawing/2014/main" id="{6EF9AE58-0DB3-17F2-804E-E34A0D461ADE}"/>
              </a:ext>
            </a:extLst>
          </p:cNvPr>
          <p:cNvSpPr>
            <a:spLocks noGrp="1"/>
          </p:cNvSpPr>
          <p:nvPr/>
        </p:nvSpPr>
        <p:spPr>
          <a:xfrm>
            <a:off x="762000" y="3429000"/>
            <a:ext cx="10261600" cy="762000"/>
          </a:xfrm>
          <a:prstGeom prst="rect">
            <a:avLst/>
          </a:prstGeom>
          <a:noFill/>
          <a:ln w="0">
            <a:noFill/>
          </a:ln>
        </p:spPr>
        <p:txBody>
          <a:bodyPr anchor="ctr">
            <a:normAutofit/>
          </a:bodyPr>
          <a:lstStyle/>
          <a:p>
            <a:pPr algn="l">
              <a:defRPr sz="1650" b="0">
                <a:solidFill>
                  <a:srgbClr val="FFFFFF"/>
                </a:solidFill>
                <a:latin typeface="DejaVu Sans"/>
                <a:ea typeface="DejaVu Sans"/>
                <a:cs typeface="DejaVu Sans"/>
              </a:defRPr>
            </a:pPr>
            <a:r>
              <a:rPr lang="fr-FR" sz="1650" b="0" dirty="0">
                <a:solidFill>
                  <a:srgbClr val="FFFFFF"/>
                </a:solidFill>
                <a:latin typeface="DejaVu Sans"/>
                <a:ea typeface="DejaVu Sans"/>
                <a:cs typeface="DejaVu Sans"/>
              </a:rPr>
              <a:t>Situation géographique et évolution </a:t>
            </a:r>
            <a:r>
              <a:rPr sz="1650" b="0" dirty="0">
                <a:solidFill>
                  <a:srgbClr val="FFFFFF"/>
                </a:solidFill>
                <a:latin typeface="DejaVu Sans"/>
                <a:ea typeface="DejaVu Sans"/>
                <a:cs typeface="DejaVu Sans"/>
              </a:rPr>
              <a:t>· </a:t>
            </a:r>
            <a:r>
              <a:rPr lang="fr-FR" sz="1650" b="0" dirty="0">
                <a:solidFill>
                  <a:srgbClr val="FFFFFF"/>
                </a:solidFill>
                <a:latin typeface="DejaVu Sans"/>
                <a:ea typeface="DejaVu Sans"/>
                <a:cs typeface="DejaVu Sans"/>
              </a:rPr>
              <a:t>Climat, végétation et hydrographie </a:t>
            </a:r>
            <a:r>
              <a:rPr sz="1650" b="0" dirty="0">
                <a:solidFill>
                  <a:srgbClr val="FFFFFF"/>
                </a:solidFill>
                <a:latin typeface="DejaVu Sans"/>
                <a:ea typeface="DejaVu Sans"/>
                <a:cs typeface="DejaVu Sans"/>
              </a:rPr>
              <a:t>· </a:t>
            </a:r>
            <a:r>
              <a:rPr lang="fr-FR" sz="1650" b="0" dirty="0">
                <a:solidFill>
                  <a:srgbClr val="FFFFFF"/>
                </a:solidFill>
                <a:latin typeface="DejaVu Sans"/>
                <a:ea typeface="DejaVu Sans"/>
                <a:cs typeface="DejaVu Sans"/>
              </a:rPr>
              <a:t>Population en 2025</a:t>
            </a:r>
          </a:p>
          <a:p>
            <a:pPr algn="l">
              <a:defRPr sz="1650" b="0">
                <a:solidFill>
                  <a:srgbClr val="FFFFFF"/>
                </a:solidFill>
                <a:latin typeface="DejaVu Sans"/>
                <a:ea typeface="DejaVu Sans"/>
                <a:cs typeface="DejaVu Sans"/>
              </a:defRPr>
            </a:pPr>
            <a:endParaRPr lang="fr-FR" sz="1650" b="0" dirty="0">
              <a:solidFill>
                <a:srgbClr val="FFFFFF"/>
              </a:solidFill>
              <a:latin typeface="DejaVu Sans"/>
              <a:ea typeface="DejaVu Sans"/>
              <a:cs typeface="DejaVu Sans"/>
            </a:endParaRPr>
          </a:p>
        </p:txBody>
      </p:sp>
    </p:spTree>
    <p:extLst>
      <p:ext uri="{BB962C8B-B14F-4D97-AF65-F5344CB8AC3E}">
        <p14:creationId xmlns:p14="http://schemas.microsoft.com/office/powerpoint/2010/main" val="68138055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C98F632-489C-49FF-BDD4-BD53D56E3449}"/>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4" name="Rectangle 3">
            <a:extLst>
              <a:ext uri="{FF2B5EF4-FFF2-40B4-BE49-F238E27FC236}">
                <a16:creationId xmlns:a16="http://schemas.microsoft.com/office/drawing/2014/main" id="{2C1A8DAC-3390-44E6-A525-74A485130C7F}"/>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71ACC1F1-EC42-4938-AECE-C93896C9CC4D}"/>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07</a:t>
            </a:r>
          </a:p>
        </p:txBody>
      </p:sp>
      <p:sp>
        <p:nvSpPr>
          <p:cNvPr id="7" name="Rectangle 6">
            <a:extLst>
              <a:ext uri="{FF2B5EF4-FFF2-40B4-BE49-F238E27FC236}">
                <a16:creationId xmlns:a16="http://schemas.microsoft.com/office/drawing/2014/main" id="{F70CEB39-BECE-413D-BE89-B7D335C0B21E}"/>
              </a:ext>
            </a:extLst>
          </p:cNvPr>
          <p:cNvSpPr>
            <a:spLocks noGrp="1"/>
          </p:cNvSpPr>
          <p:nvPr/>
        </p:nvSpPr>
        <p:spPr>
          <a:xfrm>
            <a:off x="342900" y="1419225"/>
            <a:ext cx="24765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dirty="0">
                <a:solidFill>
                  <a:srgbClr val="17324D"/>
                </a:solidFill>
                <a:latin typeface="DejaVu Sans"/>
                <a:ea typeface="DejaVu Sans"/>
                <a:cs typeface="DejaVu Sans"/>
              </a:rPr>
              <a:t>50 km²</a:t>
            </a:r>
          </a:p>
        </p:txBody>
      </p:sp>
      <p:sp>
        <p:nvSpPr>
          <p:cNvPr id="8" name="Rectangle 7">
            <a:extLst>
              <a:ext uri="{FF2B5EF4-FFF2-40B4-BE49-F238E27FC236}">
                <a16:creationId xmlns:a16="http://schemas.microsoft.com/office/drawing/2014/main" id="{5F5FA974-420F-46C8-A27D-9C5A37B53966}"/>
              </a:ext>
            </a:extLst>
          </p:cNvPr>
          <p:cNvSpPr>
            <a:spLocks noGrp="1"/>
          </p:cNvSpPr>
          <p:nvPr/>
        </p:nvSpPr>
        <p:spPr>
          <a:xfrm>
            <a:off x="342900" y="2009775"/>
            <a:ext cx="2476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superficie estimée</a:t>
            </a:r>
          </a:p>
        </p:txBody>
      </p:sp>
      <p:sp>
        <p:nvSpPr>
          <p:cNvPr id="9" name="Rectangle 8">
            <a:extLst>
              <a:ext uri="{FF2B5EF4-FFF2-40B4-BE49-F238E27FC236}">
                <a16:creationId xmlns:a16="http://schemas.microsoft.com/office/drawing/2014/main" id="{987FBF59-B622-48A0-9ECC-280CADEC9DE4}"/>
              </a:ext>
            </a:extLst>
          </p:cNvPr>
          <p:cNvSpPr>
            <a:spLocks noGrp="1"/>
          </p:cNvSpPr>
          <p:nvPr/>
        </p:nvSpPr>
        <p:spPr>
          <a:xfrm>
            <a:off x="342900" y="2562225"/>
            <a:ext cx="2857500" cy="590550"/>
          </a:xfrm>
          <a:prstGeom prst="rect">
            <a:avLst/>
          </a:prstGeom>
          <a:noFill/>
          <a:ln w="0">
            <a:noFill/>
          </a:ln>
        </p:spPr>
        <p:txBody>
          <a:bodyPr anchor="ctr">
            <a:normAutofit/>
          </a:bodyPr>
          <a:lstStyle/>
          <a:p>
            <a:pPr algn="l">
              <a:defRPr sz="2775" b="1">
                <a:solidFill>
                  <a:srgbClr val="276A8C"/>
                </a:solidFill>
                <a:latin typeface="DejaVu Sans"/>
                <a:ea typeface="DejaVu Sans"/>
                <a:cs typeface="DejaVu Sans"/>
              </a:defRPr>
            </a:pPr>
            <a:r>
              <a:rPr sz="2775" b="1">
                <a:solidFill>
                  <a:srgbClr val="276A8C"/>
                </a:solidFill>
                <a:latin typeface="DejaVu Sans"/>
                <a:ea typeface="DejaVu Sans"/>
                <a:cs typeface="DejaVu Sans"/>
              </a:rPr>
              <a:t>610 km</a:t>
            </a:r>
          </a:p>
        </p:txBody>
      </p:sp>
      <p:sp>
        <p:nvSpPr>
          <p:cNvPr id="10" name="Rectangle 9">
            <a:extLst>
              <a:ext uri="{FF2B5EF4-FFF2-40B4-BE49-F238E27FC236}">
                <a16:creationId xmlns:a16="http://schemas.microsoft.com/office/drawing/2014/main" id="{AD5CAC58-4860-4EF2-821D-77D4BD4D9BE9}"/>
              </a:ext>
            </a:extLst>
          </p:cNvPr>
          <p:cNvSpPr>
            <a:spLocks noGrp="1"/>
          </p:cNvSpPr>
          <p:nvPr/>
        </p:nvSpPr>
        <p:spPr>
          <a:xfrm>
            <a:off x="342900" y="3152775"/>
            <a:ext cx="2857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de Bamako par la route</a:t>
            </a:r>
          </a:p>
        </p:txBody>
      </p:sp>
      <p:sp>
        <p:nvSpPr>
          <p:cNvPr id="11" name="Rectangle 10">
            <a:extLst>
              <a:ext uri="{FF2B5EF4-FFF2-40B4-BE49-F238E27FC236}">
                <a16:creationId xmlns:a16="http://schemas.microsoft.com/office/drawing/2014/main" id="{9C010A57-362F-4F66-A762-902C3607DB60}"/>
              </a:ext>
            </a:extLst>
          </p:cNvPr>
          <p:cNvSpPr>
            <a:spLocks noGrp="1"/>
          </p:cNvSpPr>
          <p:nvPr/>
        </p:nvSpPr>
        <p:spPr>
          <a:xfrm>
            <a:off x="342900" y="3800475"/>
            <a:ext cx="3333750" cy="333375"/>
          </a:xfrm>
          <a:prstGeom prst="rect">
            <a:avLst/>
          </a:prstGeom>
          <a:noFill/>
          <a:ln w="0">
            <a:noFill/>
          </a:ln>
        </p:spPr>
        <p:txBody>
          <a:bodyPr anchor="ctr">
            <a:normAutofit/>
          </a:bodyPr>
          <a:lstStyle/>
          <a:p>
            <a:pPr algn="l">
              <a:defRPr sz="1500" b="1">
                <a:solidFill>
                  <a:srgbClr val="276A8C"/>
                </a:solidFill>
                <a:latin typeface="DejaVu Sans"/>
                <a:ea typeface="DejaVu Sans"/>
                <a:cs typeface="DejaVu Sans"/>
              </a:defRPr>
            </a:pPr>
            <a:r>
              <a:rPr sz="1500" b="1">
                <a:solidFill>
                  <a:srgbClr val="276A8C"/>
                </a:solidFill>
                <a:latin typeface="DejaVu Sans"/>
                <a:ea typeface="DejaVu Sans"/>
                <a:cs typeface="DejaVu Sans"/>
              </a:rPr>
              <a:t>Repères historiques</a:t>
            </a:r>
          </a:p>
        </p:txBody>
      </p:sp>
      <p:sp>
        <p:nvSpPr>
          <p:cNvPr id="13" name="Rectangle 12">
            <a:extLst>
              <a:ext uri="{FF2B5EF4-FFF2-40B4-BE49-F238E27FC236}">
                <a16:creationId xmlns:a16="http://schemas.microsoft.com/office/drawing/2014/main" id="{F59583B6-E8E3-4383-99AD-9A5A33BF6B3C}"/>
              </a:ext>
            </a:extLst>
          </p:cNvPr>
          <p:cNvSpPr>
            <a:spLocks noGrp="1"/>
          </p:cNvSpPr>
          <p:nvPr/>
        </p:nvSpPr>
        <p:spPr>
          <a:xfrm>
            <a:off x="342900" y="5695950"/>
            <a:ext cx="3038475" cy="428625"/>
          </a:xfrm>
          <a:prstGeom prst="rect">
            <a:avLst/>
          </a:prstGeom>
          <a:noFill/>
          <a:ln w="0">
            <a:noFill/>
          </a:ln>
        </p:spPr>
        <p:txBody>
          <a:bodyPr anchor="ctr">
            <a:normAutofit fontScale="97136"/>
          </a:bodyPr>
          <a:lstStyle/>
          <a:p>
            <a:pPr algn="ctr">
              <a:defRPr sz="1350" b="1">
                <a:solidFill>
                  <a:srgbClr val="17324D"/>
                </a:solidFill>
                <a:latin typeface="DejaVu Sans"/>
                <a:ea typeface="DejaVu Sans"/>
                <a:cs typeface="DejaVu Sans"/>
              </a:defRPr>
            </a:pPr>
            <a:r>
              <a:rPr lang="fr-FR" sz="1000" b="1" noProof="0" dirty="0">
                <a:solidFill>
                  <a:srgbClr val="17324D"/>
                </a:solidFill>
                <a:latin typeface="DejaVu Sans"/>
                <a:ea typeface="DejaVu Sans"/>
                <a:cs typeface="DejaVu Sans"/>
              </a:rPr>
              <a:t>La ville s’étend sur les deux rives du fleuve Sénégal.</a:t>
            </a:r>
          </a:p>
        </p:txBody>
      </p:sp>
      <p:sp>
        <p:nvSpPr>
          <p:cNvPr id="15" name="Rectangle 14">
            <a:extLst>
              <a:ext uri="{FF2B5EF4-FFF2-40B4-BE49-F238E27FC236}">
                <a16:creationId xmlns:a16="http://schemas.microsoft.com/office/drawing/2014/main" id="{08D537DA-4365-5CEC-37E0-D69BF34456A7}"/>
              </a:ext>
            </a:extLst>
          </p:cNvPr>
          <p:cNvSpPr>
            <a:spLocks noGrp="1"/>
          </p:cNvSpPr>
          <p:nvPr/>
        </p:nvSpPr>
        <p:spPr>
          <a:xfrm>
            <a:off x="533400" y="185738"/>
            <a:ext cx="2909888" cy="342900"/>
          </a:xfrm>
          <a:prstGeom prst="rect">
            <a:avLst/>
          </a:prstGeom>
          <a:noFill/>
          <a:ln w="0">
            <a:noFill/>
          </a:ln>
        </p:spPr>
        <p:txBody>
          <a:bodyPr anchor="ctr">
            <a:noAutofit/>
          </a:bodyPr>
          <a:lstStyle/>
          <a:p>
            <a:r>
              <a:rPr lang="fr-FR" b="1" dirty="0">
                <a:solidFill>
                  <a:srgbClr val="455360"/>
                </a:solidFill>
                <a:latin typeface="DejaVu Sans"/>
              </a:rPr>
              <a:t>II. PRÉSENTATION DE LA VILLE</a:t>
            </a:r>
          </a:p>
        </p:txBody>
      </p:sp>
      <p:pic>
        <p:nvPicPr>
          <p:cNvPr id="17" name="Image 16">
            <a:extLst>
              <a:ext uri="{FF2B5EF4-FFF2-40B4-BE49-F238E27FC236}">
                <a16:creationId xmlns:a16="http://schemas.microsoft.com/office/drawing/2014/main" id="{BA9DE6DD-6407-270B-AB94-DBCC7EC298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71875" y="-1344895"/>
            <a:ext cx="11863743" cy="8389283"/>
          </a:xfrm>
          <a:prstGeom prst="rect">
            <a:avLst/>
          </a:prstGeom>
        </p:spPr>
      </p:pic>
      <p:sp>
        <p:nvSpPr>
          <p:cNvPr id="12" name="Rectangle 11">
            <a:extLst>
              <a:ext uri="{FF2B5EF4-FFF2-40B4-BE49-F238E27FC236}">
                <a16:creationId xmlns:a16="http://schemas.microsoft.com/office/drawing/2014/main" id="{413BA855-A688-480B-9227-CEB723F1ADB0}"/>
              </a:ext>
            </a:extLst>
          </p:cNvPr>
          <p:cNvSpPr>
            <a:spLocks noGrp="1"/>
          </p:cNvSpPr>
          <p:nvPr/>
        </p:nvSpPr>
        <p:spPr>
          <a:xfrm>
            <a:off x="342900" y="4200525"/>
            <a:ext cx="3333750" cy="1047750"/>
          </a:xfrm>
          <a:prstGeom prst="rect">
            <a:avLst/>
          </a:prstGeom>
          <a:noFill/>
          <a:ln w="0">
            <a:noFill/>
          </a:ln>
        </p:spPr>
        <p:txBody>
          <a:bodyPr anchor="ctr">
            <a:normAutofit/>
          </a:bodyPr>
          <a:lstStyle/>
          <a:p>
            <a:pPr algn="l">
              <a:defRPr sz="1425" b="0">
                <a:solidFill>
                  <a:srgbClr val="1D2935"/>
                </a:solidFill>
                <a:latin typeface="DejaVu Sans"/>
                <a:ea typeface="DejaVu Sans"/>
                <a:cs typeface="DejaVu Sans"/>
              </a:defRPr>
            </a:pPr>
            <a:r>
              <a:rPr lang="fr-FR" sz="1425" b="0" noProof="0" dirty="0">
                <a:solidFill>
                  <a:srgbClr val="1D2935"/>
                </a:solidFill>
                <a:latin typeface="DejaVu Sans"/>
                <a:ea typeface="DejaVu Sans"/>
                <a:cs typeface="DejaVu Sans"/>
              </a:rPr>
              <a:t>1863 : chef-lieu de cercle</a:t>
            </a:r>
          </a:p>
          <a:p>
            <a:pPr algn="l">
              <a:defRPr sz="1425" b="0">
                <a:solidFill>
                  <a:srgbClr val="1D2935"/>
                </a:solidFill>
                <a:latin typeface="DejaVu Sans"/>
                <a:ea typeface="DejaVu Sans"/>
                <a:cs typeface="DejaVu Sans"/>
              </a:defRPr>
            </a:pPr>
            <a:r>
              <a:rPr lang="fr-FR" sz="1425" b="0" noProof="0" dirty="0">
                <a:solidFill>
                  <a:srgbClr val="1D2935"/>
                </a:solidFill>
                <a:latin typeface="DejaVu Sans"/>
                <a:ea typeface="DejaVu Sans"/>
                <a:cs typeface="DejaVu Sans"/>
              </a:rPr>
              <a:t>1919 : commune mixte</a:t>
            </a:r>
          </a:p>
          <a:p>
            <a:pPr algn="l">
              <a:defRPr sz="1425" b="0">
                <a:solidFill>
                  <a:srgbClr val="1D2935"/>
                </a:solidFill>
                <a:latin typeface="DejaVu Sans"/>
                <a:ea typeface="DejaVu Sans"/>
                <a:cs typeface="DejaVu Sans"/>
              </a:defRPr>
            </a:pPr>
            <a:r>
              <a:rPr lang="fr-FR" sz="1425" b="0" noProof="0" dirty="0">
                <a:solidFill>
                  <a:srgbClr val="1D2935"/>
                </a:solidFill>
                <a:latin typeface="DejaVu Sans"/>
                <a:ea typeface="DejaVu Sans"/>
                <a:cs typeface="DejaVu Sans"/>
              </a:rPr>
              <a:t>1956 : commune de plein exercice</a:t>
            </a:r>
          </a:p>
        </p:txBody>
      </p:sp>
      <p:sp>
        <p:nvSpPr>
          <p:cNvPr id="24" name="Rectangle 23">
            <a:extLst>
              <a:ext uri="{FF2B5EF4-FFF2-40B4-BE49-F238E27FC236}">
                <a16:creationId xmlns:a16="http://schemas.microsoft.com/office/drawing/2014/main" id="{404C180C-8ED4-A9B6-0FFB-7688CA0E0F5D}"/>
              </a:ext>
            </a:extLst>
          </p:cNvPr>
          <p:cNvSpPr>
            <a:spLocks noGrp="1"/>
          </p:cNvSpPr>
          <p:nvPr/>
        </p:nvSpPr>
        <p:spPr>
          <a:xfrm>
            <a:off x="490537" y="747062"/>
            <a:ext cx="3081338" cy="357837"/>
          </a:xfrm>
          <a:prstGeom prst="rect">
            <a:avLst/>
          </a:prstGeom>
          <a:noFill/>
          <a:ln w="0">
            <a:noFill/>
          </a:ln>
        </p:spPr>
        <p:txBody>
          <a:bodyPr anchor="ctr">
            <a:noAutofit/>
          </a:bodyPr>
          <a:lstStyle/>
          <a:p>
            <a:r>
              <a:rPr lang="fr-FR" sz="1200" b="1" dirty="0">
                <a:solidFill>
                  <a:srgbClr val="276A8C"/>
                </a:solidFill>
                <a:latin typeface="DejaVu Sans"/>
              </a:rPr>
              <a:t>Situation géographique et évolution de Kayes</a:t>
            </a:r>
          </a:p>
        </p:txBody>
      </p:sp>
    </p:spTree>
    <p:extLst>
      <p:ext uri="{BB962C8B-B14F-4D97-AF65-F5344CB8AC3E}">
        <p14:creationId xmlns:p14="http://schemas.microsoft.com/office/powerpoint/2010/main" val="35463798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8BAA5B8-0C06-439C-ADE7-A6E0518C6477}"/>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3" name="Rectangle 2">
            <a:extLst>
              <a:ext uri="{FF2B5EF4-FFF2-40B4-BE49-F238E27FC236}">
                <a16:creationId xmlns:a16="http://schemas.microsoft.com/office/drawing/2014/main" id="{55B5E2D1-C307-4982-87E5-4EBFD98CB128}"/>
              </a:ext>
            </a:extLst>
          </p:cNvPr>
          <p:cNvSpPr>
            <a:spLocks noGrp="1"/>
          </p:cNvSpPr>
          <p:nvPr/>
        </p:nvSpPr>
        <p:spPr>
          <a:xfrm>
            <a:off x="552450" y="809626"/>
            <a:ext cx="7620000" cy="323849"/>
          </a:xfrm>
          <a:prstGeom prst="rect">
            <a:avLst/>
          </a:prstGeom>
          <a:noFill/>
          <a:ln w="0">
            <a:noFill/>
          </a:ln>
        </p:spPr>
        <p:txBody>
          <a:bodyPr anchor="ctr">
            <a:noAutofit/>
          </a:bodyPr>
          <a:lstStyle/>
          <a:p>
            <a:pPr algn="l">
              <a:defRPr sz="900" b="1">
                <a:solidFill>
                  <a:srgbClr val="276A8C"/>
                </a:solidFill>
                <a:latin typeface="DejaVu Sans"/>
                <a:ea typeface="DejaVu Sans"/>
                <a:cs typeface="DejaVu Sans"/>
              </a:defRPr>
            </a:pPr>
            <a:r>
              <a:rPr lang="fr-FR" sz="1200" b="1" dirty="0">
                <a:solidFill>
                  <a:srgbClr val="276A8C"/>
                </a:solidFill>
                <a:latin typeface="DejaVu Sans"/>
                <a:ea typeface="DejaVu Sans"/>
                <a:cs typeface="DejaVu Sans"/>
              </a:rPr>
              <a:t>Climat, végétation et hydrographie</a:t>
            </a:r>
          </a:p>
        </p:txBody>
      </p:sp>
      <p:sp>
        <p:nvSpPr>
          <p:cNvPr id="4" name="Rectangle 3">
            <a:extLst>
              <a:ext uri="{FF2B5EF4-FFF2-40B4-BE49-F238E27FC236}">
                <a16:creationId xmlns:a16="http://schemas.microsoft.com/office/drawing/2014/main" id="{A5BF96BE-2D36-43F6-80AD-9ABB51C05009}"/>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15EB68C0-283A-455A-972F-009B99173AFD}"/>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08</a:t>
            </a:r>
          </a:p>
        </p:txBody>
      </p:sp>
      <p:sp>
        <p:nvSpPr>
          <p:cNvPr id="6" name="Rectangle : coins arrondis 5">
            <a:extLst>
              <a:ext uri="{FF2B5EF4-FFF2-40B4-BE49-F238E27FC236}">
                <a16:creationId xmlns:a16="http://schemas.microsoft.com/office/drawing/2014/main" id="{816374FB-0606-42AD-A991-9FBB0AA25C65}"/>
              </a:ext>
            </a:extLst>
          </p:cNvPr>
          <p:cNvSpPr>
            <a:spLocks noGrp="1"/>
          </p:cNvSpPr>
          <p:nvPr/>
        </p:nvSpPr>
        <p:spPr>
          <a:xfrm>
            <a:off x="619125" y="1666875"/>
            <a:ext cx="3429000" cy="3238500"/>
          </a:xfrm>
          <a:prstGeom prst="roundRect">
            <a:avLst>
              <a:gd name="adj" fmla="val 2353"/>
            </a:avLst>
          </a:prstGeom>
          <a:solidFill>
            <a:srgbClr val="F2F5F5"/>
          </a:solidFill>
          <a:ln w="0">
            <a:noFill/>
          </a:ln>
        </p:spPr>
        <p:txBody>
          <a:bodyPr/>
          <a:lstStyle/>
          <a:p>
            <a:endParaRPr lang="fr-FR"/>
          </a:p>
        </p:txBody>
      </p:sp>
      <p:sp>
        <p:nvSpPr>
          <p:cNvPr id="7" name="Rectangle 6">
            <a:extLst>
              <a:ext uri="{FF2B5EF4-FFF2-40B4-BE49-F238E27FC236}">
                <a16:creationId xmlns:a16="http://schemas.microsoft.com/office/drawing/2014/main" id="{86FF0F80-7529-451F-AFCE-B0DEEDC39E73}"/>
              </a:ext>
            </a:extLst>
          </p:cNvPr>
          <p:cNvSpPr>
            <a:spLocks noGrp="1"/>
          </p:cNvSpPr>
          <p:nvPr/>
        </p:nvSpPr>
        <p:spPr>
          <a:xfrm>
            <a:off x="857250" y="1905000"/>
            <a:ext cx="2952750" cy="400050"/>
          </a:xfrm>
          <a:prstGeom prst="rect">
            <a:avLst/>
          </a:prstGeom>
          <a:noFill/>
          <a:ln w="0">
            <a:noFill/>
          </a:ln>
        </p:spPr>
        <p:txBody>
          <a:bodyPr anchor="ctr">
            <a:normAutofit/>
          </a:bodyPr>
          <a:lstStyle/>
          <a:p>
            <a:pPr algn="ctr">
              <a:defRPr sz="1800" b="1">
                <a:solidFill>
                  <a:srgbClr val="276A8C"/>
                </a:solidFill>
                <a:latin typeface="DejaVu Sans"/>
                <a:ea typeface="DejaVu Sans"/>
                <a:cs typeface="DejaVu Sans"/>
              </a:defRPr>
            </a:pPr>
            <a:r>
              <a:rPr sz="1800" b="1">
                <a:solidFill>
                  <a:srgbClr val="276A8C"/>
                </a:solidFill>
                <a:latin typeface="DejaVu Sans"/>
                <a:ea typeface="DejaVu Sans"/>
                <a:cs typeface="DejaVu Sans"/>
              </a:rPr>
              <a:t>Climat</a:t>
            </a:r>
          </a:p>
        </p:txBody>
      </p:sp>
      <p:sp>
        <p:nvSpPr>
          <p:cNvPr id="8" name="Rectangle 7">
            <a:extLst>
              <a:ext uri="{FF2B5EF4-FFF2-40B4-BE49-F238E27FC236}">
                <a16:creationId xmlns:a16="http://schemas.microsoft.com/office/drawing/2014/main" id="{2A32D4EF-E547-4368-AF87-0EBDDCC560C5}"/>
              </a:ext>
            </a:extLst>
          </p:cNvPr>
          <p:cNvSpPr>
            <a:spLocks noGrp="1"/>
          </p:cNvSpPr>
          <p:nvPr/>
        </p:nvSpPr>
        <p:spPr>
          <a:xfrm>
            <a:off x="1000125" y="2428875"/>
            <a:ext cx="2667000" cy="19050"/>
          </a:xfrm>
          <a:prstGeom prst="rect">
            <a:avLst/>
          </a:prstGeom>
          <a:solidFill>
            <a:srgbClr val="D9E1E5"/>
          </a:solidFill>
          <a:ln w="0">
            <a:noFill/>
          </a:ln>
        </p:spPr>
        <p:txBody>
          <a:bodyPr/>
          <a:lstStyle/>
          <a:p>
            <a:endParaRPr lang="fr-FR"/>
          </a:p>
        </p:txBody>
      </p:sp>
      <p:sp>
        <p:nvSpPr>
          <p:cNvPr id="9" name="Rectangle 8">
            <a:extLst>
              <a:ext uri="{FF2B5EF4-FFF2-40B4-BE49-F238E27FC236}">
                <a16:creationId xmlns:a16="http://schemas.microsoft.com/office/drawing/2014/main" id="{DB400742-0DBA-4083-9A3F-8622827A5AD1}"/>
              </a:ext>
            </a:extLst>
          </p:cNvPr>
          <p:cNvSpPr>
            <a:spLocks noGrp="1"/>
          </p:cNvSpPr>
          <p:nvPr/>
        </p:nvSpPr>
        <p:spPr>
          <a:xfrm>
            <a:off x="952500" y="2466975"/>
            <a:ext cx="2762250" cy="2262188"/>
          </a:xfrm>
          <a:prstGeom prst="rect">
            <a:avLst/>
          </a:prstGeom>
          <a:noFill/>
          <a:ln w="0">
            <a:noFill/>
          </a:ln>
        </p:spPr>
        <p:txBody>
          <a:bodyPr anchor="ctr">
            <a:normAutofit/>
          </a:bodyPr>
          <a:lstStyle/>
          <a:p>
            <a:pP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Zone </a:t>
            </a:r>
            <a:r>
              <a:rPr lang="fr-FR" sz="1400" b="0" noProof="0" dirty="0">
                <a:solidFill>
                  <a:srgbClr val="1D2935"/>
                </a:solidFill>
                <a:latin typeface="DejaVu Sans"/>
                <a:ea typeface="DejaVu Sans"/>
                <a:cs typeface="DejaVu Sans"/>
              </a:rPr>
              <a:t>sahélienne</a:t>
            </a:r>
            <a:endParaRP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endParaRPr lang="fr-F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Saison </a:t>
            </a:r>
            <a:r>
              <a:rPr lang="fr-FR" sz="1400" b="0" noProof="0" dirty="0">
                <a:solidFill>
                  <a:srgbClr val="1D2935"/>
                </a:solidFill>
                <a:latin typeface="DejaVu Sans"/>
                <a:ea typeface="DejaVu Sans"/>
                <a:cs typeface="DejaVu Sans"/>
              </a:rPr>
              <a:t>sèche</a:t>
            </a:r>
            <a:r>
              <a:rPr sz="1400" b="0" dirty="0">
                <a:solidFill>
                  <a:srgbClr val="1D2935"/>
                </a:solidFill>
                <a:latin typeface="DejaVu Sans"/>
                <a:ea typeface="DejaVu Sans"/>
                <a:cs typeface="DejaVu Sans"/>
              </a:rPr>
              <a:t> : </a:t>
            </a:r>
            <a:endParaRPr lang="fr-F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r>
              <a:rPr lang="fr-FR" sz="1400" b="0" noProof="0" dirty="0">
                <a:solidFill>
                  <a:srgbClr val="1D2935"/>
                </a:solidFill>
                <a:latin typeface="DejaVu Sans"/>
                <a:ea typeface="DejaVu Sans"/>
                <a:cs typeface="DejaVu Sans"/>
              </a:rPr>
              <a:t>octobre</a:t>
            </a:r>
            <a:r>
              <a:rPr sz="1400" b="0" dirty="0">
                <a:solidFill>
                  <a:srgbClr val="1D2935"/>
                </a:solidFill>
                <a:latin typeface="DejaVu Sans"/>
                <a:ea typeface="DejaVu Sans"/>
                <a:cs typeface="DejaVu Sans"/>
              </a:rPr>
              <a:t> à </a:t>
            </a:r>
            <a:r>
              <a:rPr lang="fr-FR" sz="1400" b="0" noProof="0" dirty="0">
                <a:solidFill>
                  <a:srgbClr val="1D2935"/>
                </a:solidFill>
                <a:latin typeface="DejaVu Sans"/>
                <a:ea typeface="DejaVu Sans"/>
                <a:cs typeface="DejaVu Sans"/>
              </a:rPr>
              <a:t>mai</a:t>
            </a:r>
          </a:p>
          <a:p>
            <a:pPr>
              <a:defRPr sz="1425" b="0">
                <a:solidFill>
                  <a:srgbClr val="1D2935"/>
                </a:solidFill>
                <a:latin typeface="DejaVu Sans"/>
                <a:ea typeface="DejaVu Sans"/>
                <a:cs typeface="DejaVu Sans"/>
              </a:defRPr>
            </a:pPr>
            <a:endParaRP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r>
              <a:rPr lang="fr-FR" sz="1400" b="0" noProof="0" dirty="0">
                <a:solidFill>
                  <a:srgbClr val="1D2935"/>
                </a:solidFill>
                <a:latin typeface="DejaVu Sans"/>
                <a:ea typeface="DejaVu Sans"/>
                <a:cs typeface="DejaVu Sans"/>
              </a:rPr>
              <a:t>Pluies</a:t>
            </a:r>
            <a:r>
              <a:rPr sz="1400" b="0" dirty="0">
                <a:solidFill>
                  <a:srgbClr val="1D2935"/>
                </a:solidFill>
                <a:latin typeface="DejaVu Sans"/>
                <a:ea typeface="DejaVu Sans"/>
                <a:cs typeface="DejaVu Sans"/>
              </a:rPr>
              <a:t> : </a:t>
            </a:r>
            <a:endParaRPr lang="fr-F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r>
              <a:rPr sz="1400" b="0" dirty="0" err="1">
                <a:solidFill>
                  <a:srgbClr val="1D2935"/>
                </a:solidFill>
                <a:latin typeface="DejaVu Sans"/>
                <a:ea typeface="DejaVu Sans"/>
                <a:cs typeface="DejaVu Sans"/>
              </a:rPr>
              <a:t>juin</a:t>
            </a:r>
            <a:r>
              <a:rPr sz="1400" b="0" dirty="0">
                <a:solidFill>
                  <a:srgbClr val="1D2935"/>
                </a:solidFill>
                <a:latin typeface="DejaVu Sans"/>
                <a:ea typeface="DejaVu Sans"/>
                <a:cs typeface="DejaVu Sans"/>
              </a:rPr>
              <a:t> à </a:t>
            </a:r>
            <a:r>
              <a:rPr sz="1400" b="0" dirty="0" err="1">
                <a:solidFill>
                  <a:srgbClr val="1D2935"/>
                </a:solidFill>
                <a:latin typeface="DejaVu Sans"/>
                <a:ea typeface="DejaVu Sans"/>
                <a:cs typeface="DejaVu Sans"/>
              </a:rPr>
              <a:t>septembre</a:t>
            </a:r>
            <a:endParaRPr sz="1400" b="0" dirty="0">
              <a:solidFill>
                <a:srgbClr val="1D2935"/>
              </a:solidFill>
              <a:latin typeface="DejaVu Sans"/>
              <a:ea typeface="DejaVu Sans"/>
              <a:cs typeface="DejaVu Sans"/>
            </a:endParaRPr>
          </a:p>
          <a:p>
            <a:pP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600 à 700 mm/an</a:t>
            </a:r>
          </a:p>
        </p:txBody>
      </p:sp>
      <p:sp>
        <p:nvSpPr>
          <p:cNvPr id="10" name="Rectangle : coins arrondis 9">
            <a:extLst>
              <a:ext uri="{FF2B5EF4-FFF2-40B4-BE49-F238E27FC236}">
                <a16:creationId xmlns:a16="http://schemas.microsoft.com/office/drawing/2014/main" id="{A9E32C60-512E-410A-97EA-0C698C6B02BE}"/>
              </a:ext>
            </a:extLst>
          </p:cNvPr>
          <p:cNvSpPr>
            <a:spLocks noGrp="1"/>
          </p:cNvSpPr>
          <p:nvPr/>
        </p:nvSpPr>
        <p:spPr>
          <a:xfrm>
            <a:off x="4333875" y="1666875"/>
            <a:ext cx="3429000" cy="3238500"/>
          </a:xfrm>
          <a:prstGeom prst="roundRect">
            <a:avLst>
              <a:gd name="adj" fmla="val 2353"/>
            </a:avLst>
          </a:prstGeom>
          <a:solidFill>
            <a:srgbClr val="F2F5F5"/>
          </a:solidFill>
          <a:ln w="0">
            <a:noFill/>
          </a:ln>
        </p:spPr>
        <p:txBody>
          <a:bodyPr/>
          <a:lstStyle/>
          <a:p>
            <a:endParaRPr lang="fr-FR"/>
          </a:p>
        </p:txBody>
      </p:sp>
      <p:sp>
        <p:nvSpPr>
          <p:cNvPr id="11" name="Rectangle 10">
            <a:extLst>
              <a:ext uri="{FF2B5EF4-FFF2-40B4-BE49-F238E27FC236}">
                <a16:creationId xmlns:a16="http://schemas.microsoft.com/office/drawing/2014/main" id="{1998BCB3-C11B-4AEB-9447-F00DE7C8CB90}"/>
              </a:ext>
            </a:extLst>
          </p:cNvPr>
          <p:cNvSpPr>
            <a:spLocks noGrp="1"/>
          </p:cNvSpPr>
          <p:nvPr/>
        </p:nvSpPr>
        <p:spPr>
          <a:xfrm>
            <a:off x="4572000" y="1905000"/>
            <a:ext cx="2952750" cy="400050"/>
          </a:xfrm>
          <a:prstGeom prst="rect">
            <a:avLst/>
          </a:prstGeom>
          <a:noFill/>
          <a:ln w="0">
            <a:noFill/>
          </a:ln>
        </p:spPr>
        <p:txBody>
          <a:bodyPr anchor="ctr">
            <a:normAutofit/>
          </a:bodyPr>
          <a:lstStyle/>
          <a:p>
            <a:pPr algn="ctr">
              <a:defRPr sz="1800" b="1">
                <a:solidFill>
                  <a:srgbClr val="276A8C"/>
                </a:solidFill>
                <a:latin typeface="DejaVu Sans"/>
                <a:ea typeface="DejaVu Sans"/>
                <a:cs typeface="DejaVu Sans"/>
              </a:defRPr>
            </a:pPr>
            <a:r>
              <a:rPr sz="1800" b="1">
                <a:solidFill>
                  <a:srgbClr val="276A8C"/>
                </a:solidFill>
                <a:latin typeface="DejaVu Sans"/>
                <a:ea typeface="DejaVu Sans"/>
                <a:cs typeface="DejaVu Sans"/>
              </a:rPr>
              <a:t>Végétation</a:t>
            </a:r>
          </a:p>
        </p:txBody>
      </p:sp>
      <p:sp>
        <p:nvSpPr>
          <p:cNvPr id="12" name="Rectangle 11">
            <a:extLst>
              <a:ext uri="{FF2B5EF4-FFF2-40B4-BE49-F238E27FC236}">
                <a16:creationId xmlns:a16="http://schemas.microsoft.com/office/drawing/2014/main" id="{319FAD41-0212-4056-B4EC-FB1CEDEA214F}"/>
              </a:ext>
            </a:extLst>
          </p:cNvPr>
          <p:cNvSpPr>
            <a:spLocks noGrp="1"/>
          </p:cNvSpPr>
          <p:nvPr/>
        </p:nvSpPr>
        <p:spPr>
          <a:xfrm>
            <a:off x="4714875" y="2428875"/>
            <a:ext cx="2667000" cy="19050"/>
          </a:xfrm>
          <a:prstGeom prst="rect">
            <a:avLst/>
          </a:prstGeom>
          <a:solidFill>
            <a:srgbClr val="D9E1E5"/>
          </a:solidFill>
          <a:ln w="0">
            <a:noFill/>
          </a:ln>
        </p:spPr>
        <p:txBody>
          <a:bodyPr/>
          <a:lstStyle/>
          <a:p>
            <a:endParaRPr lang="fr-FR"/>
          </a:p>
        </p:txBody>
      </p:sp>
      <p:sp>
        <p:nvSpPr>
          <p:cNvPr id="13" name="Rectangle 12">
            <a:extLst>
              <a:ext uri="{FF2B5EF4-FFF2-40B4-BE49-F238E27FC236}">
                <a16:creationId xmlns:a16="http://schemas.microsoft.com/office/drawing/2014/main" id="{57E6C796-F0A2-40A4-B6A0-631A7ABE5D4E}"/>
              </a:ext>
            </a:extLst>
          </p:cNvPr>
          <p:cNvSpPr>
            <a:spLocks noGrp="1"/>
          </p:cNvSpPr>
          <p:nvPr/>
        </p:nvSpPr>
        <p:spPr>
          <a:xfrm>
            <a:off x="4572000" y="2714625"/>
            <a:ext cx="2952750" cy="1619250"/>
          </a:xfrm>
          <a:prstGeom prst="rect">
            <a:avLst/>
          </a:prstGeom>
          <a:noFill/>
          <a:ln w="0">
            <a:noFill/>
          </a:ln>
        </p:spPr>
        <p:txBody>
          <a:bodyPr anchor="ctr">
            <a:normAutofit/>
          </a:bodyPr>
          <a:lstStyle/>
          <a:p>
            <a:pPr marL="285750" indent="-285750">
              <a:buFontTx/>
              <a:buChar cha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Steppes </a:t>
            </a:r>
            <a:r>
              <a:rPr lang="fr-FR" sz="1400" b="0" noProof="0" dirty="0">
                <a:solidFill>
                  <a:srgbClr val="1D2935"/>
                </a:solidFill>
                <a:latin typeface="DejaVu Sans"/>
                <a:ea typeface="DejaVu Sans"/>
                <a:cs typeface="DejaVu Sans"/>
              </a:rPr>
              <a:t>épineuses</a:t>
            </a:r>
            <a:endParaRPr lang="fr-FR" sz="1400" dirty="0">
              <a:solidFill>
                <a:srgbClr val="1D2935"/>
              </a:solidFill>
              <a:latin typeface="DejaVu Sans"/>
              <a:ea typeface="DejaVu Sans"/>
              <a:cs typeface="DejaVu Sans"/>
            </a:endParaRPr>
          </a:p>
          <a:p>
            <a:pPr marL="285750" indent="-285750">
              <a:buFontTx/>
              <a:buChar cha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Couverture </a:t>
            </a:r>
            <a:r>
              <a:rPr lang="fr-FR" sz="1400" b="0" noProof="0" dirty="0">
                <a:solidFill>
                  <a:srgbClr val="1D2935"/>
                </a:solidFill>
                <a:latin typeface="DejaVu Sans"/>
                <a:ea typeface="DejaVu Sans"/>
                <a:cs typeface="DejaVu Sans"/>
              </a:rPr>
              <a:t>clairsemée</a:t>
            </a:r>
            <a:endParaRPr lang="fr-FR" sz="1400" dirty="0">
              <a:solidFill>
                <a:srgbClr val="1D2935"/>
              </a:solidFill>
              <a:latin typeface="DejaVu Sans"/>
              <a:ea typeface="DejaVu Sans"/>
              <a:cs typeface="DejaVu Sans"/>
            </a:endParaRPr>
          </a:p>
          <a:p>
            <a:pPr marL="285750" indent="-285750">
              <a:buFontTx/>
              <a:buChar char="-"/>
              <a:defRPr sz="1425" b="0">
                <a:solidFill>
                  <a:srgbClr val="1D2935"/>
                </a:solidFill>
                <a:latin typeface="DejaVu Sans"/>
                <a:ea typeface="DejaVu Sans"/>
                <a:cs typeface="DejaVu Sans"/>
              </a:defRPr>
            </a:pPr>
            <a:r>
              <a:rPr sz="1400" b="0" dirty="0">
                <a:solidFill>
                  <a:srgbClr val="1D2935"/>
                </a:solidFill>
                <a:latin typeface="DejaVu Sans"/>
                <a:ea typeface="DejaVu Sans"/>
                <a:cs typeface="DejaVu Sans"/>
              </a:rPr>
              <a:t>Neem </a:t>
            </a:r>
            <a:r>
              <a:rPr lang="fr-FR" sz="1400" b="0" noProof="0" dirty="0">
                <a:solidFill>
                  <a:srgbClr val="1D2935"/>
                </a:solidFill>
                <a:latin typeface="DejaVu Sans"/>
                <a:ea typeface="DejaVu Sans"/>
                <a:cs typeface="DejaVu Sans"/>
              </a:rPr>
              <a:t>fréquent</a:t>
            </a:r>
            <a:r>
              <a:rPr sz="1400" b="0" dirty="0">
                <a:solidFill>
                  <a:srgbClr val="1D2935"/>
                </a:solidFill>
                <a:latin typeface="DejaVu Sans"/>
                <a:ea typeface="DejaVu Sans"/>
                <a:cs typeface="DejaVu Sans"/>
              </a:rPr>
              <a:t> dans les concessions</a:t>
            </a:r>
          </a:p>
        </p:txBody>
      </p:sp>
      <p:sp>
        <p:nvSpPr>
          <p:cNvPr id="14" name="Rectangle : coins arrondis 13">
            <a:extLst>
              <a:ext uri="{FF2B5EF4-FFF2-40B4-BE49-F238E27FC236}">
                <a16:creationId xmlns:a16="http://schemas.microsoft.com/office/drawing/2014/main" id="{9D95B599-8BD9-478D-BD80-6BDC2F9BAAC7}"/>
              </a:ext>
            </a:extLst>
          </p:cNvPr>
          <p:cNvSpPr>
            <a:spLocks noGrp="1"/>
          </p:cNvSpPr>
          <p:nvPr/>
        </p:nvSpPr>
        <p:spPr>
          <a:xfrm>
            <a:off x="8048625" y="1666875"/>
            <a:ext cx="3429000" cy="3238500"/>
          </a:xfrm>
          <a:prstGeom prst="roundRect">
            <a:avLst>
              <a:gd name="adj" fmla="val 2353"/>
            </a:avLst>
          </a:prstGeom>
          <a:solidFill>
            <a:srgbClr val="F2F5F5"/>
          </a:solidFill>
          <a:ln w="0">
            <a:noFill/>
          </a:ln>
        </p:spPr>
        <p:txBody>
          <a:bodyPr/>
          <a:lstStyle/>
          <a:p>
            <a:endParaRPr lang="fr-FR"/>
          </a:p>
        </p:txBody>
      </p:sp>
      <p:sp>
        <p:nvSpPr>
          <p:cNvPr id="15" name="Rectangle 14">
            <a:extLst>
              <a:ext uri="{FF2B5EF4-FFF2-40B4-BE49-F238E27FC236}">
                <a16:creationId xmlns:a16="http://schemas.microsoft.com/office/drawing/2014/main" id="{D35DD6A1-ADD2-488B-8931-D0A1E0D7DD65}"/>
              </a:ext>
            </a:extLst>
          </p:cNvPr>
          <p:cNvSpPr>
            <a:spLocks noGrp="1"/>
          </p:cNvSpPr>
          <p:nvPr/>
        </p:nvSpPr>
        <p:spPr>
          <a:xfrm>
            <a:off x="8286750" y="1905000"/>
            <a:ext cx="2952750" cy="400050"/>
          </a:xfrm>
          <a:prstGeom prst="rect">
            <a:avLst/>
          </a:prstGeom>
          <a:noFill/>
          <a:ln w="0">
            <a:noFill/>
          </a:ln>
        </p:spPr>
        <p:txBody>
          <a:bodyPr anchor="ctr">
            <a:normAutofit/>
          </a:bodyPr>
          <a:lstStyle/>
          <a:p>
            <a:pPr algn="ctr">
              <a:defRPr sz="1800" b="1">
                <a:solidFill>
                  <a:srgbClr val="276A8C"/>
                </a:solidFill>
                <a:latin typeface="DejaVu Sans"/>
                <a:ea typeface="DejaVu Sans"/>
                <a:cs typeface="DejaVu Sans"/>
              </a:defRPr>
            </a:pPr>
            <a:r>
              <a:rPr sz="1800" b="1">
                <a:solidFill>
                  <a:srgbClr val="276A8C"/>
                </a:solidFill>
                <a:latin typeface="DejaVu Sans"/>
                <a:ea typeface="DejaVu Sans"/>
                <a:cs typeface="DejaVu Sans"/>
              </a:rPr>
              <a:t>Hydrographie</a:t>
            </a:r>
          </a:p>
        </p:txBody>
      </p:sp>
      <p:sp>
        <p:nvSpPr>
          <p:cNvPr id="16" name="Rectangle 15">
            <a:extLst>
              <a:ext uri="{FF2B5EF4-FFF2-40B4-BE49-F238E27FC236}">
                <a16:creationId xmlns:a16="http://schemas.microsoft.com/office/drawing/2014/main" id="{F71E551B-3B42-4FD0-A579-73AA9A6FDAFF}"/>
              </a:ext>
            </a:extLst>
          </p:cNvPr>
          <p:cNvSpPr>
            <a:spLocks noGrp="1"/>
          </p:cNvSpPr>
          <p:nvPr/>
        </p:nvSpPr>
        <p:spPr>
          <a:xfrm>
            <a:off x="8429625" y="2428875"/>
            <a:ext cx="2667000" cy="19050"/>
          </a:xfrm>
          <a:prstGeom prst="rect">
            <a:avLst/>
          </a:prstGeom>
          <a:solidFill>
            <a:srgbClr val="D9E1E5"/>
          </a:solidFill>
          <a:ln w="0">
            <a:noFill/>
          </a:ln>
        </p:spPr>
        <p:txBody>
          <a:bodyPr/>
          <a:lstStyle/>
          <a:p>
            <a:endParaRPr lang="fr-FR"/>
          </a:p>
        </p:txBody>
      </p:sp>
      <p:sp>
        <p:nvSpPr>
          <p:cNvPr id="17" name="Rectangle 16">
            <a:extLst>
              <a:ext uri="{FF2B5EF4-FFF2-40B4-BE49-F238E27FC236}">
                <a16:creationId xmlns:a16="http://schemas.microsoft.com/office/drawing/2014/main" id="{22569A67-B869-4E9D-8CA1-909AC0303AE5}"/>
              </a:ext>
            </a:extLst>
          </p:cNvPr>
          <p:cNvSpPr>
            <a:spLocks noGrp="1"/>
          </p:cNvSpPr>
          <p:nvPr/>
        </p:nvSpPr>
        <p:spPr>
          <a:xfrm>
            <a:off x="8382000" y="2714625"/>
            <a:ext cx="2762250" cy="1619250"/>
          </a:xfrm>
          <a:prstGeom prst="rect">
            <a:avLst/>
          </a:prstGeom>
          <a:noFill/>
          <a:ln w="0">
            <a:noFill/>
          </a:ln>
        </p:spPr>
        <p:txBody>
          <a:bodyPr anchor="ctr">
            <a:normAutofit/>
          </a:bodyPr>
          <a:lstStyle/>
          <a:p>
            <a:pPr marL="285750" indent="-285750">
              <a:buFontTx/>
              <a:buChar char="-"/>
              <a:defRPr sz="1425" b="0">
                <a:solidFill>
                  <a:srgbClr val="1D2935"/>
                </a:solidFill>
                <a:latin typeface="DejaVu Sans"/>
                <a:ea typeface="DejaVu Sans"/>
                <a:cs typeface="DejaVu Sans"/>
              </a:defRPr>
            </a:pPr>
            <a:r>
              <a:rPr lang="fr-FR" sz="1425" b="0" noProof="0" dirty="0">
                <a:solidFill>
                  <a:srgbClr val="1D2935"/>
                </a:solidFill>
                <a:latin typeface="DejaVu Sans"/>
                <a:ea typeface="DejaVu Sans"/>
                <a:cs typeface="DejaVu Sans"/>
              </a:rPr>
              <a:t>Fleuve</a:t>
            </a:r>
            <a:r>
              <a:rPr sz="1425" b="0" dirty="0">
                <a:solidFill>
                  <a:srgbClr val="1D2935"/>
                </a:solidFill>
                <a:latin typeface="DejaVu Sans"/>
                <a:ea typeface="DejaVu Sans"/>
                <a:cs typeface="DejaVu Sans"/>
              </a:rPr>
              <a:t> Sénégal</a:t>
            </a:r>
            <a:endParaRPr lang="fr-FR" sz="1425" b="0" dirty="0">
              <a:solidFill>
                <a:srgbClr val="1D2935"/>
              </a:solidFill>
              <a:latin typeface="DejaVu Sans"/>
              <a:ea typeface="DejaVu Sans"/>
              <a:cs typeface="DejaVu Sans"/>
            </a:endParaRPr>
          </a:p>
          <a:p>
            <a:pPr marL="285750" indent="-285750">
              <a:buFontTx/>
              <a:buChar char="-"/>
              <a:defRPr sz="1425" b="0">
                <a:solidFill>
                  <a:srgbClr val="1D2935"/>
                </a:solidFill>
                <a:latin typeface="DejaVu Sans"/>
                <a:ea typeface="DejaVu Sans"/>
                <a:cs typeface="DejaVu Sans"/>
              </a:defRPr>
            </a:pPr>
            <a:r>
              <a:rPr sz="1425" b="0" dirty="0">
                <a:solidFill>
                  <a:srgbClr val="1D2935"/>
                </a:solidFill>
                <a:latin typeface="DejaVu Sans"/>
                <a:ea typeface="DejaVu Sans"/>
                <a:cs typeface="DejaVu Sans"/>
              </a:rPr>
              <a:t>Cours d’eau Papara et</a:t>
            </a:r>
            <a:endParaRPr lang="fr-FR" sz="1425" dirty="0">
              <a:solidFill>
                <a:srgbClr val="1D2935"/>
              </a:solidFill>
              <a:latin typeface="DejaVu Sans"/>
              <a:ea typeface="DejaVu Sans"/>
              <a:cs typeface="DejaVu Sans"/>
            </a:endParaRPr>
          </a:p>
          <a:p>
            <a:pPr marL="285750" indent="-285750">
              <a:buFontTx/>
              <a:buChar char="-"/>
              <a:defRPr sz="1425" b="0">
                <a:solidFill>
                  <a:srgbClr val="1D2935"/>
                </a:solidFill>
                <a:latin typeface="DejaVu Sans"/>
                <a:ea typeface="DejaVu Sans"/>
                <a:cs typeface="DejaVu Sans"/>
              </a:defRPr>
            </a:pPr>
            <a:r>
              <a:rPr sz="1425" b="0" dirty="0" err="1">
                <a:solidFill>
                  <a:srgbClr val="1D2935"/>
                </a:solidFill>
                <a:latin typeface="DejaVu Sans"/>
                <a:ea typeface="DejaVu Sans"/>
                <a:cs typeface="DejaVu Sans"/>
              </a:rPr>
              <a:t>Kamankolé</a:t>
            </a:r>
            <a:endParaRPr sz="1425" b="0" dirty="0">
              <a:solidFill>
                <a:srgbClr val="1D2935"/>
              </a:solidFill>
              <a:latin typeface="DejaVu Sans"/>
              <a:ea typeface="DejaVu Sans"/>
              <a:cs typeface="DejaVu Sans"/>
            </a:endParaRPr>
          </a:p>
        </p:txBody>
      </p:sp>
      <p:sp>
        <p:nvSpPr>
          <p:cNvPr id="21" name="Rectangle 20">
            <a:extLst>
              <a:ext uri="{FF2B5EF4-FFF2-40B4-BE49-F238E27FC236}">
                <a16:creationId xmlns:a16="http://schemas.microsoft.com/office/drawing/2014/main" id="{BDF49DC3-A53B-D3DE-490E-4CF8CFF4C7C6}"/>
              </a:ext>
            </a:extLst>
          </p:cNvPr>
          <p:cNvSpPr>
            <a:spLocks noGrp="1"/>
          </p:cNvSpPr>
          <p:nvPr/>
        </p:nvSpPr>
        <p:spPr>
          <a:xfrm>
            <a:off x="533400" y="185738"/>
            <a:ext cx="2909888" cy="342900"/>
          </a:xfrm>
          <a:prstGeom prst="rect">
            <a:avLst/>
          </a:prstGeom>
          <a:noFill/>
          <a:ln w="0">
            <a:noFill/>
          </a:ln>
        </p:spPr>
        <p:txBody>
          <a:bodyPr anchor="ctr">
            <a:noAutofit/>
          </a:bodyPr>
          <a:lstStyle/>
          <a:p>
            <a:r>
              <a:rPr lang="fr-FR" b="1" dirty="0">
                <a:solidFill>
                  <a:srgbClr val="455360"/>
                </a:solidFill>
                <a:latin typeface="DejaVu Sans"/>
              </a:rPr>
              <a:t>II. PRÉSENTATION DE LA VILLE</a:t>
            </a:r>
          </a:p>
        </p:txBody>
      </p:sp>
    </p:spTree>
    <p:extLst>
      <p:ext uri="{BB962C8B-B14F-4D97-AF65-F5344CB8AC3E}">
        <p14:creationId xmlns:p14="http://schemas.microsoft.com/office/powerpoint/2010/main" val="79905202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307A747-1ACC-4DAA-BE86-C2D97F8C43A8}"/>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3" name="Rectangle 2">
            <a:extLst>
              <a:ext uri="{FF2B5EF4-FFF2-40B4-BE49-F238E27FC236}">
                <a16:creationId xmlns:a16="http://schemas.microsoft.com/office/drawing/2014/main" id="{8AD63855-25B2-4B3E-9F20-1FCBA53A7353}"/>
              </a:ext>
            </a:extLst>
          </p:cNvPr>
          <p:cNvSpPr>
            <a:spLocks noGrp="1"/>
          </p:cNvSpPr>
          <p:nvPr/>
        </p:nvSpPr>
        <p:spPr>
          <a:xfrm>
            <a:off x="552450" y="790575"/>
            <a:ext cx="7620000" cy="342901"/>
          </a:xfrm>
          <a:prstGeom prst="rect">
            <a:avLst/>
          </a:prstGeom>
          <a:noFill/>
          <a:ln w="0">
            <a:noFill/>
          </a:ln>
        </p:spPr>
        <p:txBody>
          <a:bodyPr anchor="ctr">
            <a:noAutofit/>
          </a:bodyPr>
          <a:lstStyle/>
          <a:p>
            <a:pPr algn="l">
              <a:defRPr sz="900" b="1">
                <a:solidFill>
                  <a:srgbClr val="276A8C"/>
                </a:solidFill>
                <a:latin typeface="DejaVu Sans"/>
                <a:ea typeface="DejaVu Sans"/>
                <a:cs typeface="DejaVu Sans"/>
              </a:defRPr>
            </a:pPr>
            <a:r>
              <a:rPr lang="fr-FR" sz="1300" b="1" dirty="0">
                <a:solidFill>
                  <a:srgbClr val="276A8C"/>
                </a:solidFill>
                <a:latin typeface="DejaVu Sans"/>
                <a:ea typeface="DejaVu Sans"/>
                <a:cs typeface="DejaVu Sans"/>
              </a:rPr>
              <a:t>Population de la ville en 2025</a:t>
            </a:r>
          </a:p>
        </p:txBody>
      </p:sp>
      <p:sp>
        <p:nvSpPr>
          <p:cNvPr id="4" name="Rectangle 3">
            <a:extLst>
              <a:ext uri="{FF2B5EF4-FFF2-40B4-BE49-F238E27FC236}">
                <a16:creationId xmlns:a16="http://schemas.microsoft.com/office/drawing/2014/main" id="{AB507E0C-A2C3-48A8-9880-42A734129CB8}"/>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7932D60C-5213-434F-B1B2-7EAB4D2F8A38}"/>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09</a:t>
            </a:r>
          </a:p>
        </p:txBody>
      </p:sp>
      <p:graphicFrame>
        <p:nvGraphicFramePr>
          <p:cNvPr id="17" name="Chart"/>
          <p:cNvGraphicFramePr/>
          <p:nvPr>
            <p:extLst>
              <p:ext uri="{D42A27DB-BD31-4B8C-83A1-F6EECF244321}">
                <p14:modId xmlns:p14="http://schemas.microsoft.com/office/powerpoint/2010/main" val="2858469020"/>
              </p:ext>
            </p:extLst>
          </p:nvPr>
        </p:nvGraphicFramePr>
        <p:xfrm>
          <a:off x="666750" y="1476375"/>
          <a:ext cx="7239000" cy="43624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94A877D1-3512-41D8-B9D0-DF3543CF691C}"/>
              </a:ext>
            </a:extLst>
          </p:cNvPr>
          <p:cNvSpPr>
            <a:spLocks noGrp="1"/>
          </p:cNvSpPr>
          <p:nvPr/>
        </p:nvSpPr>
        <p:spPr>
          <a:xfrm>
            <a:off x="8763000" y="1809750"/>
            <a:ext cx="22860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204 490</a:t>
            </a:r>
          </a:p>
        </p:txBody>
      </p:sp>
      <p:sp>
        <p:nvSpPr>
          <p:cNvPr id="8" name="Rectangle 7">
            <a:extLst>
              <a:ext uri="{FF2B5EF4-FFF2-40B4-BE49-F238E27FC236}">
                <a16:creationId xmlns:a16="http://schemas.microsoft.com/office/drawing/2014/main" id="{90AF3358-0DBF-40AA-9755-7D7B70C09034}"/>
              </a:ext>
            </a:extLst>
          </p:cNvPr>
          <p:cNvSpPr>
            <a:spLocks noGrp="1"/>
          </p:cNvSpPr>
          <p:nvPr/>
        </p:nvSpPr>
        <p:spPr>
          <a:xfrm>
            <a:off x="8763000" y="2400300"/>
            <a:ext cx="22860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habitants</a:t>
            </a:r>
          </a:p>
        </p:txBody>
      </p:sp>
      <p:sp>
        <p:nvSpPr>
          <p:cNvPr id="9" name="Rectangle 8">
            <a:extLst>
              <a:ext uri="{FF2B5EF4-FFF2-40B4-BE49-F238E27FC236}">
                <a16:creationId xmlns:a16="http://schemas.microsoft.com/office/drawing/2014/main" id="{FD2F0D20-3696-47D4-9842-76F666CD9F15}"/>
              </a:ext>
            </a:extLst>
          </p:cNvPr>
          <p:cNvSpPr>
            <a:spLocks noGrp="1"/>
          </p:cNvSpPr>
          <p:nvPr/>
        </p:nvSpPr>
        <p:spPr>
          <a:xfrm>
            <a:off x="8763000" y="3190875"/>
            <a:ext cx="2476500" cy="590550"/>
          </a:xfrm>
          <a:prstGeom prst="rect">
            <a:avLst/>
          </a:prstGeom>
          <a:noFill/>
          <a:ln w="0">
            <a:noFill/>
          </a:ln>
        </p:spPr>
        <p:txBody>
          <a:bodyPr anchor="ctr">
            <a:normAutofit/>
          </a:bodyPr>
          <a:lstStyle/>
          <a:p>
            <a:pPr algn="l">
              <a:defRPr sz="2775" b="1">
                <a:solidFill>
                  <a:srgbClr val="E8C47A"/>
                </a:solidFill>
                <a:latin typeface="DejaVu Sans"/>
                <a:ea typeface="DejaVu Sans"/>
                <a:cs typeface="DejaVu Sans"/>
              </a:defRPr>
            </a:pPr>
            <a:r>
              <a:rPr sz="2775" b="1">
                <a:solidFill>
                  <a:srgbClr val="E8C47A"/>
                </a:solidFill>
                <a:latin typeface="DejaVu Sans"/>
                <a:ea typeface="DejaVu Sans"/>
                <a:cs typeface="DejaVu Sans"/>
              </a:rPr>
              <a:t>44 %</a:t>
            </a:r>
          </a:p>
        </p:txBody>
      </p:sp>
      <p:sp>
        <p:nvSpPr>
          <p:cNvPr id="10" name="Rectangle 9">
            <a:extLst>
              <a:ext uri="{FF2B5EF4-FFF2-40B4-BE49-F238E27FC236}">
                <a16:creationId xmlns:a16="http://schemas.microsoft.com/office/drawing/2014/main" id="{32720C0C-1E07-4CFB-9BDB-43F292830DFD}"/>
              </a:ext>
            </a:extLst>
          </p:cNvPr>
          <p:cNvSpPr>
            <a:spLocks noGrp="1"/>
          </p:cNvSpPr>
          <p:nvPr/>
        </p:nvSpPr>
        <p:spPr>
          <a:xfrm>
            <a:off x="8763000" y="3781425"/>
            <a:ext cx="2476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à Kayes N’di et Lafiabougou</a:t>
            </a:r>
          </a:p>
        </p:txBody>
      </p:sp>
      <p:sp>
        <p:nvSpPr>
          <p:cNvPr id="11" name="Rectangle 10">
            <a:extLst>
              <a:ext uri="{FF2B5EF4-FFF2-40B4-BE49-F238E27FC236}">
                <a16:creationId xmlns:a16="http://schemas.microsoft.com/office/drawing/2014/main" id="{8EC75FE4-E649-4244-934E-999A4FCC37DF}"/>
              </a:ext>
            </a:extLst>
          </p:cNvPr>
          <p:cNvSpPr>
            <a:spLocks noGrp="1"/>
          </p:cNvSpPr>
          <p:nvPr/>
        </p:nvSpPr>
        <p:spPr>
          <a:xfrm>
            <a:off x="8763000" y="4619625"/>
            <a:ext cx="2381250" cy="809625"/>
          </a:xfrm>
          <a:prstGeom prst="rect">
            <a:avLst/>
          </a:prstGeom>
          <a:noFill/>
          <a:ln w="0">
            <a:noFill/>
          </a:ln>
        </p:spPr>
        <p:txBody>
          <a:bodyPr anchor="ctr">
            <a:normAutofit/>
          </a:bodyPr>
          <a:lstStyle/>
          <a:p>
            <a:pPr algn="l">
              <a:defRPr sz="1125" b="0">
                <a:solidFill>
                  <a:srgbClr val="647481"/>
                </a:solidFill>
                <a:latin typeface="DejaVu Sans"/>
                <a:ea typeface="DejaVu Sans"/>
                <a:cs typeface="DejaVu Sans"/>
              </a:defRPr>
            </a:pPr>
            <a:r>
              <a:rPr lang="fr-FR" sz="1125" b="0" noProof="0" dirty="0">
                <a:latin typeface="DejaVu Sans"/>
                <a:ea typeface="DejaVu Sans"/>
                <a:cs typeface="DejaVu Sans"/>
              </a:rPr>
              <a:t>Lafiabougou inclut Lafiabougou Sud pour la continuité statistique avec le RGPH 2009.</a:t>
            </a:r>
          </a:p>
        </p:txBody>
      </p:sp>
      <p:sp>
        <p:nvSpPr>
          <p:cNvPr id="13" name="Rectangle 12">
            <a:extLst>
              <a:ext uri="{FF2B5EF4-FFF2-40B4-BE49-F238E27FC236}">
                <a16:creationId xmlns:a16="http://schemas.microsoft.com/office/drawing/2014/main" id="{80105405-9235-9256-7498-1E6115C795EF}"/>
              </a:ext>
            </a:extLst>
          </p:cNvPr>
          <p:cNvSpPr>
            <a:spLocks noGrp="1"/>
          </p:cNvSpPr>
          <p:nvPr/>
        </p:nvSpPr>
        <p:spPr>
          <a:xfrm>
            <a:off x="533400" y="185738"/>
            <a:ext cx="2909888" cy="342900"/>
          </a:xfrm>
          <a:prstGeom prst="rect">
            <a:avLst/>
          </a:prstGeom>
          <a:noFill/>
          <a:ln w="0">
            <a:noFill/>
          </a:ln>
        </p:spPr>
        <p:txBody>
          <a:bodyPr anchor="ctr">
            <a:noAutofit/>
          </a:bodyPr>
          <a:lstStyle/>
          <a:p>
            <a:r>
              <a:rPr lang="fr-FR" b="1" dirty="0">
                <a:solidFill>
                  <a:srgbClr val="455360"/>
                </a:solidFill>
                <a:latin typeface="DejaVu Sans"/>
              </a:rPr>
              <a:t>II. PRÉSENTATION DE LA VILLE</a:t>
            </a:r>
          </a:p>
        </p:txBody>
      </p:sp>
    </p:spTree>
    <p:extLst>
      <p:ext uri="{BB962C8B-B14F-4D97-AF65-F5344CB8AC3E}">
        <p14:creationId xmlns:p14="http://schemas.microsoft.com/office/powerpoint/2010/main" val="52843553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228D226D-B0DE-7F5A-A3DD-99180F222B6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EB42491-CADE-0197-A5AF-362B0942FEEA}"/>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A0BD62C1-BAAB-41E5-5985-1420F1DA9927}"/>
              </a:ext>
            </a:extLst>
          </p:cNvPr>
          <p:cNvSpPr>
            <a:spLocks noGrp="1"/>
          </p:cNvSpPr>
          <p:nvPr/>
        </p:nvSpPr>
        <p:spPr>
          <a:xfrm>
            <a:off x="762000" y="1190625"/>
            <a:ext cx="1905000" cy="762000"/>
          </a:xfrm>
          <a:prstGeom prst="rect">
            <a:avLst/>
          </a:prstGeom>
          <a:noFill/>
          <a:ln w="0">
            <a:noFill/>
          </a:ln>
        </p:spPr>
        <p:txBody>
          <a:bodyPr anchor="ctr">
            <a:normAutofit/>
          </a:bodyPr>
          <a:lstStyle/>
          <a:p>
            <a:pPr algn="l">
              <a:defRPr sz="4200" b="1">
                <a:solidFill>
                  <a:srgbClr val="E8C47A"/>
                </a:solidFill>
                <a:latin typeface="DejaVu Sans"/>
                <a:ea typeface="DejaVu Sans"/>
                <a:cs typeface="DejaVu Sans"/>
              </a:defRPr>
            </a:pPr>
            <a:r>
              <a:rPr sz="4200" b="1">
                <a:solidFill>
                  <a:srgbClr val="E8C47A"/>
                </a:solidFill>
                <a:latin typeface="DejaVu Sans"/>
                <a:ea typeface="DejaVu Sans"/>
                <a:cs typeface="DejaVu Sans"/>
              </a:rPr>
              <a:t>III</a:t>
            </a:r>
          </a:p>
        </p:txBody>
      </p:sp>
      <p:sp>
        <p:nvSpPr>
          <p:cNvPr id="3" name="Rectangle 2">
            <a:extLst>
              <a:ext uri="{FF2B5EF4-FFF2-40B4-BE49-F238E27FC236}">
                <a16:creationId xmlns:a16="http://schemas.microsoft.com/office/drawing/2014/main" id="{864CEED9-7918-0F74-9FAD-2BE137830BE4}"/>
              </a:ext>
            </a:extLst>
          </p:cNvPr>
          <p:cNvSpPr>
            <a:spLocks noGrp="1"/>
          </p:cNvSpPr>
          <p:nvPr/>
        </p:nvSpPr>
        <p:spPr>
          <a:xfrm>
            <a:off x="762000" y="2190750"/>
            <a:ext cx="10001250" cy="952500"/>
          </a:xfrm>
          <a:prstGeom prst="rect">
            <a:avLst/>
          </a:prstGeom>
          <a:noFill/>
          <a:ln w="0">
            <a:noFill/>
          </a:ln>
        </p:spPr>
        <p:txBody>
          <a:bodyPr anchor="ctr">
            <a:normAutofit/>
          </a:bodyPr>
          <a:lstStyle/>
          <a:p>
            <a:pPr algn="l">
              <a:defRPr sz="3150" b="1">
                <a:solidFill>
                  <a:srgbClr val="FFFFFF"/>
                </a:solidFill>
                <a:latin typeface="DejaVu Sans"/>
                <a:ea typeface="DejaVu Sans"/>
                <a:cs typeface="DejaVu Sans"/>
              </a:defRPr>
            </a:pPr>
            <a:r>
              <a:rPr sz="3150" b="1">
                <a:solidFill>
                  <a:srgbClr val="FFFFFF"/>
                </a:solidFill>
                <a:latin typeface="DejaVu Sans"/>
                <a:ea typeface="DejaVu Sans"/>
                <a:cs typeface="DejaVu Sans"/>
              </a:rPr>
              <a:t>Accès aux services sociaux de base</a:t>
            </a:r>
          </a:p>
        </p:txBody>
      </p:sp>
      <p:sp>
        <p:nvSpPr>
          <p:cNvPr id="4" name="Rectangle 3">
            <a:extLst>
              <a:ext uri="{FF2B5EF4-FFF2-40B4-BE49-F238E27FC236}">
                <a16:creationId xmlns:a16="http://schemas.microsoft.com/office/drawing/2014/main" id="{47200141-975D-5ADE-118B-33BE6767AE98}"/>
              </a:ext>
            </a:extLst>
          </p:cNvPr>
          <p:cNvSpPr>
            <a:spLocks noGrp="1"/>
          </p:cNvSpPr>
          <p:nvPr/>
        </p:nvSpPr>
        <p:spPr>
          <a:xfrm>
            <a:off x="781050" y="3429000"/>
            <a:ext cx="8572500" cy="762000"/>
          </a:xfrm>
          <a:prstGeom prst="rect">
            <a:avLst/>
          </a:prstGeom>
          <a:noFill/>
          <a:ln w="0">
            <a:noFill/>
          </a:ln>
        </p:spPr>
        <p:txBody>
          <a:bodyPr anchor="ctr">
            <a:normAutofit/>
          </a:bodyPr>
          <a:lstStyle/>
          <a:p>
            <a:pPr algn="l">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Eau potable · Électricité · Santé · Éducation · Assainissement</a:t>
            </a:r>
          </a:p>
        </p:txBody>
      </p:sp>
    </p:spTree>
    <p:extLst>
      <p:ext uri="{BB962C8B-B14F-4D97-AF65-F5344CB8AC3E}">
        <p14:creationId xmlns:p14="http://schemas.microsoft.com/office/powerpoint/2010/main" val="277289490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5B313E2-2267-4596-A204-ABBB6469C2B7}"/>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5B6D807C-001C-4613-8A9B-22D9AFD49D46}"/>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Abonnés SOMAGEP et points d’eau publics</a:t>
            </a:r>
          </a:p>
        </p:txBody>
      </p:sp>
      <p:sp>
        <p:nvSpPr>
          <p:cNvPr id="3" name="Rectangle 2">
            <a:extLst>
              <a:ext uri="{FF2B5EF4-FFF2-40B4-BE49-F238E27FC236}">
                <a16:creationId xmlns:a16="http://schemas.microsoft.com/office/drawing/2014/main" id="{EA9C0201-9422-42AF-8427-105E104EA2C4}"/>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D1C9F141-1A0F-4A55-A639-C52DF10F26E0}"/>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19E4D781-1A59-4F9B-B23B-E0197B596545}"/>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11</a:t>
            </a:r>
          </a:p>
        </p:txBody>
      </p:sp>
      <p:graphicFrame>
        <p:nvGraphicFramePr>
          <p:cNvPr id="18" name="Chart"/>
          <p:cNvGraphicFramePr/>
          <p:nvPr>
            <p:extLst>
              <p:ext uri="{D42A27DB-BD31-4B8C-83A1-F6EECF244321}">
                <p14:modId xmlns:p14="http://schemas.microsoft.com/office/powerpoint/2010/main" val="2639836842"/>
              </p:ext>
            </p:extLst>
          </p:nvPr>
        </p:nvGraphicFramePr>
        <p:xfrm>
          <a:off x="666750" y="1524000"/>
          <a:ext cx="619125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2FA0EB3F-5958-4B36-967F-C25E8988D874}"/>
              </a:ext>
            </a:extLst>
          </p:cNvPr>
          <p:cNvSpPr>
            <a:spLocks noGrp="1"/>
          </p:cNvSpPr>
          <p:nvPr/>
        </p:nvSpPr>
        <p:spPr>
          <a:xfrm>
            <a:off x="7620000" y="1619250"/>
            <a:ext cx="28575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16 882</a:t>
            </a:r>
          </a:p>
        </p:txBody>
      </p:sp>
      <p:sp>
        <p:nvSpPr>
          <p:cNvPr id="8" name="Rectangle 7">
            <a:extLst>
              <a:ext uri="{FF2B5EF4-FFF2-40B4-BE49-F238E27FC236}">
                <a16:creationId xmlns:a16="http://schemas.microsoft.com/office/drawing/2014/main" id="{7250398F-CE38-47CF-BA4A-7692B55AFE35}"/>
              </a:ext>
            </a:extLst>
          </p:cNvPr>
          <p:cNvSpPr>
            <a:spLocks noGrp="1"/>
          </p:cNvSpPr>
          <p:nvPr/>
        </p:nvSpPr>
        <p:spPr>
          <a:xfrm>
            <a:off x="7620000" y="2209800"/>
            <a:ext cx="2857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abonnés particuliers</a:t>
            </a:r>
          </a:p>
        </p:txBody>
      </p:sp>
      <p:sp>
        <p:nvSpPr>
          <p:cNvPr id="9" name="Rectangle 8">
            <a:extLst>
              <a:ext uri="{FF2B5EF4-FFF2-40B4-BE49-F238E27FC236}">
                <a16:creationId xmlns:a16="http://schemas.microsoft.com/office/drawing/2014/main" id="{CA303477-877F-4F5B-A5D0-4E4EEA84EF2E}"/>
              </a:ext>
            </a:extLst>
          </p:cNvPr>
          <p:cNvSpPr>
            <a:spLocks noGrp="1"/>
          </p:cNvSpPr>
          <p:nvPr/>
        </p:nvSpPr>
        <p:spPr>
          <a:xfrm>
            <a:off x="7620000" y="2857500"/>
            <a:ext cx="2857500" cy="590550"/>
          </a:xfrm>
          <a:prstGeom prst="rect">
            <a:avLst/>
          </a:prstGeom>
          <a:noFill/>
          <a:ln w="0">
            <a:noFill/>
          </a:ln>
        </p:spPr>
        <p:txBody>
          <a:bodyPr anchor="ctr">
            <a:normAutofit/>
          </a:bodyPr>
          <a:lstStyle/>
          <a:p>
            <a:pPr algn="l">
              <a:defRPr sz="2775" b="1">
                <a:solidFill>
                  <a:srgbClr val="58A6B5"/>
                </a:solidFill>
                <a:latin typeface="DejaVu Sans"/>
                <a:ea typeface="DejaVu Sans"/>
                <a:cs typeface="DejaVu Sans"/>
              </a:defRPr>
            </a:pPr>
            <a:r>
              <a:rPr sz="2775" b="1">
                <a:solidFill>
                  <a:srgbClr val="58A6B5"/>
                </a:solidFill>
                <a:latin typeface="DejaVu Sans"/>
                <a:ea typeface="DejaVu Sans"/>
                <a:cs typeface="DejaVu Sans"/>
              </a:rPr>
              <a:t>46</a:t>
            </a:r>
          </a:p>
        </p:txBody>
      </p:sp>
      <p:sp>
        <p:nvSpPr>
          <p:cNvPr id="10" name="Rectangle 9">
            <a:extLst>
              <a:ext uri="{FF2B5EF4-FFF2-40B4-BE49-F238E27FC236}">
                <a16:creationId xmlns:a16="http://schemas.microsoft.com/office/drawing/2014/main" id="{40AFF7D5-5162-4B2A-A215-668FB3EAAB83}"/>
              </a:ext>
            </a:extLst>
          </p:cNvPr>
          <p:cNvSpPr>
            <a:spLocks noGrp="1"/>
          </p:cNvSpPr>
          <p:nvPr/>
        </p:nvSpPr>
        <p:spPr>
          <a:xfrm>
            <a:off x="7620000" y="3448050"/>
            <a:ext cx="2857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points d’eau publics</a:t>
            </a:r>
          </a:p>
        </p:txBody>
      </p:sp>
      <p:sp>
        <p:nvSpPr>
          <p:cNvPr id="11" name="Rectangle 10">
            <a:extLst>
              <a:ext uri="{FF2B5EF4-FFF2-40B4-BE49-F238E27FC236}">
                <a16:creationId xmlns:a16="http://schemas.microsoft.com/office/drawing/2014/main" id="{7C9E1A6E-6F0C-4FBF-B90F-6F603F2469FF}"/>
              </a:ext>
            </a:extLst>
          </p:cNvPr>
          <p:cNvSpPr>
            <a:spLocks noGrp="1"/>
          </p:cNvSpPr>
          <p:nvPr/>
        </p:nvSpPr>
        <p:spPr>
          <a:xfrm>
            <a:off x="7620000" y="3952875"/>
            <a:ext cx="2857500" cy="666750"/>
          </a:xfrm>
          <a:prstGeom prst="rect">
            <a:avLst/>
          </a:prstGeom>
          <a:noFill/>
          <a:ln w="0">
            <a:noFill/>
          </a:ln>
        </p:spPr>
        <p:txBody>
          <a:bodyPr anchor="ctr">
            <a:normAutofit/>
          </a:bodyPr>
          <a:lstStyle/>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31 bornes fontaines</a:t>
            </a:r>
          </a:p>
          <a:p>
            <a:pPr algn="l">
              <a:defRPr sz="1500" b="1">
                <a:solidFill>
                  <a:srgbClr val="1D2935"/>
                </a:solidFill>
                <a:latin typeface="DejaVu Sans"/>
                <a:ea typeface="DejaVu Sans"/>
                <a:cs typeface="DejaVu Sans"/>
              </a:defRPr>
            </a:pPr>
            <a:r>
              <a:rPr sz="1500" b="1">
                <a:solidFill>
                  <a:srgbClr val="1D2935"/>
                </a:solidFill>
                <a:latin typeface="DejaVu Sans"/>
                <a:ea typeface="DejaVu Sans"/>
                <a:cs typeface="DejaVu Sans"/>
              </a:rPr>
              <a:t>15 forages</a:t>
            </a:r>
          </a:p>
        </p:txBody>
      </p:sp>
      <p:sp>
        <p:nvSpPr>
          <p:cNvPr id="6" name="ZoneTexte 5">
            <a:extLst>
              <a:ext uri="{FF2B5EF4-FFF2-40B4-BE49-F238E27FC236}">
                <a16:creationId xmlns:a16="http://schemas.microsoft.com/office/drawing/2014/main" id="{2177C05C-558B-AB68-BF83-98F29701267B}"/>
              </a:ext>
            </a:extLst>
          </p:cNvPr>
          <p:cNvSpPr txBox="1"/>
          <p:nvPr/>
        </p:nvSpPr>
        <p:spPr>
          <a:xfrm>
            <a:off x="1600200" y="5695950"/>
            <a:ext cx="4695825" cy="369332"/>
          </a:xfrm>
          <a:prstGeom prst="rect">
            <a:avLst/>
          </a:prstGeom>
          <a:noFill/>
        </p:spPr>
        <p:txBody>
          <a:bodyPr wrap="square" rtlCol="0">
            <a:spAutoFit/>
          </a:bodyPr>
          <a:lstStyle/>
          <a:p>
            <a:r>
              <a:rPr lang="fr-FR" dirty="0"/>
              <a:t>Nombre d’abonnés par quartier</a:t>
            </a:r>
          </a:p>
        </p:txBody>
      </p:sp>
    </p:spTree>
    <p:extLst>
      <p:ext uri="{BB962C8B-B14F-4D97-AF65-F5344CB8AC3E}">
        <p14:creationId xmlns:p14="http://schemas.microsoft.com/office/powerpoint/2010/main" val="191898313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6CAE9A2-0673-4CCF-8259-4140F0997B86}"/>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DCD5EDE7-84C2-47E8-98A1-DCDF8D5B77AE}"/>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Taux d’accès au réseau SOMAGEP par quartier</a:t>
            </a:r>
          </a:p>
        </p:txBody>
      </p:sp>
      <p:sp>
        <p:nvSpPr>
          <p:cNvPr id="3" name="Rectangle 2">
            <a:extLst>
              <a:ext uri="{FF2B5EF4-FFF2-40B4-BE49-F238E27FC236}">
                <a16:creationId xmlns:a16="http://schemas.microsoft.com/office/drawing/2014/main" id="{6D1FAB84-AB04-4F74-881D-2E0EF90F4E0A}"/>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 </a:t>
            </a:r>
          </a:p>
        </p:txBody>
      </p:sp>
      <p:sp>
        <p:nvSpPr>
          <p:cNvPr id="4" name="Rectangle 3">
            <a:extLst>
              <a:ext uri="{FF2B5EF4-FFF2-40B4-BE49-F238E27FC236}">
                <a16:creationId xmlns:a16="http://schemas.microsoft.com/office/drawing/2014/main" id="{E99556EF-906F-46D2-AD72-168676ACFDAB}"/>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9B856BC3-C896-4CDC-A567-7EBEC5EA2B8A}"/>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12</a:t>
            </a:r>
          </a:p>
        </p:txBody>
      </p:sp>
      <p:graphicFrame>
        <p:nvGraphicFramePr>
          <p:cNvPr id="16" name="Chart"/>
          <p:cNvGraphicFramePr/>
          <p:nvPr>
            <p:extLst>
              <p:ext uri="{D42A27DB-BD31-4B8C-83A1-F6EECF244321}">
                <p14:modId xmlns:p14="http://schemas.microsoft.com/office/powerpoint/2010/main" val="3702216760"/>
              </p:ext>
            </p:extLst>
          </p:nvPr>
        </p:nvGraphicFramePr>
        <p:xfrm>
          <a:off x="666750" y="1476375"/>
          <a:ext cx="7810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D2673E95-63D4-48B3-B2E3-D98E559DD054}"/>
              </a:ext>
            </a:extLst>
          </p:cNvPr>
          <p:cNvSpPr>
            <a:spLocks noGrp="1"/>
          </p:cNvSpPr>
          <p:nvPr/>
        </p:nvSpPr>
        <p:spPr>
          <a:xfrm>
            <a:off x="8858250" y="1905000"/>
            <a:ext cx="2381250" cy="590550"/>
          </a:xfrm>
          <a:prstGeom prst="rect">
            <a:avLst/>
          </a:prstGeom>
          <a:noFill/>
          <a:ln w="0">
            <a:noFill/>
          </a:ln>
        </p:spPr>
        <p:txBody>
          <a:bodyPr anchor="ctr">
            <a:normAutofit/>
          </a:bodyPr>
          <a:lstStyle/>
          <a:p>
            <a:pPr algn="l">
              <a:defRPr sz="2775" b="1">
                <a:solidFill>
                  <a:srgbClr val="276A8C"/>
                </a:solidFill>
                <a:latin typeface="DejaVu Sans"/>
                <a:ea typeface="DejaVu Sans"/>
                <a:cs typeface="DejaVu Sans"/>
              </a:defRPr>
            </a:pPr>
            <a:r>
              <a:rPr sz="2775" b="1">
                <a:solidFill>
                  <a:srgbClr val="276A8C"/>
                </a:solidFill>
                <a:latin typeface="DejaVu Sans"/>
                <a:ea typeface="DejaVu Sans"/>
                <a:cs typeface="DejaVu Sans"/>
              </a:rPr>
              <a:t>69 %</a:t>
            </a:r>
          </a:p>
        </p:txBody>
      </p:sp>
      <p:sp>
        <p:nvSpPr>
          <p:cNvPr id="8" name="Rectangle 7">
            <a:extLst>
              <a:ext uri="{FF2B5EF4-FFF2-40B4-BE49-F238E27FC236}">
                <a16:creationId xmlns:a16="http://schemas.microsoft.com/office/drawing/2014/main" id="{1F441001-D670-4FBC-A66C-DE20033AE3A8}"/>
              </a:ext>
            </a:extLst>
          </p:cNvPr>
          <p:cNvSpPr>
            <a:spLocks noGrp="1"/>
          </p:cNvSpPr>
          <p:nvPr/>
        </p:nvSpPr>
        <p:spPr>
          <a:xfrm>
            <a:off x="8858250" y="2495550"/>
            <a:ext cx="23812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taux global estimé</a:t>
            </a:r>
          </a:p>
        </p:txBody>
      </p:sp>
      <p:sp>
        <p:nvSpPr>
          <p:cNvPr id="9" name="Rectangle 8">
            <a:extLst>
              <a:ext uri="{FF2B5EF4-FFF2-40B4-BE49-F238E27FC236}">
                <a16:creationId xmlns:a16="http://schemas.microsoft.com/office/drawing/2014/main" id="{4CB5F6F6-6E18-487A-BFDB-92DDB6543B66}"/>
              </a:ext>
            </a:extLst>
          </p:cNvPr>
          <p:cNvSpPr>
            <a:spLocks noGrp="1"/>
          </p:cNvSpPr>
          <p:nvPr/>
        </p:nvSpPr>
        <p:spPr>
          <a:xfrm>
            <a:off x="8858250" y="3429000"/>
            <a:ext cx="2381250" cy="857250"/>
          </a:xfrm>
          <a:prstGeom prst="rect">
            <a:avLst/>
          </a:prstGeom>
          <a:noFill/>
          <a:ln w="0">
            <a:noFill/>
          </a:ln>
        </p:spPr>
        <p:txBody>
          <a:bodyPr anchor="ctr">
            <a:normAutofit/>
          </a:bodyPr>
          <a:lstStyle/>
          <a:p>
            <a:pPr algn="l">
              <a:defRPr sz="1650" b="1">
                <a:solidFill>
                  <a:srgbClr val="C94B45"/>
                </a:solidFill>
                <a:latin typeface="DejaVu Sans"/>
                <a:ea typeface="DejaVu Sans"/>
                <a:cs typeface="DejaVu Sans"/>
              </a:defRPr>
            </a:pPr>
            <a:r>
              <a:rPr sz="1650" b="1">
                <a:solidFill>
                  <a:srgbClr val="C94B45"/>
                </a:solidFill>
                <a:latin typeface="DejaVu Sans"/>
                <a:ea typeface="DejaVu Sans"/>
                <a:cs typeface="DejaVu Sans"/>
              </a:rPr>
              <a:t>Liberté présente la situation la plus défavorable.</a:t>
            </a:r>
          </a:p>
        </p:txBody>
      </p:sp>
      <p:sp>
        <p:nvSpPr>
          <p:cNvPr id="10" name="Rectangle 9">
            <a:extLst>
              <a:ext uri="{FF2B5EF4-FFF2-40B4-BE49-F238E27FC236}">
                <a16:creationId xmlns:a16="http://schemas.microsoft.com/office/drawing/2014/main" id="{AD64E6D3-7F84-4AAC-8DD3-0635F9EE8FE0}"/>
              </a:ext>
            </a:extLst>
          </p:cNvPr>
          <p:cNvSpPr>
            <a:spLocks noGrp="1"/>
          </p:cNvSpPr>
          <p:nvPr/>
        </p:nvSpPr>
        <p:spPr>
          <a:xfrm>
            <a:off x="8858250" y="4619625"/>
            <a:ext cx="2381250" cy="733425"/>
          </a:xfrm>
          <a:prstGeom prst="rect">
            <a:avLst/>
          </a:prstGeom>
          <a:solidFill>
            <a:schemeClr val="tx2"/>
          </a:solidFill>
          <a:ln w="0">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normAutofit/>
          </a:bodyPr>
          <a:lstStyle/>
          <a:p>
            <a:pPr algn="l">
              <a:defRPr sz="1125" b="0">
                <a:solidFill>
                  <a:srgbClr val="647481"/>
                </a:solidFill>
                <a:latin typeface="DejaVu Sans"/>
                <a:ea typeface="DejaVu Sans"/>
                <a:cs typeface="DejaVu Sans"/>
              </a:defRPr>
            </a:pPr>
            <a:r>
              <a:rPr lang="fr-FR" sz="1125" b="1" noProof="0" dirty="0">
                <a:solidFill>
                  <a:schemeClr val="bg1"/>
                </a:solidFill>
                <a:latin typeface="DejaVu Sans"/>
                <a:ea typeface="DejaVu Sans"/>
                <a:cs typeface="DejaVu Sans"/>
              </a:rPr>
              <a:t>Calcul fondé sur le nombre d’abonnés et la taille moyenne des ménages.</a:t>
            </a:r>
          </a:p>
        </p:txBody>
      </p:sp>
      <p:sp>
        <p:nvSpPr>
          <p:cNvPr id="12" name="ZoneTexte 11">
            <a:extLst>
              <a:ext uri="{FF2B5EF4-FFF2-40B4-BE49-F238E27FC236}">
                <a16:creationId xmlns:a16="http://schemas.microsoft.com/office/drawing/2014/main" id="{B872CD76-7AC7-293C-8A4B-E8703EA213D7}"/>
              </a:ext>
            </a:extLst>
          </p:cNvPr>
          <p:cNvSpPr txBox="1"/>
          <p:nvPr/>
        </p:nvSpPr>
        <p:spPr>
          <a:xfrm>
            <a:off x="1600200" y="5695950"/>
            <a:ext cx="4695825" cy="369332"/>
          </a:xfrm>
          <a:prstGeom prst="rect">
            <a:avLst/>
          </a:prstGeom>
          <a:noFill/>
        </p:spPr>
        <p:txBody>
          <a:bodyPr wrap="square" rtlCol="0">
            <a:spAutoFit/>
          </a:bodyPr>
          <a:lstStyle/>
          <a:p>
            <a:r>
              <a:rPr lang="fr-FR" dirty="0"/>
              <a:t>Taux d’accès par quartier</a:t>
            </a:r>
          </a:p>
        </p:txBody>
      </p:sp>
    </p:spTree>
    <p:extLst>
      <p:ext uri="{BB962C8B-B14F-4D97-AF65-F5344CB8AC3E}">
        <p14:creationId xmlns:p14="http://schemas.microsoft.com/office/powerpoint/2010/main" val="16053115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C96A2DE-5748-4166-9A43-F963A281EA61}"/>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9DAE52E7-A99A-4D44-BB1E-8069F5F2C6AF}"/>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Population non desservie et déficit journalier en eau</a:t>
            </a:r>
          </a:p>
        </p:txBody>
      </p:sp>
      <p:sp>
        <p:nvSpPr>
          <p:cNvPr id="3" name="Rectangle 2">
            <a:extLst>
              <a:ext uri="{FF2B5EF4-FFF2-40B4-BE49-F238E27FC236}">
                <a16:creationId xmlns:a16="http://schemas.microsoft.com/office/drawing/2014/main" id="{6777A99F-52DE-4C49-AFB9-253102B651F9}"/>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4B1F3288-9BBD-42DA-A3CD-340B3F894247}"/>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9CB7D13E-31F7-4AF7-95FE-C36A876EB26D}"/>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13</a:t>
            </a:r>
          </a:p>
        </p:txBody>
      </p:sp>
      <p:graphicFrame>
        <p:nvGraphicFramePr>
          <p:cNvPr id="17" name="Chart"/>
          <p:cNvGraphicFramePr/>
          <p:nvPr>
            <p:extLst>
              <p:ext uri="{D42A27DB-BD31-4B8C-83A1-F6EECF244321}">
                <p14:modId xmlns:p14="http://schemas.microsoft.com/office/powerpoint/2010/main" val="3300811910"/>
              </p:ext>
            </p:extLst>
          </p:nvPr>
        </p:nvGraphicFramePr>
        <p:xfrm>
          <a:off x="666750" y="1476375"/>
          <a:ext cx="75247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30DD15F1-7095-4574-A3AE-5BDE9840DA2A}"/>
              </a:ext>
            </a:extLst>
          </p:cNvPr>
          <p:cNvSpPr>
            <a:spLocks noGrp="1"/>
          </p:cNvSpPr>
          <p:nvPr/>
        </p:nvSpPr>
        <p:spPr>
          <a:xfrm>
            <a:off x="8667750" y="1666875"/>
            <a:ext cx="2571750" cy="590550"/>
          </a:xfrm>
          <a:prstGeom prst="rect">
            <a:avLst/>
          </a:prstGeom>
          <a:noFill/>
          <a:ln w="0">
            <a:noFill/>
          </a:ln>
        </p:spPr>
        <p:txBody>
          <a:bodyPr anchor="ctr">
            <a:normAutofit/>
          </a:bodyPr>
          <a:lstStyle/>
          <a:p>
            <a:pPr algn="l">
              <a:defRPr sz="2775" b="1">
                <a:solidFill>
                  <a:srgbClr val="C94B45"/>
                </a:solidFill>
                <a:latin typeface="DejaVu Sans"/>
                <a:ea typeface="DejaVu Sans"/>
                <a:cs typeface="DejaVu Sans"/>
              </a:defRPr>
            </a:pPr>
            <a:r>
              <a:rPr sz="2775" b="1">
                <a:solidFill>
                  <a:srgbClr val="C94B45"/>
                </a:solidFill>
                <a:latin typeface="DejaVu Sans"/>
                <a:ea typeface="DejaVu Sans"/>
                <a:cs typeface="DejaVu Sans"/>
              </a:rPr>
              <a:t>64 144</a:t>
            </a:r>
          </a:p>
        </p:txBody>
      </p:sp>
      <p:sp>
        <p:nvSpPr>
          <p:cNvPr id="8" name="Rectangle 7">
            <a:extLst>
              <a:ext uri="{FF2B5EF4-FFF2-40B4-BE49-F238E27FC236}">
                <a16:creationId xmlns:a16="http://schemas.microsoft.com/office/drawing/2014/main" id="{5F757C1A-AA24-40A3-A1F8-F50D393E1C1D}"/>
              </a:ext>
            </a:extLst>
          </p:cNvPr>
          <p:cNvSpPr>
            <a:spLocks noGrp="1"/>
          </p:cNvSpPr>
          <p:nvPr/>
        </p:nvSpPr>
        <p:spPr>
          <a:xfrm>
            <a:off x="8667750" y="2257425"/>
            <a:ext cx="2571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personnes hors réseau</a:t>
            </a:r>
          </a:p>
        </p:txBody>
      </p:sp>
      <p:sp>
        <p:nvSpPr>
          <p:cNvPr id="9" name="Rectangle 8">
            <a:extLst>
              <a:ext uri="{FF2B5EF4-FFF2-40B4-BE49-F238E27FC236}">
                <a16:creationId xmlns:a16="http://schemas.microsoft.com/office/drawing/2014/main" id="{1966810E-993A-4765-96BC-A97F399869A7}"/>
              </a:ext>
            </a:extLst>
          </p:cNvPr>
          <p:cNvSpPr>
            <a:spLocks noGrp="1"/>
          </p:cNvSpPr>
          <p:nvPr/>
        </p:nvSpPr>
        <p:spPr>
          <a:xfrm>
            <a:off x="8667750" y="3095625"/>
            <a:ext cx="257175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dirty="0">
                <a:solidFill>
                  <a:srgbClr val="17324D"/>
                </a:solidFill>
                <a:latin typeface="DejaVu Sans"/>
                <a:ea typeface="DejaVu Sans"/>
                <a:cs typeface="DejaVu Sans"/>
              </a:rPr>
              <a:t>3 207 m³/j</a:t>
            </a:r>
          </a:p>
        </p:txBody>
      </p:sp>
      <p:sp>
        <p:nvSpPr>
          <p:cNvPr id="10" name="Rectangle 9">
            <a:extLst>
              <a:ext uri="{FF2B5EF4-FFF2-40B4-BE49-F238E27FC236}">
                <a16:creationId xmlns:a16="http://schemas.microsoft.com/office/drawing/2014/main" id="{D81B3E41-C448-40FB-B0DC-DCADAFD742C5}"/>
              </a:ext>
            </a:extLst>
          </p:cNvPr>
          <p:cNvSpPr>
            <a:spLocks noGrp="1"/>
          </p:cNvSpPr>
          <p:nvPr/>
        </p:nvSpPr>
        <p:spPr>
          <a:xfrm>
            <a:off x="8667750" y="3686175"/>
            <a:ext cx="2571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déficit total estimé</a:t>
            </a:r>
          </a:p>
        </p:txBody>
      </p:sp>
      <p:sp>
        <p:nvSpPr>
          <p:cNvPr id="11" name="Rectangle 10">
            <a:extLst>
              <a:ext uri="{FF2B5EF4-FFF2-40B4-BE49-F238E27FC236}">
                <a16:creationId xmlns:a16="http://schemas.microsoft.com/office/drawing/2014/main" id="{FCD99B68-0A44-41AC-94A3-8D51DE68B479}"/>
              </a:ext>
            </a:extLst>
          </p:cNvPr>
          <p:cNvSpPr>
            <a:spLocks noGrp="1"/>
          </p:cNvSpPr>
          <p:nvPr/>
        </p:nvSpPr>
        <p:spPr>
          <a:xfrm>
            <a:off x="8667750" y="4762500"/>
            <a:ext cx="2571750" cy="523875"/>
          </a:xfrm>
          <a:prstGeom prst="rect">
            <a:avLst/>
          </a:prstGeom>
          <a:noFill/>
          <a:ln w="0">
            <a:noFill/>
          </a:ln>
        </p:spPr>
        <p:txBody>
          <a:bodyPr anchor="ctr">
            <a:normAutofit fontScale="94583"/>
          </a:bodyPr>
          <a:lstStyle/>
          <a:p>
            <a:pPr algn="l">
              <a:defRPr sz="1500" b="1">
                <a:solidFill>
                  <a:srgbClr val="276A8C"/>
                </a:solidFill>
                <a:latin typeface="DejaVu Sans"/>
                <a:ea typeface="DejaVu Sans"/>
                <a:cs typeface="DejaVu Sans"/>
              </a:defRPr>
            </a:pPr>
            <a:r>
              <a:rPr sz="1500" b="1">
                <a:solidFill>
                  <a:srgbClr val="276A8C"/>
                </a:solidFill>
                <a:latin typeface="DejaVu Sans"/>
                <a:ea typeface="DejaVu Sans"/>
                <a:cs typeface="DejaVu Sans"/>
              </a:rPr>
              <a:t>Priorités : Liberté et Kayes N’di</a:t>
            </a:r>
          </a:p>
        </p:txBody>
      </p:sp>
      <p:sp>
        <p:nvSpPr>
          <p:cNvPr id="13" name="ZoneTexte 12">
            <a:extLst>
              <a:ext uri="{FF2B5EF4-FFF2-40B4-BE49-F238E27FC236}">
                <a16:creationId xmlns:a16="http://schemas.microsoft.com/office/drawing/2014/main" id="{DDC404A0-5121-3CFB-31DC-286687C37F44}"/>
              </a:ext>
            </a:extLst>
          </p:cNvPr>
          <p:cNvSpPr txBox="1"/>
          <p:nvPr/>
        </p:nvSpPr>
        <p:spPr>
          <a:xfrm>
            <a:off x="1600200" y="5695950"/>
            <a:ext cx="4695825" cy="369332"/>
          </a:xfrm>
          <a:prstGeom prst="rect">
            <a:avLst/>
          </a:prstGeom>
          <a:noFill/>
        </p:spPr>
        <p:txBody>
          <a:bodyPr wrap="square" rtlCol="0">
            <a:spAutoFit/>
          </a:bodyPr>
          <a:lstStyle/>
          <a:p>
            <a:r>
              <a:rPr lang="fr-FR" dirty="0"/>
              <a:t>Déficit journalier en m³/j par quartier</a:t>
            </a:r>
          </a:p>
        </p:txBody>
      </p:sp>
    </p:spTree>
    <p:extLst>
      <p:ext uri="{BB962C8B-B14F-4D97-AF65-F5344CB8AC3E}">
        <p14:creationId xmlns:p14="http://schemas.microsoft.com/office/powerpoint/2010/main" val="57068265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911CAD7-1F3C-49C3-B2ED-0B95162FB5A6}"/>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E3938996-146C-4CD1-934D-AD938345C5D1}"/>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Accès à l’électricité</a:t>
            </a:r>
          </a:p>
        </p:txBody>
      </p:sp>
      <p:sp>
        <p:nvSpPr>
          <p:cNvPr id="3" name="Rectangle 2">
            <a:extLst>
              <a:ext uri="{FF2B5EF4-FFF2-40B4-BE49-F238E27FC236}">
                <a16:creationId xmlns:a16="http://schemas.microsoft.com/office/drawing/2014/main" id="{427ED766-D124-4720-B2E5-DD8823CDFA49}"/>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 </a:t>
            </a:r>
          </a:p>
        </p:txBody>
      </p:sp>
      <p:sp>
        <p:nvSpPr>
          <p:cNvPr id="4" name="Rectangle 3">
            <a:extLst>
              <a:ext uri="{FF2B5EF4-FFF2-40B4-BE49-F238E27FC236}">
                <a16:creationId xmlns:a16="http://schemas.microsoft.com/office/drawing/2014/main" id="{A216D9FC-D575-4A28-A8B1-CDC4A5974968}"/>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12FDE46C-5E91-4EFC-8B13-558853332AD2}"/>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14</a:t>
            </a:r>
          </a:p>
        </p:txBody>
      </p:sp>
      <p:graphicFrame>
        <p:nvGraphicFramePr>
          <p:cNvPr id="17" name="Chart"/>
          <p:cNvGraphicFramePr/>
          <p:nvPr>
            <p:extLst>
              <p:ext uri="{D42A27DB-BD31-4B8C-83A1-F6EECF244321}">
                <p14:modId xmlns:p14="http://schemas.microsoft.com/office/powerpoint/2010/main" val="4168541053"/>
              </p:ext>
            </p:extLst>
          </p:nvPr>
        </p:nvGraphicFramePr>
        <p:xfrm>
          <a:off x="666750" y="1476375"/>
          <a:ext cx="7810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B5B4D11E-E95A-4BF2-90B5-8879ACCB6907}"/>
              </a:ext>
            </a:extLst>
          </p:cNvPr>
          <p:cNvSpPr>
            <a:spLocks noGrp="1"/>
          </p:cNvSpPr>
          <p:nvPr/>
        </p:nvSpPr>
        <p:spPr>
          <a:xfrm>
            <a:off x="8858250" y="1809750"/>
            <a:ext cx="2381250" cy="590550"/>
          </a:xfrm>
          <a:prstGeom prst="rect">
            <a:avLst/>
          </a:prstGeom>
          <a:noFill/>
          <a:ln w="0">
            <a:noFill/>
          </a:ln>
        </p:spPr>
        <p:txBody>
          <a:bodyPr anchor="ctr">
            <a:normAutofit/>
          </a:bodyPr>
          <a:lstStyle/>
          <a:p>
            <a:pPr algn="l">
              <a:defRPr sz="2775" b="1">
                <a:solidFill>
                  <a:srgbClr val="4E8C6A"/>
                </a:solidFill>
                <a:latin typeface="DejaVu Sans"/>
                <a:ea typeface="DejaVu Sans"/>
                <a:cs typeface="DejaVu Sans"/>
              </a:defRPr>
            </a:pPr>
            <a:r>
              <a:rPr sz="2775" b="1">
                <a:solidFill>
                  <a:srgbClr val="4E8C6A"/>
                </a:solidFill>
                <a:latin typeface="DejaVu Sans"/>
                <a:ea typeface="DejaVu Sans"/>
                <a:cs typeface="DejaVu Sans"/>
              </a:rPr>
              <a:t>84 %</a:t>
            </a:r>
          </a:p>
        </p:txBody>
      </p:sp>
      <p:sp>
        <p:nvSpPr>
          <p:cNvPr id="8" name="Rectangle 7">
            <a:extLst>
              <a:ext uri="{FF2B5EF4-FFF2-40B4-BE49-F238E27FC236}">
                <a16:creationId xmlns:a16="http://schemas.microsoft.com/office/drawing/2014/main" id="{9ACB62A5-3D71-45F7-B169-C71BE9271C9D}"/>
              </a:ext>
            </a:extLst>
          </p:cNvPr>
          <p:cNvSpPr>
            <a:spLocks noGrp="1"/>
          </p:cNvSpPr>
          <p:nvPr/>
        </p:nvSpPr>
        <p:spPr>
          <a:xfrm>
            <a:off x="8858250" y="2400300"/>
            <a:ext cx="23812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taux moyen estimé</a:t>
            </a:r>
          </a:p>
        </p:txBody>
      </p:sp>
      <p:sp>
        <p:nvSpPr>
          <p:cNvPr id="9" name="Rectangle 8">
            <a:extLst>
              <a:ext uri="{FF2B5EF4-FFF2-40B4-BE49-F238E27FC236}">
                <a16:creationId xmlns:a16="http://schemas.microsoft.com/office/drawing/2014/main" id="{DDAB7128-E32F-4BF8-A948-C2293A136608}"/>
              </a:ext>
            </a:extLst>
          </p:cNvPr>
          <p:cNvSpPr>
            <a:spLocks noGrp="1"/>
          </p:cNvSpPr>
          <p:nvPr/>
        </p:nvSpPr>
        <p:spPr>
          <a:xfrm>
            <a:off x="8858250" y="3190875"/>
            <a:ext cx="2381250" cy="590550"/>
          </a:xfrm>
          <a:prstGeom prst="rect">
            <a:avLst/>
          </a:prstGeom>
          <a:noFill/>
          <a:ln w="0">
            <a:noFill/>
          </a:ln>
        </p:spPr>
        <p:txBody>
          <a:bodyPr anchor="ctr">
            <a:normAutofit/>
          </a:bodyPr>
          <a:lstStyle/>
          <a:p>
            <a:pPr algn="l">
              <a:defRPr sz="2775" b="1">
                <a:solidFill>
                  <a:srgbClr val="C94B45"/>
                </a:solidFill>
                <a:latin typeface="DejaVu Sans"/>
                <a:ea typeface="DejaVu Sans"/>
                <a:cs typeface="DejaVu Sans"/>
              </a:defRPr>
            </a:pPr>
            <a:r>
              <a:rPr sz="2775" b="1">
                <a:solidFill>
                  <a:srgbClr val="C94B45"/>
                </a:solidFill>
                <a:latin typeface="DejaVu Sans"/>
                <a:ea typeface="DejaVu Sans"/>
                <a:cs typeface="DejaVu Sans"/>
              </a:rPr>
              <a:t>39 082</a:t>
            </a:r>
          </a:p>
        </p:txBody>
      </p:sp>
      <p:sp>
        <p:nvSpPr>
          <p:cNvPr id="10" name="Rectangle 9">
            <a:extLst>
              <a:ext uri="{FF2B5EF4-FFF2-40B4-BE49-F238E27FC236}">
                <a16:creationId xmlns:a16="http://schemas.microsoft.com/office/drawing/2014/main" id="{6516F8F2-DE8B-49B8-A705-7BC567FFA8E6}"/>
              </a:ext>
            </a:extLst>
          </p:cNvPr>
          <p:cNvSpPr>
            <a:spLocks noGrp="1"/>
          </p:cNvSpPr>
          <p:nvPr/>
        </p:nvSpPr>
        <p:spPr>
          <a:xfrm>
            <a:off x="8858250" y="3781425"/>
            <a:ext cx="23812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habitants sans accès</a:t>
            </a:r>
          </a:p>
        </p:txBody>
      </p:sp>
      <p:sp>
        <p:nvSpPr>
          <p:cNvPr id="11" name="Rectangle 10">
            <a:extLst>
              <a:ext uri="{FF2B5EF4-FFF2-40B4-BE49-F238E27FC236}">
                <a16:creationId xmlns:a16="http://schemas.microsoft.com/office/drawing/2014/main" id="{84DD0B83-EA65-4E25-9CC1-47899C0BFF3B}"/>
              </a:ext>
            </a:extLst>
          </p:cNvPr>
          <p:cNvSpPr>
            <a:spLocks noGrp="1"/>
          </p:cNvSpPr>
          <p:nvPr/>
        </p:nvSpPr>
        <p:spPr>
          <a:xfrm>
            <a:off x="8858250" y="4714875"/>
            <a:ext cx="2381250" cy="714375"/>
          </a:xfrm>
          <a:prstGeom prst="rect">
            <a:avLst/>
          </a:prstGeom>
          <a:noFill/>
          <a:ln w="0">
            <a:noFill/>
          </a:ln>
        </p:spPr>
        <p:txBody>
          <a:bodyPr anchor="ctr">
            <a:normAutofit fontScale="90938"/>
          </a:bodyPr>
          <a:lstStyle/>
          <a:p>
            <a:pPr algn="l">
              <a:defRPr sz="1275" b="1">
                <a:solidFill>
                  <a:srgbClr val="17324D"/>
                </a:solidFill>
                <a:latin typeface="DejaVu Sans"/>
                <a:ea typeface="DejaVu Sans"/>
                <a:cs typeface="DejaVu Sans"/>
              </a:defRPr>
            </a:pPr>
            <a:r>
              <a:rPr sz="1275" b="1">
                <a:solidFill>
                  <a:srgbClr val="17324D"/>
                </a:solidFill>
                <a:latin typeface="DejaVu Sans"/>
                <a:ea typeface="DejaVu Sans"/>
                <a:cs typeface="DejaVu Sans"/>
              </a:rPr>
              <a:t>Les zones d’extension de Plateau et Kayes N’di restent prioritaires.</a:t>
            </a:r>
          </a:p>
        </p:txBody>
      </p:sp>
    </p:spTree>
    <p:extLst>
      <p:ext uri="{BB962C8B-B14F-4D97-AF65-F5344CB8AC3E}">
        <p14:creationId xmlns:p14="http://schemas.microsoft.com/office/powerpoint/2010/main" val="181770294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71F85F-48AD-4FAD-937E-030477A52B3E}"/>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72CF4350-CF1C-4526-B493-30B50CA67248}"/>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Structures de santé existantes</a:t>
            </a:r>
          </a:p>
        </p:txBody>
      </p:sp>
      <p:sp>
        <p:nvSpPr>
          <p:cNvPr id="3" name="Rectangle 2">
            <a:extLst>
              <a:ext uri="{FF2B5EF4-FFF2-40B4-BE49-F238E27FC236}">
                <a16:creationId xmlns:a16="http://schemas.microsoft.com/office/drawing/2014/main" id="{2D5F81A0-DC75-4096-9F02-71F4C22C80E4}"/>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2044DFE6-8CEA-4664-9943-2F5720CC4580}"/>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F5DCECE2-CF36-47F8-9804-5A07E47BE040}"/>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15</a:t>
            </a:r>
          </a:p>
        </p:txBody>
      </p:sp>
      <p:graphicFrame>
        <p:nvGraphicFramePr>
          <p:cNvPr id="16" name="Chart"/>
          <p:cNvGraphicFramePr/>
          <p:nvPr>
            <p:extLst>
              <p:ext uri="{D42A27DB-BD31-4B8C-83A1-F6EECF244321}">
                <p14:modId xmlns:p14="http://schemas.microsoft.com/office/powerpoint/2010/main" val="3107329645"/>
              </p:ext>
            </p:extLst>
          </p:nvPr>
        </p:nvGraphicFramePr>
        <p:xfrm>
          <a:off x="666750" y="1476375"/>
          <a:ext cx="66675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E80B196F-8BA1-42DA-BDE6-9335419F8417}"/>
              </a:ext>
            </a:extLst>
          </p:cNvPr>
          <p:cNvSpPr>
            <a:spLocks noGrp="1"/>
          </p:cNvSpPr>
          <p:nvPr/>
        </p:nvSpPr>
        <p:spPr>
          <a:xfrm>
            <a:off x="7858125" y="1619250"/>
            <a:ext cx="28575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43</a:t>
            </a:r>
          </a:p>
        </p:txBody>
      </p:sp>
      <p:sp>
        <p:nvSpPr>
          <p:cNvPr id="8" name="Rectangle 7">
            <a:extLst>
              <a:ext uri="{FF2B5EF4-FFF2-40B4-BE49-F238E27FC236}">
                <a16:creationId xmlns:a16="http://schemas.microsoft.com/office/drawing/2014/main" id="{A5E7DEC1-E47E-46B4-9DFA-9E45F1F1DB39}"/>
              </a:ext>
            </a:extLst>
          </p:cNvPr>
          <p:cNvSpPr>
            <a:spLocks noGrp="1"/>
          </p:cNvSpPr>
          <p:nvPr/>
        </p:nvSpPr>
        <p:spPr>
          <a:xfrm>
            <a:off x="7858125" y="2209800"/>
            <a:ext cx="2857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structures recensées</a:t>
            </a:r>
          </a:p>
        </p:txBody>
      </p:sp>
      <p:sp>
        <p:nvSpPr>
          <p:cNvPr id="9" name="Rectangle 8">
            <a:extLst>
              <a:ext uri="{FF2B5EF4-FFF2-40B4-BE49-F238E27FC236}">
                <a16:creationId xmlns:a16="http://schemas.microsoft.com/office/drawing/2014/main" id="{9C489816-0698-440E-BC66-1F4175CA1A91}"/>
              </a:ext>
            </a:extLst>
          </p:cNvPr>
          <p:cNvSpPr>
            <a:spLocks noGrp="1"/>
          </p:cNvSpPr>
          <p:nvPr/>
        </p:nvSpPr>
        <p:spPr>
          <a:xfrm>
            <a:off x="7858125" y="2667000"/>
            <a:ext cx="2857500" cy="2190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1 hôpital régional</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1 CS-réf</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6 CSCOM</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11 cabinets médicaux</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9 cliniques</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15 pharmacies</a:t>
            </a:r>
          </a:p>
        </p:txBody>
      </p:sp>
      <p:graphicFrame>
        <p:nvGraphicFramePr>
          <p:cNvPr id="6" name="Diagramme 5">
            <a:extLst>
              <a:ext uri="{FF2B5EF4-FFF2-40B4-BE49-F238E27FC236}">
                <a16:creationId xmlns:a16="http://schemas.microsoft.com/office/drawing/2014/main" id="{91666C2C-A09D-1DED-C79F-7DA778002770}"/>
              </a:ext>
            </a:extLst>
          </p:cNvPr>
          <p:cNvGraphicFramePr/>
          <p:nvPr>
            <p:extLst>
              <p:ext uri="{D42A27DB-BD31-4B8C-83A1-F6EECF244321}">
                <p14:modId xmlns:p14="http://schemas.microsoft.com/office/powerpoint/2010/main" val="1883512824"/>
              </p:ext>
            </p:extLst>
          </p:nvPr>
        </p:nvGraphicFramePr>
        <p:xfrm>
          <a:off x="7829550" y="4829175"/>
          <a:ext cx="2857500" cy="45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85487743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07F0934-E8D6-4553-B8E5-8F5996451DA1}"/>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27B33210-3E9A-4DA9-A26B-80B6B998CDA9}"/>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Couverture des CSCOM par quartier</a:t>
            </a:r>
          </a:p>
        </p:txBody>
      </p:sp>
      <p:sp>
        <p:nvSpPr>
          <p:cNvPr id="3" name="Rectangle 2">
            <a:extLst>
              <a:ext uri="{FF2B5EF4-FFF2-40B4-BE49-F238E27FC236}">
                <a16:creationId xmlns:a16="http://schemas.microsoft.com/office/drawing/2014/main" id="{A9772F04-66C5-4A26-BD67-FB3B45CC21CF}"/>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 </a:t>
            </a:r>
          </a:p>
        </p:txBody>
      </p:sp>
      <p:sp>
        <p:nvSpPr>
          <p:cNvPr id="4" name="Rectangle 3">
            <a:extLst>
              <a:ext uri="{FF2B5EF4-FFF2-40B4-BE49-F238E27FC236}">
                <a16:creationId xmlns:a16="http://schemas.microsoft.com/office/drawing/2014/main" id="{51309053-D99A-416B-8B83-5B897BC76094}"/>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176F2F31-4292-46FB-AC20-0FA312B93DAF}"/>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16</a:t>
            </a:r>
          </a:p>
        </p:txBody>
      </p:sp>
      <p:graphicFrame>
        <p:nvGraphicFramePr>
          <p:cNvPr id="17" name="Chart"/>
          <p:cNvGraphicFramePr/>
          <p:nvPr>
            <p:extLst>
              <p:ext uri="{D42A27DB-BD31-4B8C-83A1-F6EECF244321}">
                <p14:modId xmlns:p14="http://schemas.microsoft.com/office/powerpoint/2010/main" val="1251808477"/>
              </p:ext>
            </p:extLst>
          </p:nvPr>
        </p:nvGraphicFramePr>
        <p:xfrm>
          <a:off x="666750" y="1476375"/>
          <a:ext cx="76200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A8D654C5-28A0-41BF-A349-50CE7AB8D495}"/>
              </a:ext>
            </a:extLst>
          </p:cNvPr>
          <p:cNvSpPr>
            <a:spLocks noGrp="1"/>
          </p:cNvSpPr>
          <p:nvPr/>
        </p:nvSpPr>
        <p:spPr>
          <a:xfrm>
            <a:off x="8858250" y="1809750"/>
            <a:ext cx="2381250" cy="590550"/>
          </a:xfrm>
          <a:prstGeom prst="rect">
            <a:avLst/>
          </a:prstGeom>
          <a:noFill/>
          <a:ln w="0">
            <a:noFill/>
          </a:ln>
        </p:spPr>
        <p:txBody>
          <a:bodyPr anchor="ctr">
            <a:normAutofit/>
          </a:bodyPr>
          <a:lstStyle/>
          <a:p>
            <a:pPr algn="l">
              <a:defRPr sz="2775" b="1">
                <a:solidFill>
                  <a:srgbClr val="C94B45"/>
                </a:solidFill>
                <a:latin typeface="DejaVu Sans"/>
                <a:ea typeface="DejaVu Sans"/>
                <a:cs typeface="DejaVu Sans"/>
              </a:defRPr>
            </a:pPr>
            <a:r>
              <a:rPr sz="2775" b="1">
                <a:solidFill>
                  <a:srgbClr val="C94B45"/>
                </a:solidFill>
                <a:latin typeface="DejaVu Sans"/>
                <a:ea typeface="DejaVu Sans"/>
                <a:cs typeface="DejaVu Sans"/>
              </a:rPr>
              <a:t>35</a:t>
            </a:r>
          </a:p>
        </p:txBody>
      </p:sp>
      <p:sp>
        <p:nvSpPr>
          <p:cNvPr id="8" name="Rectangle 7">
            <a:extLst>
              <a:ext uri="{FF2B5EF4-FFF2-40B4-BE49-F238E27FC236}">
                <a16:creationId xmlns:a16="http://schemas.microsoft.com/office/drawing/2014/main" id="{33261AA3-25DD-48FA-8DB4-CA77A4F0363F}"/>
              </a:ext>
            </a:extLst>
          </p:cNvPr>
          <p:cNvSpPr>
            <a:spLocks noGrp="1"/>
          </p:cNvSpPr>
          <p:nvPr/>
        </p:nvSpPr>
        <p:spPr>
          <a:xfrm>
            <a:off x="8858250" y="2400300"/>
            <a:ext cx="23812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CSCOM manquants</a:t>
            </a:r>
          </a:p>
        </p:txBody>
      </p:sp>
      <p:sp>
        <p:nvSpPr>
          <p:cNvPr id="9" name="Rectangle 8">
            <a:extLst>
              <a:ext uri="{FF2B5EF4-FFF2-40B4-BE49-F238E27FC236}">
                <a16:creationId xmlns:a16="http://schemas.microsoft.com/office/drawing/2014/main" id="{A394E9C8-2EA5-4D92-AC1D-7BA928C0E18B}"/>
              </a:ext>
            </a:extLst>
          </p:cNvPr>
          <p:cNvSpPr>
            <a:spLocks noGrp="1"/>
          </p:cNvSpPr>
          <p:nvPr/>
        </p:nvSpPr>
        <p:spPr>
          <a:xfrm>
            <a:off x="8858250" y="3086100"/>
            <a:ext cx="2381250" cy="590550"/>
          </a:xfrm>
          <a:prstGeom prst="rect">
            <a:avLst/>
          </a:prstGeom>
          <a:noFill/>
          <a:ln w="0">
            <a:noFill/>
          </a:ln>
        </p:spPr>
        <p:txBody>
          <a:bodyPr anchor="ctr">
            <a:normAutofit/>
          </a:bodyPr>
          <a:lstStyle/>
          <a:p>
            <a:pPr algn="l">
              <a:defRPr sz="2775" b="1">
                <a:solidFill>
                  <a:srgbClr val="276A8C"/>
                </a:solidFill>
                <a:latin typeface="DejaVu Sans"/>
                <a:ea typeface="DejaVu Sans"/>
                <a:cs typeface="DejaVu Sans"/>
              </a:defRPr>
            </a:pPr>
            <a:r>
              <a:rPr sz="2775" b="1" dirty="0">
                <a:solidFill>
                  <a:srgbClr val="276A8C"/>
                </a:solidFill>
                <a:latin typeface="DejaVu Sans"/>
                <a:ea typeface="DejaVu Sans"/>
                <a:cs typeface="DejaVu Sans"/>
              </a:rPr>
              <a:t>15 %</a:t>
            </a:r>
          </a:p>
        </p:txBody>
      </p:sp>
      <p:sp>
        <p:nvSpPr>
          <p:cNvPr id="10" name="Rectangle 9">
            <a:extLst>
              <a:ext uri="{FF2B5EF4-FFF2-40B4-BE49-F238E27FC236}">
                <a16:creationId xmlns:a16="http://schemas.microsoft.com/office/drawing/2014/main" id="{A2B486F2-52AF-4260-9148-5B62DDE0D4D8}"/>
              </a:ext>
            </a:extLst>
          </p:cNvPr>
          <p:cNvSpPr>
            <a:spLocks noGrp="1"/>
          </p:cNvSpPr>
          <p:nvPr/>
        </p:nvSpPr>
        <p:spPr>
          <a:xfrm>
            <a:off x="8858250" y="3781425"/>
            <a:ext cx="23812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des besoins couverts</a:t>
            </a:r>
          </a:p>
        </p:txBody>
      </p:sp>
      <p:graphicFrame>
        <p:nvGraphicFramePr>
          <p:cNvPr id="6" name="Diagramme 5">
            <a:extLst>
              <a:ext uri="{FF2B5EF4-FFF2-40B4-BE49-F238E27FC236}">
                <a16:creationId xmlns:a16="http://schemas.microsoft.com/office/drawing/2014/main" id="{9A9BD682-7F0D-8E7F-A79A-08186FC669D2}"/>
              </a:ext>
            </a:extLst>
          </p:cNvPr>
          <p:cNvGraphicFramePr/>
          <p:nvPr>
            <p:extLst>
              <p:ext uri="{D42A27DB-BD31-4B8C-83A1-F6EECF244321}">
                <p14:modId xmlns:p14="http://schemas.microsoft.com/office/powerpoint/2010/main" val="157229867"/>
              </p:ext>
            </p:extLst>
          </p:nvPr>
        </p:nvGraphicFramePr>
        <p:xfrm>
          <a:off x="8858250" y="4362450"/>
          <a:ext cx="2667000" cy="7429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243282968"/>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489EA0C-8EBA-4FCB-91FA-3DDA071486AB}"/>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538FAC71-117F-4854-92D3-D0482ECA6261}"/>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dirty="0" err="1">
                <a:solidFill>
                  <a:srgbClr val="17324D"/>
                </a:solidFill>
                <a:latin typeface="DejaVu Sans"/>
                <a:ea typeface="DejaVu Sans"/>
                <a:cs typeface="DejaVu Sans"/>
              </a:rPr>
              <a:t>Équipements</a:t>
            </a:r>
            <a:r>
              <a:rPr sz="2325" b="1" dirty="0">
                <a:solidFill>
                  <a:srgbClr val="17324D"/>
                </a:solidFill>
                <a:latin typeface="DejaVu Sans"/>
                <a:ea typeface="DejaVu Sans"/>
                <a:cs typeface="DejaVu Sans"/>
              </a:rPr>
              <a:t> </a:t>
            </a:r>
            <a:r>
              <a:rPr sz="2325" b="1" dirty="0" err="1">
                <a:solidFill>
                  <a:srgbClr val="17324D"/>
                </a:solidFill>
                <a:latin typeface="DejaVu Sans"/>
                <a:ea typeface="DejaVu Sans"/>
                <a:cs typeface="DejaVu Sans"/>
              </a:rPr>
              <a:t>scolaires</a:t>
            </a:r>
            <a:r>
              <a:rPr sz="2325" b="1" dirty="0">
                <a:solidFill>
                  <a:srgbClr val="17324D"/>
                </a:solidFill>
                <a:latin typeface="DejaVu Sans"/>
                <a:ea typeface="DejaVu Sans"/>
                <a:cs typeface="DejaVu Sans"/>
              </a:rPr>
              <a:t> </a:t>
            </a:r>
            <a:r>
              <a:rPr sz="2325" b="1" dirty="0" err="1">
                <a:solidFill>
                  <a:srgbClr val="17324D"/>
                </a:solidFill>
                <a:latin typeface="DejaVu Sans"/>
                <a:ea typeface="DejaVu Sans"/>
                <a:cs typeface="DejaVu Sans"/>
              </a:rPr>
              <a:t>existants</a:t>
            </a:r>
            <a:endParaRPr sz="2325" b="1" dirty="0">
              <a:solidFill>
                <a:srgbClr val="17324D"/>
              </a:solidFill>
              <a:latin typeface="DejaVu Sans"/>
              <a:ea typeface="DejaVu Sans"/>
              <a:cs typeface="DejaVu Sans"/>
            </a:endParaRPr>
          </a:p>
        </p:txBody>
      </p:sp>
      <p:sp>
        <p:nvSpPr>
          <p:cNvPr id="3" name="Rectangle 2">
            <a:extLst>
              <a:ext uri="{FF2B5EF4-FFF2-40B4-BE49-F238E27FC236}">
                <a16:creationId xmlns:a16="http://schemas.microsoft.com/office/drawing/2014/main" id="{6F656151-A648-4F86-8885-0DF960686C17}"/>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CEE2A583-CA4D-44E7-8AD3-21890BF9616E}"/>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7A659DD5-9336-4A88-AB16-08FAA1BD689F}"/>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17</a:t>
            </a:r>
          </a:p>
        </p:txBody>
      </p:sp>
      <p:graphicFrame>
        <p:nvGraphicFramePr>
          <p:cNvPr id="18" name="Chart"/>
          <p:cNvGraphicFramePr/>
          <p:nvPr>
            <p:extLst>
              <p:ext uri="{D42A27DB-BD31-4B8C-83A1-F6EECF244321}">
                <p14:modId xmlns:p14="http://schemas.microsoft.com/office/powerpoint/2010/main" val="858273413"/>
              </p:ext>
            </p:extLst>
          </p:nvPr>
        </p:nvGraphicFramePr>
        <p:xfrm>
          <a:off x="666750" y="1476375"/>
          <a:ext cx="752475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950DE66F-84A3-479C-A3F3-EA2AF6F10305}"/>
              </a:ext>
            </a:extLst>
          </p:cNvPr>
          <p:cNvSpPr>
            <a:spLocks noGrp="1"/>
          </p:cNvSpPr>
          <p:nvPr/>
        </p:nvSpPr>
        <p:spPr>
          <a:xfrm>
            <a:off x="8763000" y="1619250"/>
            <a:ext cx="257175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209</a:t>
            </a:r>
          </a:p>
        </p:txBody>
      </p:sp>
      <p:sp>
        <p:nvSpPr>
          <p:cNvPr id="8" name="Rectangle 7">
            <a:extLst>
              <a:ext uri="{FF2B5EF4-FFF2-40B4-BE49-F238E27FC236}">
                <a16:creationId xmlns:a16="http://schemas.microsoft.com/office/drawing/2014/main" id="{C28C5F51-F5B9-4456-8532-7F1363BAE756}"/>
              </a:ext>
            </a:extLst>
          </p:cNvPr>
          <p:cNvSpPr>
            <a:spLocks noGrp="1"/>
          </p:cNvSpPr>
          <p:nvPr/>
        </p:nvSpPr>
        <p:spPr>
          <a:xfrm>
            <a:off x="8763000" y="2209800"/>
            <a:ext cx="2571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établissements</a:t>
            </a:r>
          </a:p>
        </p:txBody>
      </p:sp>
      <p:sp>
        <p:nvSpPr>
          <p:cNvPr id="9" name="Rectangle 8">
            <a:extLst>
              <a:ext uri="{FF2B5EF4-FFF2-40B4-BE49-F238E27FC236}">
                <a16:creationId xmlns:a16="http://schemas.microsoft.com/office/drawing/2014/main" id="{D042DF0E-9B44-4546-BBA6-25CD3098A1B5}"/>
              </a:ext>
            </a:extLst>
          </p:cNvPr>
          <p:cNvSpPr>
            <a:spLocks noGrp="1"/>
          </p:cNvSpPr>
          <p:nvPr/>
        </p:nvSpPr>
        <p:spPr>
          <a:xfrm>
            <a:off x="8763000" y="2857500"/>
            <a:ext cx="2667000" cy="590550"/>
          </a:xfrm>
          <a:prstGeom prst="rect">
            <a:avLst/>
          </a:prstGeom>
          <a:noFill/>
          <a:ln w="0">
            <a:noFill/>
          </a:ln>
        </p:spPr>
        <p:txBody>
          <a:bodyPr anchor="ctr">
            <a:normAutofit/>
          </a:bodyPr>
          <a:lstStyle/>
          <a:p>
            <a:pPr algn="l">
              <a:defRPr sz="2775" b="1">
                <a:solidFill>
                  <a:srgbClr val="58A6B5"/>
                </a:solidFill>
                <a:latin typeface="DejaVu Sans"/>
                <a:ea typeface="DejaVu Sans"/>
                <a:cs typeface="DejaVu Sans"/>
              </a:defRPr>
            </a:pPr>
            <a:r>
              <a:rPr sz="2775" b="1">
                <a:solidFill>
                  <a:srgbClr val="58A6B5"/>
                </a:solidFill>
                <a:latin typeface="DejaVu Sans"/>
                <a:ea typeface="DejaVu Sans"/>
                <a:cs typeface="DejaVu Sans"/>
              </a:rPr>
              <a:t>51</a:t>
            </a:r>
          </a:p>
        </p:txBody>
      </p:sp>
      <p:sp>
        <p:nvSpPr>
          <p:cNvPr id="10" name="Rectangle 9">
            <a:extLst>
              <a:ext uri="{FF2B5EF4-FFF2-40B4-BE49-F238E27FC236}">
                <a16:creationId xmlns:a16="http://schemas.microsoft.com/office/drawing/2014/main" id="{9E60E52A-B642-4A30-BE36-FC8960BD6CB1}"/>
              </a:ext>
            </a:extLst>
          </p:cNvPr>
          <p:cNvSpPr>
            <a:spLocks noGrp="1"/>
          </p:cNvSpPr>
          <p:nvPr/>
        </p:nvSpPr>
        <p:spPr>
          <a:xfrm>
            <a:off x="8763000" y="3448050"/>
            <a:ext cx="26670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jardins d’enfants, tous privés</a:t>
            </a:r>
          </a:p>
        </p:txBody>
      </p:sp>
      <p:sp>
        <p:nvSpPr>
          <p:cNvPr id="11" name="Rectangle 10">
            <a:extLst>
              <a:ext uri="{FF2B5EF4-FFF2-40B4-BE49-F238E27FC236}">
                <a16:creationId xmlns:a16="http://schemas.microsoft.com/office/drawing/2014/main" id="{EC36E25D-0761-4F7E-9E63-C99789FBE375}"/>
              </a:ext>
            </a:extLst>
          </p:cNvPr>
          <p:cNvSpPr>
            <a:spLocks noGrp="1"/>
          </p:cNvSpPr>
          <p:nvPr/>
        </p:nvSpPr>
        <p:spPr>
          <a:xfrm>
            <a:off x="8763000" y="4333875"/>
            <a:ext cx="2571750" cy="590550"/>
          </a:xfrm>
          <a:prstGeom prst="rect">
            <a:avLst/>
          </a:prstGeom>
          <a:noFill/>
          <a:ln w="0">
            <a:noFill/>
          </a:ln>
        </p:spPr>
        <p:txBody>
          <a:bodyPr anchor="ctr">
            <a:normAutofit/>
          </a:bodyPr>
          <a:lstStyle/>
          <a:p>
            <a:pPr algn="l">
              <a:defRPr sz="2775" b="1">
                <a:solidFill>
                  <a:srgbClr val="C94B45"/>
                </a:solidFill>
                <a:latin typeface="DejaVu Sans"/>
                <a:ea typeface="DejaVu Sans"/>
                <a:cs typeface="DejaVu Sans"/>
              </a:defRPr>
            </a:pPr>
            <a:r>
              <a:rPr sz="2775" b="1">
                <a:solidFill>
                  <a:srgbClr val="C94B45"/>
                </a:solidFill>
                <a:latin typeface="DejaVu Sans"/>
                <a:ea typeface="DejaVu Sans"/>
                <a:cs typeface="DejaVu Sans"/>
              </a:rPr>
              <a:t>2 / 16</a:t>
            </a:r>
          </a:p>
        </p:txBody>
      </p:sp>
      <p:sp>
        <p:nvSpPr>
          <p:cNvPr id="12" name="Rectangle 11">
            <a:extLst>
              <a:ext uri="{FF2B5EF4-FFF2-40B4-BE49-F238E27FC236}">
                <a16:creationId xmlns:a16="http://schemas.microsoft.com/office/drawing/2014/main" id="{972FFF41-06BA-4D85-A134-E95DD1229876}"/>
              </a:ext>
            </a:extLst>
          </p:cNvPr>
          <p:cNvSpPr>
            <a:spLocks noGrp="1"/>
          </p:cNvSpPr>
          <p:nvPr/>
        </p:nvSpPr>
        <p:spPr>
          <a:xfrm>
            <a:off x="8763000" y="4924425"/>
            <a:ext cx="2571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lycées publics</a:t>
            </a:r>
          </a:p>
        </p:txBody>
      </p:sp>
      <p:sp>
        <p:nvSpPr>
          <p:cNvPr id="14" name="ZoneTexte 13">
            <a:extLst>
              <a:ext uri="{FF2B5EF4-FFF2-40B4-BE49-F238E27FC236}">
                <a16:creationId xmlns:a16="http://schemas.microsoft.com/office/drawing/2014/main" id="{62482C72-17EC-F2C2-55D2-6672AB7B8A92}"/>
              </a:ext>
            </a:extLst>
          </p:cNvPr>
          <p:cNvSpPr txBox="1"/>
          <p:nvPr/>
        </p:nvSpPr>
        <p:spPr>
          <a:xfrm>
            <a:off x="923925" y="5824150"/>
            <a:ext cx="6096000" cy="276999"/>
          </a:xfrm>
          <a:prstGeom prst="rect">
            <a:avLst/>
          </a:prstGeom>
          <a:noFill/>
        </p:spPr>
        <p:txBody>
          <a:bodyPr wrap="square">
            <a:spAutoFit/>
          </a:bodyPr>
          <a:lstStyle/>
          <a:p>
            <a:pPr algn="l">
              <a:defRPr sz="2325" b="1">
                <a:solidFill>
                  <a:srgbClr val="17324D"/>
                </a:solidFill>
                <a:latin typeface="DejaVu Sans"/>
                <a:ea typeface="DejaVu Sans"/>
                <a:cs typeface="DejaVu Sans"/>
              </a:defRPr>
            </a:pPr>
            <a:r>
              <a:rPr lang="fr-FR" sz="1200" b="1" dirty="0">
                <a:solidFill>
                  <a:srgbClr val="17324D"/>
                </a:solidFill>
                <a:latin typeface="DejaVu Sans"/>
                <a:ea typeface="DejaVu Sans"/>
                <a:cs typeface="DejaVu Sans"/>
              </a:rPr>
              <a:t>Équipements scolaires existants</a:t>
            </a:r>
          </a:p>
        </p:txBody>
      </p:sp>
    </p:spTree>
    <p:extLst>
      <p:ext uri="{BB962C8B-B14F-4D97-AF65-F5344CB8AC3E}">
        <p14:creationId xmlns:p14="http://schemas.microsoft.com/office/powerpoint/2010/main" val="235374328"/>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8DE97E1-4840-4725-8859-9250628F6C38}"/>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F562D869-3EA2-40CD-B245-BA4DCE2C0234}"/>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Surcharge des classes et déficits normatifs</a:t>
            </a:r>
          </a:p>
        </p:txBody>
      </p:sp>
      <p:sp>
        <p:nvSpPr>
          <p:cNvPr id="3" name="Rectangle 2">
            <a:extLst>
              <a:ext uri="{FF2B5EF4-FFF2-40B4-BE49-F238E27FC236}">
                <a16:creationId xmlns:a16="http://schemas.microsoft.com/office/drawing/2014/main" id="{CE9C144A-BE69-4883-B9D6-83BE37E86A60}"/>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C60B6AE2-D723-4DA6-BBFA-A5756595D3F6}"/>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4C029A0E-1753-4775-B651-9C89B72855A9}"/>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18</a:t>
            </a:r>
          </a:p>
        </p:txBody>
      </p:sp>
      <p:graphicFrame>
        <p:nvGraphicFramePr>
          <p:cNvPr id="16" name="Chart"/>
          <p:cNvGraphicFramePr/>
          <p:nvPr>
            <p:extLst>
              <p:ext uri="{D42A27DB-BD31-4B8C-83A1-F6EECF244321}">
                <p14:modId xmlns:p14="http://schemas.microsoft.com/office/powerpoint/2010/main" val="1105315359"/>
              </p:ext>
            </p:extLst>
          </p:nvPr>
        </p:nvGraphicFramePr>
        <p:xfrm>
          <a:off x="666749" y="1476374"/>
          <a:ext cx="6867525" cy="4219575"/>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16D7228E-BB3B-4C6B-90D2-C2189FA197E6}"/>
              </a:ext>
            </a:extLst>
          </p:cNvPr>
          <p:cNvSpPr>
            <a:spLocks noGrp="1"/>
          </p:cNvSpPr>
          <p:nvPr/>
        </p:nvSpPr>
        <p:spPr>
          <a:xfrm>
            <a:off x="7810500" y="1571625"/>
            <a:ext cx="3333750" cy="428625"/>
          </a:xfrm>
          <a:prstGeom prst="rect">
            <a:avLst/>
          </a:prstGeom>
          <a:noFill/>
          <a:ln w="0">
            <a:noFill/>
          </a:ln>
        </p:spPr>
        <p:txBody>
          <a:bodyPr anchor="ctr">
            <a:normAutofit fontScale="88515"/>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Norme : 50 élèves par classe</a:t>
            </a:r>
          </a:p>
        </p:txBody>
      </p:sp>
      <p:sp>
        <p:nvSpPr>
          <p:cNvPr id="8" name="Rectangle 7">
            <a:extLst>
              <a:ext uri="{FF2B5EF4-FFF2-40B4-BE49-F238E27FC236}">
                <a16:creationId xmlns:a16="http://schemas.microsoft.com/office/drawing/2014/main" id="{50703509-3188-431C-AD30-41D6EF685B78}"/>
              </a:ext>
            </a:extLst>
          </p:cNvPr>
          <p:cNvSpPr>
            <a:spLocks noGrp="1"/>
          </p:cNvSpPr>
          <p:nvPr/>
        </p:nvSpPr>
        <p:spPr>
          <a:xfrm>
            <a:off x="7810500" y="2333625"/>
            <a:ext cx="2381250" cy="333375"/>
          </a:xfrm>
          <a:prstGeom prst="rect">
            <a:avLst/>
          </a:prstGeom>
          <a:noFill/>
          <a:ln w="0">
            <a:noFill/>
          </a:ln>
        </p:spPr>
        <p:txBody>
          <a:bodyPr anchor="ctr">
            <a:normAutofit/>
          </a:bodyPr>
          <a:lstStyle/>
          <a:p>
            <a:pPr algn="l">
              <a:defRPr sz="1500" b="1">
                <a:solidFill>
                  <a:srgbClr val="17324D"/>
                </a:solidFill>
                <a:latin typeface="DejaVu Sans"/>
                <a:ea typeface="DejaVu Sans"/>
                <a:cs typeface="DejaVu Sans"/>
              </a:defRPr>
            </a:pPr>
            <a:r>
              <a:rPr sz="1500" b="1">
                <a:solidFill>
                  <a:srgbClr val="17324D"/>
                </a:solidFill>
                <a:latin typeface="DejaVu Sans"/>
                <a:ea typeface="DejaVu Sans"/>
                <a:cs typeface="DejaVu Sans"/>
              </a:rPr>
              <a:t>Déficits</a:t>
            </a:r>
          </a:p>
        </p:txBody>
      </p:sp>
      <p:sp>
        <p:nvSpPr>
          <p:cNvPr id="9" name="Rectangle 8">
            <a:extLst>
              <a:ext uri="{FF2B5EF4-FFF2-40B4-BE49-F238E27FC236}">
                <a16:creationId xmlns:a16="http://schemas.microsoft.com/office/drawing/2014/main" id="{05D9DF1C-9C1E-411C-86CB-A088BA5F0183}"/>
              </a:ext>
            </a:extLst>
          </p:cNvPr>
          <p:cNvSpPr>
            <a:spLocks noGrp="1"/>
          </p:cNvSpPr>
          <p:nvPr/>
        </p:nvSpPr>
        <p:spPr>
          <a:xfrm>
            <a:off x="7810500" y="2762250"/>
            <a:ext cx="3429000" cy="16192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 1er cycle : Kayes N’di 4, Liberté 2</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 2e cycle : Liberté 2</a:t>
            </a:r>
          </a:p>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 Lycées publics : rive gauche 2</a:t>
            </a:r>
          </a:p>
        </p:txBody>
      </p:sp>
      <p:sp>
        <p:nvSpPr>
          <p:cNvPr id="10" name="Rectangle 9">
            <a:extLst>
              <a:ext uri="{FF2B5EF4-FFF2-40B4-BE49-F238E27FC236}">
                <a16:creationId xmlns:a16="http://schemas.microsoft.com/office/drawing/2014/main" id="{AEE3A945-430C-4ACB-87E2-9AACD0547A18}"/>
              </a:ext>
            </a:extLst>
          </p:cNvPr>
          <p:cNvSpPr>
            <a:spLocks noGrp="1"/>
          </p:cNvSpPr>
          <p:nvPr/>
        </p:nvSpPr>
        <p:spPr>
          <a:xfrm>
            <a:off x="7810500" y="4762500"/>
            <a:ext cx="3333750" cy="714375"/>
          </a:xfrm>
          <a:prstGeom prst="rect">
            <a:avLst/>
          </a:prstGeom>
          <a:noFill/>
          <a:ln w="0">
            <a:noFill/>
          </a:ln>
        </p:spPr>
        <p:txBody>
          <a:bodyPr anchor="ctr">
            <a:normAutofit/>
          </a:bodyPr>
          <a:lstStyle/>
          <a:p>
            <a:pPr algn="l">
              <a:defRPr sz="1200" b="1">
                <a:solidFill>
                  <a:srgbClr val="C94B45"/>
                </a:solidFill>
                <a:latin typeface="DejaVu Sans"/>
                <a:ea typeface="DejaVu Sans"/>
                <a:cs typeface="DejaVu Sans"/>
              </a:defRPr>
            </a:pPr>
            <a:r>
              <a:rPr sz="1200" b="1">
                <a:solidFill>
                  <a:srgbClr val="C94B45"/>
                </a:solidFill>
                <a:latin typeface="DejaVu Sans"/>
                <a:ea typeface="DejaVu Sans"/>
                <a:cs typeface="DejaVu Sans"/>
              </a:rPr>
              <a:t>Le nombre d’écoles peut satisfaire la norme théorique tout en cachant des classes surchargées.</a:t>
            </a:r>
          </a:p>
        </p:txBody>
      </p:sp>
    </p:spTree>
    <p:extLst>
      <p:ext uri="{BB962C8B-B14F-4D97-AF65-F5344CB8AC3E}">
        <p14:creationId xmlns:p14="http://schemas.microsoft.com/office/powerpoint/2010/main" val="50144709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1BB9C59-2DC7-4BCF-8B8A-17E991B10ABB}"/>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19855A4A-A819-4EF0-A609-C4B831DF39C7}"/>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Drainage des eaux pluviales</a:t>
            </a:r>
          </a:p>
        </p:txBody>
      </p:sp>
      <p:sp>
        <p:nvSpPr>
          <p:cNvPr id="3" name="Rectangle 2">
            <a:extLst>
              <a:ext uri="{FF2B5EF4-FFF2-40B4-BE49-F238E27FC236}">
                <a16:creationId xmlns:a16="http://schemas.microsoft.com/office/drawing/2014/main" id="{90879046-2E06-464E-9563-0CAC02519927}"/>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46931C93-D68D-4458-81ED-FAB4954A8737}"/>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A26BB425-D8D2-4F5F-B179-A61D0FF0A776}"/>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19</a:t>
            </a:r>
          </a:p>
        </p:txBody>
      </p:sp>
      <p:pic>
        <p:nvPicPr>
          <p:cNvPr id="17" name="Image 16"/>
          <p:cNvPicPr>
            <a:picLocks noChangeAspect="1"/>
          </p:cNvPicPr>
          <p:nvPr/>
        </p:nvPicPr>
        <p:blipFill>
          <a:blip r:embed="rId3"/>
          <a:srcRect t="9202" b="9202"/>
          <a:stretch>
            <a:fillRect/>
          </a:stretch>
        </p:blipFill>
        <p:spPr>
          <a:xfrm>
            <a:off x="6858000" y="1428750"/>
            <a:ext cx="4476750" cy="2333625"/>
          </a:xfrm>
          <a:prstGeom prst="roundRect">
            <a:avLst>
              <a:gd name="adj" fmla="val 6531"/>
            </a:avLst>
          </a:prstGeom>
        </p:spPr>
      </p:pic>
      <p:pic>
        <p:nvPicPr>
          <p:cNvPr id="18" name="Image 17"/>
          <p:cNvPicPr>
            <a:picLocks noChangeAspect="1"/>
          </p:cNvPicPr>
          <p:nvPr/>
        </p:nvPicPr>
        <p:blipFill>
          <a:blip r:embed="rId4"/>
          <a:srcRect t="24485" b="24485"/>
          <a:stretch>
            <a:fillRect/>
          </a:stretch>
        </p:blipFill>
        <p:spPr>
          <a:xfrm>
            <a:off x="8448675" y="4048124"/>
            <a:ext cx="2886075" cy="1962531"/>
          </a:xfrm>
          <a:prstGeom prst="roundRect">
            <a:avLst>
              <a:gd name="adj" fmla="val 9412"/>
            </a:avLst>
          </a:prstGeom>
        </p:spPr>
      </p:pic>
      <p:sp>
        <p:nvSpPr>
          <p:cNvPr id="8" name="Rectangle 7">
            <a:extLst>
              <a:ext uri="{FF2B5EF4-FFF2-40B4-BE49-F238E27FC236}">
                <a16:creationId xmlns:a16="http://schemas.microsoft.com/office/drawing/2014/main" id="{475A86E8-460A-453A-9D0D-F01F130CA9A4}"/>
              </a:ext>
            </a:extLst>
          </p:cNvPr>
          <p:cNvSpPr>
            <a:spLocks noGrp="1"/>
          </p:cNvSpPr>
          <p:nvPr/>
        </p:nvSpPr>
        <p:spPr>
          <a:xfrm>
            <a:off x="714375" y="1571625"/>
            <a:ext cx="4286250" cy="36195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Principaux constats</a:t>
            </a:r>
          </a:p>
        </p:txBody>
      </p:sp>
      <p:graphicFrame>
        <p:nvGraphicFramePr>
          <p:cNvPr id="6" name="Diagramme 5">
            <a:extLst>
              <a:ext uri="{FF2B5EF4-FFF2-40B4-BE49-F238E27FC236}">
                <a16:creationId xmlns:a16="http://schemas.microsoft.com/office/drawing/2014/main" id="{1585732E-31F3-9891-85A3-361DE8A4E6AD}"/>
              </a:ext>
            </a:extLst>
          </p:cNvPr>
          <p:cNvGraphicFramePr/>
          <p:nvPr>
            <p:extLst>
              <p:ext uri="{D42A27DB-BD31-4B8C-83A1-F6EECF244321}">
                <p14:modId xmlns:p14="http://schemas.microsoft.com/office/powerpoint/2010/main" val="372276780"/>
              </p:ext>
            </p:extLst>
          </p:nvPr>
        </p:nvGraphicFramePr>
        <p:xfrm>
          <a:off x="714375" y="1866900"/>
          <a:ext cx="4953000" cy="180022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Rectangle 9">
            <a:extLst>
              <a:ext uri="{FF2B5EF4-FFF2-40B4-BE49-F238E27FC236}">
                <a16:creationId xmlns:a16="http://schemas.microsoft.com/office/drawing/2014/main" id="{67F8FA9E-724B-412E-B862-C70885905032}"/>
              </a:ext>
            </a:extLst>
          </p:cNvPr>
          <p:cNvSpPr>
            <a:spLocks noGrp="1"/>
          </p:cNvSpPr>
          <p:nvPr/>
        </p:nvSpPr>
        <p:spPr>
          <a:xfrm>
            <a:off x="714375" y="4095750"/>
            <a:ext cx="3810000" cy="333375"/>
          </a:xfrm>
          <a:prstGeom prst="rect">
            <a:avLst/>
          </a:prstGeom>
          <a:noFill/>
          <a:ln w="0">
            <a:noFill/>
          </a:ln>
        </p:spPr>
        <p:txBody>
          <a:bodyPr anchor="ctr">
            <a:normAutofit fontScale="96212" lnSpcReduction="10000"/>
          </a:bodyPr>
          <a:lstStyle/>
          <a:p>
            <a:pPr algn="l">
              <a:defRPr sz="1650" b="1">
                <a:solidFill>
                  <a:srgbClr val="276A8C"/>
                </a:solidFill>
                <a:latin typeface="DejaVu Sans"/>
                <a:ea typeface="DejaVu Sans"/>
                <a:cs typeface="DejaVu Sans"/>
              </a:defRPr>
            </a:pPr>
            <a:r>
              <a:rPr sz="1650" b="1" dirty="0" err="1">
                <a:solidFill>
                  <a:srgbClr val="276A8C"/>
                </a:solidFill>
                <a:latin typeface="DejaVu Sans"/>
                <a:ea typeface="DejaVu Sans"/>
                <a:cs typeface="DejaVu Sans"/>
              </a:rPr>
              <a:t>Ouvrages</a:t>
            </a:r>
            <a:r>
              <a:rPr sz="1650" b="1" dirty="0">
                <a:solidFill>
                  <a:srgbClr val="276A8C"/>
                </a:solidFill>
                <a:latin typeface="DejaVu Sans"/>
                <a:ea typeface="DejaVu Sans"/>
                <a:cs typeface="DejaVu Sans"/>
              </a:rPr>
              <a:t> </a:t>
            </a:r>
            <a:r>
              <a:rPr sz="1650" b="1" dirty="0" err="1">
                <a:solidFill>
                  <a:srgbClr val="276A8C"/>
                </a:solidFill>
                <a:latin typeface="DejaVu Sans"/>
                <a:ea typeface="DejaVu Sans"/>
                <a:cs typeface="DejaVu Sans"/>
              </a:rPr>
              <a:t>prioritaires</a:t>
            </a:r>
            <a:r>
              <a:rPr lang="fr-FR" sz="1650" b="1" dirty="0">
                <a:solidFill>
                  <a:srgbClr val="276A8C"/>
                </a:solidFill>
                <a:latin typeface="DejaVu Sans"/>
                <a:ea typeface="DejaVu Sans"/>
                <a:cs typeface="DejaVu Sans"/>
              </a:rPr>
              <a:t> (SDU)</a:t>
            </a:r>
            <a:endParaRPr sz="1650" b="1" dirty="0">
              <a:solidFill>
                <a:srgbClr val="276A8C"/>
              </a:solidFill>
              <a:latin typeface="DejaVu Sans"/>
              <a:ea typeface="DejaVu Sans"/>
              <a:cs typeface="DejaVu Sans"/>
            </a:endParaRPr>
          </a:p>
        </p:txBody>
      </p:sp>
      <p:graphicFrame>
        <p:nvGraphicFramePr>
          <p:cNvPr id="7" name="Diagramme 6">
            <a:extLst>
              <a:ext uri="{FF2B5EF4-FFF2-40B4-BE49-F238E27FC236}">
                <a16:creationId xmlns:a16="http://schemas.microsoft.com/office/drawing/2014/main" id="{48F6E839-D8C7-2AF2-0EBE-B6ADB9307FA2}"/>
              </a:ext>
            </a:extLst>
          </p:cNvPr>
          <p:cNvGraphicFramePr/>
          <p:nvPr>
            <p:extLst>
              <p:ext uri="{D42A27DB-BD31-4B8C-83A1-F6EECF244321}">
                <p14:modId xmlns:p14="http://schemas.microsoft.com/office/powerpoint/2010/main" val="998090671"/>
              </p:ext>
            </p:extLst>
          </p:nvPr>
        </p:nvGraphicFramePr>
        <p:xfrm>
          <a:off x="714375" y="4533900"/>
          <a:ext cx="4762500" cy="147675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804090864"/>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2940882-18DF-4703-AF8D-26DF450ABD30}"/>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DFEBFF44-6D31-47D0-A14C-E08BF1353D2B}"/>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Évacuation des déchets solides et liquides</a:t>
            </a:r>
          </a:p>
        </p:txBody>
      </p:sp>
      <p:sp>
        <p:nvSpPr>
          <p:cNvPr id="3" name="Rectangle 2">
            <a:extLst>
              <a:ext uri="{FF2B5EF4-FFF2-40B4-BE49-F238E27FC236}">
                <a16:creationId xmlns:a16="http://schemas.microsoft.com/office/drawing/2014/main" id="{AB6F557C-3345-4E8E-8960-29BFBFA058A8}"/>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III. ACCÈS AUX SERVICES</a:t>
            </a:r>
          </a:p>
        </p:txBody>
      </p:sp>
      <p:sp>
        <p:nvSpPr>
          <p:cNvPr id="4" name="Rectangle 3">
            <a:extLst>
              <a:ext uri="{FF2B5EF4-FFF2-40B4-BE49-F238E27FC236}">
                <a16:creationId xmlns:a16="http://schemas.microsoft.com/office/drawing/2014/main" id="{63195CB9-8E2F-422F-BC38-64539858B89D}"/>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BCD2C5F0-9DA0-45C5-9AE7-C78FB157EDDC}"/>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20</a:t>
            </a:r>
          </a:p>
        </p:txBody>
      </p:sp>
      <p:pic>
        <p:nvPicPr>
          <p:cNvPr id="20" name="Image 19"/>
          <p:cNvPicPr>
            <a:picLocks noChangeAspect="1"/>
          </p:cNvPicPr>
          <p:nvPr/>
        </p:nvPicPr>
        <p:blipFill>
          <a:blip r:embed="rId3"/>
          <a:srcRect t="13695" b="13695"/>
          <a:stretch>
            <a:fillRect/>
          </a:stretch>
        </p:blipFill>
        <p:spPr>
          <a:xfrm>
            <a:off x="6667500" y="1428750"/>
            <a:ext cx="4667250" cy="2428875"/>
          </a:xfrm>
          <a:prstGeom prst="roundRect">
            <a:avLst>
              <a:gd name="adj" fmla="val 6275"/>
            </a:avLst>
          </a:prstGeom>
        </p:spPr>
      </p:pic>
      <p:pic>
        <p:nvPicPr>
          <p:cNvPr id="21" name="Image 20"/>
          <p:cNvPicPr>
            <a:picLocks noChangeAspect="1"/>
          </p:cNvPicPr>
          <p:nvPr/>
        </p:nvPicPr>
        <p:blipFill>
          <a:blip r:embed="rId4"/>
          <a:srcRect t="17697" b="17697"/>
          <a:stretch>
            <a:fillRect/>
          </a:stretch>
        </p:blipFill>
        <p:spPr>
          <a:xfrm>
            <a:off x="8858250" y="4143375"/>
            <a:ext cx="2476500" cy="1476375"/>
          </a:xfrm>
          <a:prstGeom prst="roundRect">
            <a:avLst>
              <a:gd name="adj" fmla="val 10323"/>
            </a:avLst>
          </a:prstGeom>
        </p:spPr>
      </p:pic>
      <p:sp>
        <p:nvSpPr>
          <p:cNvPr id="8" name="Rectangle 7">
            <a:extLst>
              <a:ext uri="{FF2B5EF4-FFF2-40B4-BE49-F238E27FC236}">
                <a16:creationId xmlns:a16="http://schemas.microsoft.com/office/drawing/2014/main" id="{ADA968AF-E3D6-44AF-87E3-DAA9DDB6E867}"/>
              </a:ext>
            </a:extLst>
          </p:cNvPr>
          <p:cNvSpPr>
            <a:spLocks noGrp="1"/>
          </p:cNvSpPr>
          <p:nvPr/>
        </p:nvSpPr>
        <p:spPr>
          <a:xfrm>
            <a:off x="714375" y="1571625"/>
            <a:ext cx="3238500" cy="590550"/>
          </a:xfrm>
          <a:prstGeom prst="rect">
            <a:avLst/>
          </a:prstGeom>
          <a:noFill/>
          <a:ln w="0">
            <a:noFill/>
          </a:ln>
        </p:spPr>
        <p:txBody>
          <a:bodyPr anchor="ctr">
            <a:normAutofit/>
          </a:bodyPr>
          <a:lstStyle/>
          <a:p>
            <a:pPr algn="l">
              <a:defRPr sz="2775" b="1">
                <a:solidFill>
                  <a:srgbClr val="C94B45"/>
                </a:solidFill>
                <a:latin typeface="DejaVu Sans"/>
                <a:ea typeface="DejaVu Sans"/>
                <a:cs typeface="DejaVu Sans"/>
              </a:defRPr>
            </a:pPr>
            <a:r>
              <a:rPr sz="2775" b="1">
                <a:solidFill>
                  <a:srgbClr val="C94B45"/>
                </a:solidFill>
                <a:latin typeface="DejaVu Sans"/>
                <a:ea typeface="DejaVu Sans"/>
                <a:cs typeface="DejaVu Sans"/>
              </a:rPr>
              <a:t>0</a:t>
            </a:r>
          </a:p>
        </p:txBody>
      </p:sp>
      <p:sp>
        <p:nvSpPr>
          <p:cNvPr id="9" name="Rectangle 8">
            <a:extLst>
              <a:ext uri="{FF2B5EF4-FFF2-40B4-BE49-F238E27FC236}">
                <a16:creationId xmlns:a16="http://schemas.microsoft.com/office/drawing/2014/main" id="{885B8E42-A7D1-42A0-A6F4-C85A062FEDC0}"/>
              </a:ext>
            </a:extLst>
          </p:cNvPr>
          <p:cNvSpPr>
            <a:spLocks noGrp="1"/>
          </p:cNvSpPr>
          <p:nvPr/>
        </p:nvSpPr>
        <p:spPr>
          <a:xfrm>
            <a:off x="714375" y="2162175"/>
            <a:ext cx="3238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dépôt de transit fonctionnel</a:t>
            </a:r>
          </a:p>
        </p:txBody>
      </p:sp>
      <p:sp>
        <p:nvSpPr>
          <p:cNvPr id="10" name="Rectangle 9">
            <a:extLst>
              <a:ext uri="{FF2B5EF4-FFF2-40B4-BE49-F238E27FC236}">
                <a16:creationId xmlns:a16="http://schemas.microsoft.com/office/drawing/2014/main" id="{98F5F66C-4081-4265-B53C-292AE9EEAC29}"/>
              </a:ext>
            </a:extLst>
          </p:cNvPr>
          <p:cNvSpPr>
            <a:spLocks noGrp="1"/>
          </p:cNvSpPr>
          <p:nvPr/>
        </p:nvSpPr>
        <p:spPr>
          <a:xfrm>
            <a:off x="714375" y="2857500"/>
            <a:ext cx="32385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16</a:t>
            </a:r>
          </a:p>
        </p:txBody>
      </p:sp>
      <p:sp>
        <p:nvSpPr>
          <p:cNvPr id="11" name="Rectangle 10">
            <a:extLst>
              <a:ext uri="{FF2B5EF4-FFF2-40B4-BE49-F238E27FC236}">
                <a16:creationId xmlns:a16="http://schemas.microsoft.com/office/drawing/2014/main" id="{EB6E390A-8E8B-47A4-A02B-9DA57CB53028}"/>
              </a:ext>
            </a:extLst>
          </p:cNvPr>
          <p:cNvSpPr>
            <a:spLocks noGrp="1"/>
          </p:cNvSpPr>
          <p:nvPr/>
        </p:nvSpPr>
        <p:spPr>
          <a:xfrm>
            <a:off x="714375" y="3448050"/>
            <a:ext cx="3238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dépôts prévus par le SDAU</a:t>
            </a:r>
          </a:p>
        </p:txBody>
      </p:sp>
      <p:sp>
        <p:nvSpPr>
          <p:cNvPr id="12" name="Rectangle 11">
            <a:extLst>
              <a:ext uri="{FF2B5EF4-FFF2-40B4-BE49-F238E27FC236}">
                <a16:creationId xmlns:a16="http://schemas.microsoft.com/office/drawing/2014/main" id="{C5A31CEE-511F-4796-BC3D-6E2630C09567}"/>
              </a:ext>
            </a:extLst>
          </p:cNvPr>
          <p:cNvSpPr>
            <a:spLocks noGrp="1"/>
          </p:cNvSpPr>
          <p:nvPr/>
        </p:nvSpPr>
        <p:spPr>
          <a:xfrm>
            <a:off x="714375" y="4143375"/>
            <a:ext cx="3238500" cy="590550"/>
          </a:xfrm>
          <a:prstGeom prst="rect">
            <a:avLst/>
          </a:prstGeom>
          <a:noFill/>
          <a:ln w="0">
            <a:noFill/>
          </a:ln>
        </p:spPr>
        <p:txBody>
          <a:bodyPr anchor="ctr">
            <a:normAutofit/>
          </a:bodyPr>
          <a:lstStyle/>
          <a:p>
            <a:pPr algn="l">
              <a:defRPr sz="2775" b="1">
                <a:solidFill>
                  <a:srgbClr val="D9823B"/>
                </a:solidFill>
                <a:latin typeface="DejaVu Sans"/>
                <a:ea typeface="DejaVu Sans"/>
                <a:cs typeface="DejaVu Sans"/>
              </a:defRPr>
            </a:pPr>
            <a:r>
              <a:rPr sz="2775" b="1">
                <a:solidFill>
                  <a:srgbClr val="D9823B"/>
                </a:solidFill>
                <a:latin typeface="DejaVu Sans"/>
                <a:ea typeface="DejaVu Sans"/>
                <a:cs typeface="DejaVu Sans"/>
              </a:rPr>
              <a:t>3</a:t>
            </a:r>
          </a:p>
        </p:txBody>
      </p:sp>
      <p:sp>
        <p:nvSpPr>
          <p:cNvPr id="13" name="Rectangle 12">
            <a:extLst>
              <a:ext uri="{FF2B5EF4-FFF2-40B4-BE49-F238E27FC236}">
                <a16:creationId xmlns:a16="http://schemas.microsoft.com/office/drawing/2014/main" id="{FB4A0B83-9459-4556-B740-0448EA980E8C}"/>
              </a:ext>
            </a:extLst>
          </p:cNvPr>
          <p:cNvSpPr>
            <a:spLocks noGrp="1"/>
          </p:cNvSpPr>
          <p:nvPr/>
        </p:nvSpPr>
        <p:spPr>
          <a:xfrm>
            <a:off x="714375" y="4733925"/>
            <a:ext cx="3238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sites prévus encore non bâtis</a:t>
            </a:r>
          </a:p>
        </p:txBody>
      </p:sp>
      <p:sp>
        <p:nvSpPr>
          <p:cNvPr id="14" name="Rectangle 13">
            <a:extLst>
              <a:ext uri="{FF2B5EF4-FFF2-40B4-BE49-F238E27FC236}">
                <a16:creationId xmlns:a16="http://schemas.microsoft.com/office/drawing/2014/main" id="{F4FF9488-F3FB-48B8-819D-2B81C199F031}"/>
              </a:ext>
            </a:extLst>
          </p:cNvPr>
          <p:cNvSpPr>
            <a:spLocks noGrp="1"/>
          </p:cNvSpPr>
          <p:nvPr/>
        </p:nvSpPr>
        <p:spPr>
          <a:xfrm>
            <a:off x="3952874" y="4429125"/>
            <a:ext cx="4238625" cy="1000125"/>
          </a:xfrm>
          <a:prstGeom prst="rect">
            <a:avLst/>
          </a:prstGeom>
          <a:noFill/>
          <a:ln w="0">
            <a:noFill/>
          </a:ln>
        </p:spPr>
        <p:txBody>
          <a:bodyPr anchor="ctr">
            <a:normAutofit/>
          </a:bodyPr>
          <a:lstStyle/>
          <a:p>
            <a:pPr algn="l">
              <a:defRPr sz="1350" b="1">
                <a:solidFill>
                  <a:srgbClr val="1D2935"/>
                </a:solidFill>
                <a:latin typeface="DejaVu Sans"/>
                <a:ea typeface="DejaVu Sans"/>
                <a:cs typeface="DejaVu Sans"/>
              </a:defRPr>
            </a:pPr>
            <a:r>
              <a:rPr lang="fr-FR" sz="1350" b="1" noProof="0" dirty="0">
                <a:solidFill>
                  <a:srgbClr val="1D2935"/>
                </a:solidFill>
                <a:latin typeface="DejaVu Sans"/>
                <a:ea typeface="DejaVu Sans"/>
                <a:cs typeface="DejaVu Sans"/>
              </a:rPr>
              <a:t>La ville ne dispose ni de décharge finale opérationnelle, ni de système collectif d’évacuation et de traitement des eaux usées.</a:t>
            </a:r>
          </a:p>
        </p:txBody>
      </p:sp>
    </p:spTree>
    <p:extLst>
      <p:ext uri="{BB962C8B-B14F-4D97-AF65-F5344CB8AC3E}">
        <p14:creationId xmlns:p14="http://schemas.microsoft.com/office/powerpoint/2010/main" val="41100386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E7C42A66-DE1B-A4A5-2D2C-C20D6F1580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80FB319-AC27-02D0-298E-6B217C90E631}"/>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BC39133A-D3AE-D565-ED8B-24544A88D707}"/>
              </a:ext>
            </a:extLst>
          </p:cNvPr>
          <p:cNvSpPr>
            <a:spLocks noGrp="1"/>
          </p:cNvSpPr>
          <p:nvPr/>
        </p:nvSpPr>
        <p:spPr>
          <a:xfrm>
            <a:off x="762000" y="1190625"/>
            <a:ext cx="1905000" cy="762000"/>
          </a:xfrm>
          <a:prstGeom prst="rect">
            <a:avLst/>
          </a:prstGeom>
          <a:noFill/>
          <a:ln w="0">
            <a:noFill/>
          </a:ln>
        </p:spPr>
        <p:txBody>
          <a:bodyPr anchor="ctr">
            <a:normAutofit/>
          </a:bodyPr>
          <a:lstStyle/>
          <a:p>
            <a:pPr algn="l">
              <a:defRPr sz="4200" b="1">
                <a:solidFill>
                  <a:srgbClr val="E8C47A"/>
                </a:solidFill>
                <a:latin typeface="DejaVu Sans"/>
                <a:ea typeface="DejaVu Sans"/>
                <a:cs typeface="DejaVu Sans"/>
              </a:defRPr>
            </a:pPr>
            <a:r>
              <a:rPr sz="4200" b="1" dirty="0">
                <a:solidFill>
                  <a:srgbClr val="E8C47A"/>
                </a:solidFill>
                <a:latin typeface="DejaVu Sans"/>
                <a:ea typeface="DejaVu Sans"/>
                <a:cs typeface="DejaVu Sans"/>
              </a:rPr>
              <a:t>I</a:t>
            </a:r>
            <a:r>
              <a:rPr lang="fr-FR" sz="4200" b="1" dirty="0">
                <a:solidFill>
                  <a:srgbClr val="E8C47A"/>
                </a:solidFill>
                <a:latin typeface="DejaVu Sans"/>
                <a:ea typeface="DejaVu Sans"/>
                <a:cs typeface="DejaVu Sans"/>
              </a:rPr>
              <a:t>V</a:t>
            </a:r>
            <a:endParaRPr sz="4200" b="1" dirty="0">
              <a:solidFill>
                <a:srgbClr val="E8C47A"/>
              </a:solidFill>
              <a:latin typeface="DejaVu Sans"/>
              <a:ea typeface="DejaVu Sans"/>
              <a:cs typeface="DejaVu Sans"/>
            </a:endParaRPr>
          </a:p>
        </p:txBody>
      </p:sp>
      <p:sp>
        <p:nvSpPr>
          <p:cNvPr id="3" name="Rectangle 2">
            <a:extLst>
              <a:ext uri="{FF2B5EF4-FFF2-40B4-BE49-F238E27FC236}">
                <a16:creationId xmlns:a16="http://schemas.microsoft.com/office/drawing/2014/main" id="{C10B2A31-C6C7-6235-0045-894CD416D817}"/>
              </a:ext>
            </a:extLst>
          </p:cNvPr>
          <p:cNvSpPr>
            <a:spLocks noGrp="1"/>
          </p:cNvSpPr>
          <p:nvPr/>
        </p:nvSpPr>
        <p:spPr>
          <a:xfrm>
            <a:off x="762000" y="2190750"/>
            <a:ext cx="10001250" cy="952500"/>
          </a:xfrm>
          <a:prstGeom prst="rect">
            <a:avLst/>
          </a:prstGeom>
          <a:noFill/>
          <a:ln w="0">
            <a:noFill/>
          </a:ln>
        </p:spPr>
        <p:txBody>
          <a:bodyPr anchor="ctr">
            <a:normAutofit/>
          </a:bodyPr>
          <a:lstStyle/>
          <a:p>
            <a:pPr algn="l">
              <a:defRPr sz="3150" b="1">
                <a:solidFill>
                  <a:srgbClr val="FFFFFF"/>
                </a:solidFill>
                <a:latin typeface="DejaVu Sans"/>
                <a:ea typeface="DejaVu Sans"/>
                <a:cs typeface="DejaVu Sans"/>
              </a:defRPr>
            </a:pPr>
            <a:r>
              <a:rPr lang="fr-FR" sz="3150" b="1" dirty="0">
                <a:solidFill>
                  <a:srgbClr val="FFFFFF"/>
                </a:solidFill>
                <a:latin typeface="DejaVu Sans"/>
                <a:ea typeface="DejaVu Sans"/>
                <a:cs typeface="DejaVu Sans"/>
              </a:rPr>
              <a:t>Identification des besoins prioritaires</a:t>
            </a:r>
          </a:p>
        </p:txBody>
      </p:sp>
      <p:sp>
        <p:nvSpPr>
          <p:cNvPr id="4" name="Rectangle 3">
            <a:extLst>
              <a:ext uri="{FF2B5EF4-FFF2-40B4-BE49-F238E27FC236}">
                <a16:creationId xmlns:a16="http://schemas.microsoft.com/office/drawing/2014/main" id="{3D447ABB-71EA-5DDF-EB7D-990E13A761A6}"/>
              </a:ext>
            </a:extLst>
          </p:cNvPr>
          <p:cNvSpPr>
            <a:spLocks noGrp="1"/>
          </p:cNvSpPr>
          <p:nvPr/>
        </p:nvSpPr>
        <p:spPr>
          <a:xfrm>
            <a:off x="781050" y="3429000"/>
            <a:ext cx="8572500" cy="762000"/>
          </a:xfrm>
          <a:prstGeom prst="rect">
            <a:avLst/>
          </a:prstGeom>
          <a:noFill/>
          <a:ln w="0">
            <a:noFill/>
          </a:ln>
        </p:spPr>
        <p:txBody>
          <a:bodyPr anchor="ctr">
            <a:normAutofit/>
          </a:bodyPr>
          <a:lstStyle/>
          <a:p>
            <a:pPr algn="l">
              <a:defRPr sz="1650" b="0">
                <a:solidFill>
                  <a:srgbClr val="FFFFFF"/>
                </a:solidFill>
                <a:latin typeface="DejaVu Sans"/>
                <a:ea typeface="DejaVu Sans"/>
                <a:cs typeface="DejaVu Sans"/>
              </a:defRPr>
            </a:pPr>
            <a:r>
              <a:rPr sz="1650" b="0">
                <a:solidFill>
                  <a:srgbClr val="FFFFFF"/>
                </a:solidFill>
                <a:latin typeface="DejaVu Sans"/>
                <a:ea typeface="DejaVu Sans"/>
                <a:cs typeface="DejaVu Sans"/>
              </a:rPr>
              <a:t>Eau potable · Électricité · Santé · Éducation · Assainissement</a:t>
            </a:r>
          </a:p>
        </p:txBody>
      </p:sp>
    </p:spTree>
    <p:extLst>
      <p:ext uri="{BB962C8B-B14F-4D97-AF65-F5344CB8AC3E}">
        <p14:creationId xmlns:p14="http://schemas.microsoft.com/office/powerpoint/2010/main" val="125645725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47F58B4-F469-432F-A991-86142B131400}"/>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CD81AE12-DE93-4C43-8444-FDDC03C29AB4}"/>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dirty="0">
                <a:solidFill>
                  <a:srgbClr val="17324D"/>
                </a:solidFill>
                <a:latin typeface="DejaVu Sans"/>
                <a:ea typeface="DejaVu Sans"/>
                <a:cs typeface="DejaVu Sans"/>
              </a:rPr>
              <a:t>Identification des </a:t>
            </a:r>
            <a:r>
              <a:rPr lang="fr-FR" sz="2325" b="1" noProof="0" dirty="0">
                <a:solidFill>
                  <a:srgbClr val="17324D"/>
                </a:solidFill>
                <a:latin typeface="DejaVu Sans"/>
                <a:ea typeface="DejaVu Sans"/>
                <a:cs typeface="DejaVu Sans"/>
              </a:rPr>
              <a:t>besoins</a:t>
            </a:r>
            <a:r>
              <a:rPr sz="2325" b="1" dirty="0">
                <a:solidFill>
                  <a:srgbClr val="17324D"/>
                </a:solidFill>
                <a:latin typeface="DejaVu Sans"/>
                <a:ea typeface="DejaVu Sans"/>
                <a:cs typeface="DejaVu Sans"/>
              </a:rPr>
              <a:t> </a:t>
            </a:r>
            <a:r>
              <a:rPr lang="fr-FR" sz="2325" b="1" noProof="0" dirty="0">
                <a:solidFill>
                  <a:srgbClr val="17324D"/>
                </a:solidFill>
                <a:latin typeface="DejaVu Sans"/>
                <a:ea typeface="DejaVu Sans"/>
                <a:cs typeface="DejaVu Sans"/>
              </a:rPr>
              <a:t>prioritaires</a:t>
            </a:r>
            <a:endParaRPr sz="2325" b="1" dirty="0">
              <a:solidFill>
                <a:srgbClr val="17324D"/>
              </a:solidFill>
              <a:latin typeface="DejaVu Sans"/>
              <a:ea typeface="DejaVu Sans"/>
              <a:cs typeface="DejaVu Sans"/>
            </a:endParaRPr>
          </a:p>
        </p:txBody>
      </p:sp>
      <p:sp>
        <p:nvSpPr>
          <p:cNvPr id="3" name="Rectangle 2">
            <a:extLst>
              <a:ext uri="{FF2B5EF4-FFF2-40B4-BE49-F238E27FC236}">
                <a16:creationId xmlns:a16="http://schemas.microsoft.com/office/drawing/2014/main" id="{964F08FD-937D-4770-869A-46C37833CE46}"/>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IV. BESOINS PRIORITAIRES</a:t>
            </a:r>
          </a:p>
        </p:txBody>
      </p:sp>
      <p:sp>
        <p:nvSpPr>
          <p:cNvPr id="4" name="Rectangle 3">
            <a:extLst>
              <a:ext uri="{FF2B5EF4-FFF2-40B4-BE49-F238E27FC236}">
                <a16:creationId xmlns:a16="http://schemas.microsoft.com/office/drawing/2014/main" id="{A926253D-298F-481E-8E5F-46B511A2BF1A}"/>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2C9FB55D-B024-4004-A04E-33FC020D4D27}"/>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21</a:t>
            </a:r>
          </a:p>
        </p:txBody>
      </p:sp>
      <p:sp>
        <p:nvSpPr>
          <p:cNvPr id="6" name="Rectangle : coins arrondis 5">
            <a:extLst>
              <a:ext uri="{FF2B5EF4-FFF2-40B4-BE49-F238E27FC236}">
                <a16:creationId xmlns:a16="http://schemas.microsoft.com/office/drawing/2014/main" id="{8AE478EE-2EEF-487B-9DCA-B503AA219197}"/>
              </a:ext>
            </a:extLst>
          </p:cNvPr>
          <p:cNvSpPr>
            <a:spLocks noGrp="1"/>
          </p:cNvSpPr>
          <p:nvPr/>
        </p:nvSpPr>
        <p:spPr>
          <a:xfrm>
            <a:off x="666750" y="1428750"/>
            <a:ext cx="1809750" cy="666750"/>
          </a:xfrm>
          <a:prstGeom prst="roundRect">
            <a:avLst>
              <a:gd name="adj" fmla="val 11429"/>
            </a:avLst>
          </a:prstGeom>
          <a:solidFill>
            <a:srgbClr val="F2F5F5"/>
          </a:solidFill>
          <a:ln w="0">
            <a:noFill/>
          </a:ln>
        </p:spPr>
        <p:txBody>
          <a:bodyPr/>
          <a:lstStyle/>
          <a:p>
            <a:endParaRPr lang="fr-FR"/>
          </a:p>
        </p:txBody>
      </p:sp>
      <p:sp>
        <p:nvSpPr>
          <p:cNvPr id="7" name="Rectangle 6">
            <a:extLst>
              <a:ext uri="{FF2B5EF4-FFF2-40B4-BE49-F238E27FC236}">
                <a16:creationId xmlns:a16="http://schemas.microsoft.com/office/drawing/2014/main" id="{DC5B4376-B8D2-4E0E-AAD5-8A44F2C3FFA3}"/>
              </a:ext>
            </a:extLst>
          </p:cNvPr>
          <p:cNvSpPr>
            <a:spLocks noGrp="1"/>
          </p:cNvSpPr>
          <p:nvPr/>
        </p:nvSpPr>
        <p:spPr>
          <a:xfrm>
            <a:off x="666750" y="1428750"/>
            <a:ext cx="1809750" cy="666750"/>
          </a:xfrm>
          <a:prstGeom prst="rect">
            <a:avLst/>
          </a:prstGeom>
          <a:noFill/>
          <a:ln w="0">
            <a:noFill/>
          </a:ln>
        </p:spPr>
        <p:txBody>
          <a:bodyPr anchor="ctr">
            <a:normAutofit/>
          </a:bodyPr>
          <a:lstStyle/>
          <a:p>
            <a:pPr algn="ctr">
              <a:defRPr sz="1350" b="1">
                <a:solidFill>
                  <a:srgbClr val="276A8C"/>
                </a:solidFill>
                <a:latin typeface="DejaVu Sans"/>
                <a:ea typeface="DejaVu Sans"/>
                <a:cs typeface="DejaVu Sans"/>
              </a:defRPr>
            </a:pPr>
            <a:r>
              <a:rPr sz="1350" b="1">
                <a:solidFill>
                  <a:srgbClr val="276A8C"/>
                </a:solidFill>
                <a:latin typeface="DejaVu Sans"/>
                <a:ea typeface="DejaVu Sans"/>
                <a:cs typeface="DejaVu Sans"/>
              </a:rPr>
              <a:t>Eau</a:t>
            </a:r>
          </a:p>
        </p:txBody>
      </p:sp>
      <p:sp>
        <p:nvSpPr>
          <p:cNvPr id="8" name="Rectangle 7">
            <a:extLst>
              <a:ext uri="{FF2B5EF4-FFF2-40B4-BE49-F238E27FC236}">
                <a16:creationId xmlns:a16="http://schemas.microsoft.com/office/drawing/2014/main" id="{5627F201-CECF-44D3-845D-5A0EE608C102}"/>
              </a:ext>
            </a:extLst>
          </p:cNvPr>
          <p:cNvSpPr>
            <a:spLocks noGrp="1"/>
          </p:cNvSpPr>
          <p:nvPr/>
        </p:nvSpPr>
        <p:spPr>
          <a:xfrm>
            <a:off x="2857500" y="1428750"/>
            <a:ext cx="3714750" cy="666750"/>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6 forages</a:t>
            </a:r>
          </a:p>
        </p:txBody>
      </p:sp>
      <p:sp>
        <p:nvSpPr>
          <p:cNvPr id="9" name="Rectangle 8">
            <a:extLst>
              <a:ext uri="{FF2B5EF4-FFF2-40B4-BE49-F238E27FC236}">
                <a16:creationId xmlns:a16="http://schemas.microsoft.com/office/drawing/2014/main" id="{366CB68B-6DB2-45F9-8D0D-898819DB1B20}"/>
              </a:ext>
            </a:extLst>
          </p:cNvPr>
          <p:cNvSpPr>
            <a:spLocks noGrp="1"/>
          </p:cNvSpPr>
          <p:nvPr/>
        </p:nvSpPr>
        <p:spPr>
          <a:xfrm>
            <a:off x="6953250" y="1428750"/>
            <a:ext cx="4000500" cy="666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Liberté et Kayes N’di</a:t>
            </a:r>
          </a:p>
        </p:txBody>
      </p:sp>
      <p:sp>
        <p:nvSpPr>
          <p:cNvPr id="10" name="Rectangle : coins arrondis 9">
            <a:extLst>
              <a:ext uri="{FF2B5EF4-FFF2-40B4-BE49-F238E27FC236}">
                <a16:creationId xmlns:a16="http://schemas.microsoft.com/office/drawing/2014/main" id="{5B0D8162-D3B6-414A-B1B6-051C08C0601C}"/>
              </a:ext>
            </a:extLst>
          </p:cNvPr>
          <p:cNvSpPr>
            <a:spLocks noGrp="1"/>
          </p:cNvSpPr>
          <p:nvPr/>
        </p:nvSpPr>
        <p:spPr>
          <a:xfrm>
            <a:off x="666750" y="2305050"/>
            <a:ext cx="1809750" cy="666750"/>
          </a:xfrm>
          <a:prstGeom prst="roundRect">
            <a:avLst>
              <a:gd name="adj" fmla="val 11429"/>
            </a:avLst>
          </a:prstGeom>
          <a:solidFill>
            <a:srgbClr val="F2F5F5"/>
          </a:solidFill>
          <a:ln w="0">
            <a:noFill/>
          </a:ln>
        </p:spPr>
        <p:txBody>
          <a:bodyPr/>
          <a:lstStyle/>
          <a:p>
            <a:endParaRPr lang="fr-FR"/>
          </a:p>
        </p:txBody>
      </p:sp>
      <p:sp>
        <p:nvSpPr>
          <p:cNvPr id="11" name="Rectangle 10">
            <a:extLst>
              <a:ext uri="{FF2B5EF4-FFF2-40B4-BE49-F238E27FC236}">
                <a16:creationId xmlns:a16="http://schemas.microsoft.com/office/drawing/2014/main" id="{44DB15FB-4D4A-4427-9308-697C9B764466}"/>
              </a:ext>
            </a:extLst>
          </p:cNvPr>
          <p:cNvSpPr>
            <a:spLocks noGrp="1"/>
          </p:cNvSpPr>
          <p:nvPr/>
        </p:nvSpPr>
        <p:spPr>
          <a:xfrm>
            <a:off x="666750" y="2305050"/>
            <a:ext cx="1809750" cy="666750"/>
          </a:xfrm>
          <a:prstGeom prst="rect">
            <a:avLst/>
          </a:prstGeom>
          <a:noFill/>
          <a:ln w="0">
            <a:noFill/>
          </a:ln>
        </p:spPr>
        <p:txBody>
          <a:bodyPr anchor="ctr">
            <a:normAutofit/>
          </a:bodyPr>
          <a:lstStyle/>
          <a:p>
            <a:pPr algn="ctr">
              <a:defRPr sz="1350" b="1">
                <a:solidFill>
                  <a:srgbClr val="276A8C"/>
                </a:solidFill>
                <a:latin typeface="DejaVu Sans"/>
                <a:ea typeface="DejaVu Sans"/>
                <a:cs typeface="DejaVu Sans"/>
              </a:defRPr>
            </a:pPr>
            <a:r>
              <a:rPr sz="1350" b="1">
                <a:solidFill>
                  <a:srgbClr val="276A8C"/>
                </a:solidFill>
                <a:latin typeface="DejaVu Sans"/>
                <a:ea typeface="DejaVu Sans"/>
                <a:cs typeface="DejaVu Sans"/>
              </a:rPr>
              <a:t>Électricité</a:t>
            </a:r>
          </a:p>
        </p:txBody>
      </p:sp>
      <p:sp>
        <p:nvSpPr>
          <p:cNvPr id="12" name="Rectangle 11">
            <a:extLst>
              <a:ext uri="{FF2B5EF4-FFF2-40B4-BE49-F238E27FC236}">
                <a16:creationId xmlns:a16="http://schemas.microsoft.com/office/drawing/2014/main" id="{AF907F81-C731-47F8-850F-625CCA73A206}"/>
              </a:ext>
            </a:extLst>
          </p:cNvPr>
          <p:cNvSpPr>
            <a:spLocks noGrp="1"/>
          </p:cNvSpPr>
          <p:nvPr/>
        </p:nvSpPr>
        <p:spPr>
          <a:xfrm>
            <a:off x="2857500" y="2305050"/>
            <a:ext cx="3714750" cy="666750"/>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Extension EDM</a:t>
            </a:r>
          </a:p>
        </p:txBody>
      </p:sp>
      <p:sp>
        <p:nvSpPr>
          <p:cNvPr id="13" name="Rectangle 12">
            <a:extLst>
              <a:ext uri="{FF2B5EF4-FFF2-40B4-BE49-F238E27FC236}">
                <a16:creationId xmlns:a16="http://schemas.microsoft.com/office/drawing/2014/main" id="{8899F914-F1D2-43D0-92C7-B6C882D19D25}"/>
              </a:ext>
            </a:extLst>
          </p:cNvPr>
          <p:cNvSpPr>
            <a:spLocks noGrp="1"/>
          </p:cNvSpPr>
          <p:nvPr/>
        </p:nvSpPr>
        <p:spPr>
          <a:xfrm>
            <a:off x="6953250" y="2305050"/>
            <a:ext cx="4000500" cy="666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Plateau et Kayes N’di</a:t>
            </a:r>
          </a:p>
        </p:txBody>
      </p:sp>
      <p:sp>
        <p:nvSpPr>
          <p:cNvPr id="14" name="Rectangle : coins arrondis 13">
            <a:extLst>
              <a:ext uri="{FF2B5EF4-FFF2-40B4-BE49-F238E27FC236}">
                <a16:creationId xmlns:a16="http://schemas.microsoft.com/office/drawing/2014/main" id="{EF54AFF4-374B-414C-A48F-636D8E4C0842}"/>
              </a:ext>
            </a:extLst>
          </p:cNvPr>
          <p:cNvSpPr>
            <a:spLocks noGrp="1"/>
          </p:cNvSpPr>
          <p:nvPr/>
        </p:nvSpPr>
        <p:spPr>
          <a:xfrm>
            <a:off x="666750" y="3181350"/>
            <a:ext cx="1809750" cy="666750"/>
          </a:xfrm>
          <a:prstGeom prst="roundRect">
            <a:avLst>
              <a:gd name="adj" fmla="val 11429"/>
            </a:avLst>
          </a:prstGeom>
          <a:solidFill>
            <a:srgbClr val="F2F5F5"/>
          </a:solidFill>
          <a:ln w="0">
            <a:noFill/>
          </a:ln>
        </p:spPr>
        <p:txBody>
          <a:bodyPr/>
          <a:lstStyle/>
          <a:p>
            <a:endParaRPr lang="fr-FR"/>
          </a:p>
        </p:txBody>
      </p:sp>
      <p:sp>
        <p:nvSpPr>
          <p:cNvPr id="15" name="Rectangle 14">
            <a:extLst>
              <a:ext uri="{FF2B5EF4-FFF2-40B4-BE49-F238E27FC236}">
                <a16:creationId xmlns:a16="http://schemas.microsoft.com/office/drawing/2014/main" id="{1A1D3E3A-87F4-4753-92F2-FEBF4831B309}"/>
              </a:ext>
            </a:extLst>
          </p:cNvPr>
          <p:cNvSpPr>
            <a:spLocks noGrp="1"/>
          </p:cNvSpPr>
          <p:nvPr/>
        </p:nvSpPr>
        <p:spPr>
          <a:xfrm>
            <a:off x="666750" y="3181350"/>
            <a:ext cx="1809750" cy="666750"/>
          </a:xfrm>
          <a:prstGeom prst="rect">
            <a:avLst/>
          </a:prstGeom>
          <a:noFill/>
          <a:ln w="0">
            <a:noFill/>
          </a:ln>
        </p:spPr>
        <p:txBody>
          <a:bodyPr anchor="ctr">
            <a:normAutofit/>
          </a:bodyPr>
          <a:lstStyle/>
          <a:p>
            <a:pPr algn="ctr">
              <a:defRPr sz="1350" b="1">
                <a:solidFill>
                  <a:srgbClr val="276A8C"/>
                </a:solidFill>
                <a:latin typeface="DejaVu Sans"/>
                <a:ea typeface="DejaVu Sans"/>
                <a:cs typeface="DejaVu Sans"/>
              </a:defRPr>
            </a:pPr>
            <a:r>
              <a:rPr sz="1350" b="1">
                <a:solidFill>
                  <a:srgbClr val="276A8C"/>
                </a:solidFill>
                <a:latin typeface="DejaVu Sans"/>
                <a:ea typeface="DejaVu Sans"/>
                <a:cs typeface="DejaVu Sans"/>
              </a:rPr>
              <a:t>Santé</a:t>
            </a:r>
          </a:p>
        </p:txBody>
      </p:sp>
      <p:sp>
        <p:nvSpPr>
          <p:cNvPr id="16" name="Rectangle 15">
            <a:extLst>
              <a:ext uri="{FF2B5EF4-FFF2-40B4-BE49-F238E27FC236}">
                <a16:creationId xmlns:a16="http://schemas.microsoft.com/office/drawing/2014/main" id="{99016470-54A9-4E95-B3D9-B0570861118D}"/>
              </a:ext>
            </a:extLst>
          </p:cNvPr>
          <p:cNvSpPr>
            <a:spLocks noGrp="1"/>
          </p:cNvSpPr>
          <p:nvPr/>
        </p:nvSpPr>
        <p:spPr>
          <a:xfrm>
            <a:off x="2857500" y="3181350"/>
            <a:ext cx="3714750" cy="666750"/>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2 CSCOM</a:t>
            </a:r>
          </a:p>
        </p:txBody>
      </p:sp>
      <p:sp>
        <p:nvSpPr>
          <p:cNvPr id="17" name="Rectangle 16">
            <a:extLst>
              <a:ext uri="{FF2B5EF4-FFF2-40B4-BE49-F238E27FC236}">
                <a16:creationId xmlns:a16="http://schemas.microsoft.com/office/drawing/2014/main" id="{87AE8DFC-CC63-4D50-B382-D537F5CBA603}"/>
              </a:ext>
            </a:extLst>
          </p:cNvPr>
          <p:cNvSpPr>
            <a:spLocks noGrp="1"/>
          </p:cNvSpPr>
          <p:nvPr/>
        </p:nvSpPr>
        <p:spPr>
          <a:xfrm>
            <a:off x="6953250" y="3181350"/>
            <a:ext cx="4000500" cy="666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Kayes N’di et Khasso</a:t>
            </a:r>
          </a:p>
        </p:txBody>
      </p:sp>
      <p:sp>
        <p:nvSpPr>
          <p:cNvPr id="18" name="Rectangle : coins arrondis 17">
            <a:extLst>
              <a:ext uri="{FF2B5EF4-FFF2-40B4-BE49-F238E27FC236}">
                <a16:creationId xmlns:a16="http://schemas.microsoft.com/office/drawing/2014/main" id="{BFC7D71C-BCF8-41EE-880C-AB7A8C0B8CA7}"/>
              </a:ext>
            </a:extLst>
          </p:cNvPr>
          <p:cNvSpPr>
            <a:spLocks noGrp="1"/>
          </p:cNvSpPr>
          <p:nvPr/>
        </p:nvSpPr>
        <p:spPr>
          <a:xfrm>
            <a:off x="666750" y="4057650"/>
            <a:ext cx="1809750" cy="666750"/>
          </a:xfrm>
          <a:prstGeom prst="roundRect">
            <a:avLst>
              <a:gd name="adj" fmla="val 11429"/>
            </a:avLst>
          </a:prstGeom>
          <a:solidFill>
            <a:srgbClr val="F2F5F5"/>
          </a:solidFill>
          <a:ln w="0">
            <a:noFill/>
          </a:ln>
        </p:spPr>
        <p:txBody>
          <a:bodyPr/>
          <a:lstStyle/>
          <a:p>
            <a:endParaRPr lang="fr-FR"/>
          </a:p>
        </p:txBody>
      </p:sp>
      <p:sp>
        <p:nvSpPr>
          <p:cNvPr id="19" name="Rectangle 18">
            <a:extLst>
              <a:ext uri="{FF2B5EF4-FFF2-40B4-BE49-F238E27FC236}">
                <a16:creationId xmlns:a16="http://schemas.microsoft.com/office/drawing/2014/main" id="{CABEAF42-EF42-4695-B9C3-513BC766EB9A}"/>
              </a:ext>
            </a:extLst>
          </p:cNvPr>
          <p:cNvSpPr>
            <a:spLocks noGrp="1"/>
          </p:cNvSpPr>
          <p:nvPr/>
        </p:nvSpPr>
        <p:spPr>
          <a:xfrm>
            <a:off x="666750" y="4057650"/>
            <a:ext cx="1809750" cy="666750"/>
          </a:xfrm>
          <a:prstGeom prst="rect">
            <a:avLst/>
          </a:prstGeom>
          <a:noFill/>
          <a:ln w="0">
            <a:noFill/>
          </a:ln>
        </p:spPr>
        <p:txBody>
          <a:bodyPr anchor="ctr">
            <a:normAutofit/>
          </a:bodyPr>
          <a:lstStyle/>
          <a:p>
            <a:pPr algn="ctr">
              <a:defRPr sz="1350" b="1">
                <a:solidFill>
                  <a:srgbClr val="276A8C"/>
                </a:solidFill>
                <a:latin typeface="DejaVu Sans"/>
                <a:ea typeface="DejaVu Sans"/>
                <a:cs typeface="DejaVu Sans"/>
              </a:defRPr>
            </a:pPr>
            <a:r>
              <a:rPr sz="1350" b="1">
                <a:solidFill>
                  <a:srgbClr val="276A8C"/>
                </a:solidFill>
                <a:latin typeface="DejaVu Sans"/>
                <a:ea typeface="DejaVu Sans"/>
                <a:cs typeface="DejaVu Sans"/>
              </a:rPr>
              <a:t>Éducation</a:t>
            </a:r>
          </a:p>
        </p:txBody>
      </p:sp>
      <p:sp>
        <p:nvSpPr>
          <p:cNvPr id="20" name="Rectangle 19">
            <a:extLst>
              <a:ext uri="{FF2B5EF4-FFF2-40B4-BE49-F238E27FC236}">
                <a16:creationId xmlns:a16="http://schemas.microsoft.com/office/drawing/2014/main" id="{416468CF-A059-4D4A-94D6-8E6336AE27F0}"/>
              </a:ext>
            </a:extLst>
          </p:cNvPr>
          <p:cNvSpPr>
            <a:spLocks noGrp="1"/>
          </p:cNvSpPr>
          <p:nvPr/>
        </p:nvSpPr>
        <p:spPr>
          <a:xfrm>
            <a:off x="2857500" y="4057650"/>
            <a:ext cx="3714750" cy="666750"/>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5 écoles</a:t>
            </a:r>
          </a:p>
        </p:txBody>
      </p:sp>
      <p:sp>
        <p:nvSpPr>
          <p:cNvPr id="21" name="Rectangle 20">
            <a:extLst>
              <a:ext uri="{FF2B5EF4-FFF2-40B4-BE49-F238E27FC236}">
                <a16:creationId xmlns:a16="http://schemas.microsoft.com/office/drawing/2014/main" id="{B0460E1F-DB37-490F-A38E-7B5359CB07E4}"/>
              </a:ext>
            </a:extLst>
          </p:cNvPr>
          <p:cNvSpPr>
            <a:spLocks noGrp="1"/>
          </p:cNvSpPr>
          <p:nvPr/>
        </p:nvSpPr>
        <p:spPr>
          <a:xfrm>
            <a:off x="6953250" y="4057650"/>
            <a:ext cx="4000500" cy="666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Kayes N’di et Lafiabougou</a:t>
            </a:r>
          </a:p>
        </p:txBody>
      </p:sp>
      <p:sp>
        <p:nvSpPr>
          <p:cNvPr id="22" name="Rectangle : coins arrondis 21">
            <a:extLst>
              <a:ext uri="{FF2B5EF4-FFF2-40B4-BE49-F238E27FC236}">
                <a16:creationId xmlns:a16="http://schemas.microsoft.com/office/drawing/2014/main" id="{DD2E3EBA-32C1-4467-A422-B7A0B04D22E4}"/>
              </a:ext>
            </a:extLst>
          </p:cNvPr>
          <p:cNvSpPr>
            <a:spLocks noGrp="1"/>
          </p:cNvSpPr>
          <p:nvPr/>
        </p:nvSpPr>
        <p:spPr>
          <a:xfrm>
            <a:off x="666750" y="4933950"/>
            <a:ext cx="1809750" cy="666750"/>
          </a:xfrm>
          <a:prstGeom prst="roundRect">
            <a:avLst>
              <a:gd name="adj" fmla="val 11429"/>
            </a:avLst>
          </a:prstGeom>
          <a:solidFill>
            <a:srgbClr val="F2F5F5"/>
          </a:solidFill>
          <a:ln w="0">
            <a:noFill/>
          </a:ln>
        </p:spPr>
        <p:txBody>
          <a:bodyPr/>
          <a:lstStyle/>
          <a:p>
            <a:endParaRPr lang="fr-FR"/>
          </a:p>
        </p:txBody>
      </p:sp>
      <p:sp>
        <p:nvSpPr>
          <p:cNvPr id="23" name="Rectangle 22">
            <a:extLst>
              <a:ext uri="{FF2B5EF4-FFF2-40B4-BE49-F238E27FC236}">
                <a16:creationId xmlns:a16="http://schemas.microsoft.com/office/drawing/2014/main" id="{72AEC76C-0245-46F3-94D6-09594AA4CDB3}"/>
              </a:ext>
            </a:extLst>
          </p:cNvPr>
          <p:cNvSpPr>
            <a:spLocks noGrp="1"/>
          </p:cNvSpPr>
          <p:nvPr/>
        </p:nvSpPr>
        <p:spPr>
          <a:xfrm>
            <a:off x="666750" y="4933950"/>
            <a:ext cx="1809750" cy="666750"/>
          </a:xfrm>
          <a:prstGeom prst="rect">
            <a:avLst/>
          </a:prstGeom>
          <a:noFill/>
          <a:ln w="0">
            <a:noFill/>
          </a:ln>
        </p:spPr>
        <p:txBody>
          <a:bodyPr anchor="ctr">
            <a:normAutofit/>
          </a:bodyPr>
          <a:lstStyle/>
          <a:p>
            <a:pPr algn="ctr">
              <a:defRPr sz="1350" b="1">
                <a:solidFill>
                  <a:srgbClr val="276A8C"/>
                </a:solidFill>
                <a:latin typeface="DejaVu Sans"/>
                <a:ea typeface="DejaVu Sans"/>
                <a:cs typeface="DejaVu Sans"/>
              </a:defRPr>
            </a:pPr>
            <a:r>
              <a:rPr sz="1350" b="1">
                <a:solidFill>
                  <a:srgbClr val="276A8C"/>
                </a:solidFill>
                <a:latin typeface="DejaVu Sans"/>
                <a:ea typeface="DejaVu Sans"/>
                <a:cs typeface="DejaVu Sans"/>
              </a:rPr>
              <a:t>Assainissement</a:t>
            </a:r>
          </a:p>
        </p:txBody>
      </p:sp>
      <p:sp>
        <p:nvSpPr>
          <p:cNvPr id="24" name="Rectangle 23">
            <a:extLst>
              <a:ext uri="{FF2B5EF4-FFF2-40B4-BE49-F238E27FC236}">
                <a16:creationId xmlns:a16="http://schemas.microsoft.com/office/drawing/2014/main" id="{13A48CF1-BE4E-4C11-BDCF-A7DF03B1108E}"/>
              </a:ext>
            </a:extLst>
          </p:cNvPr>
          <p:cNvSpPr>
            <a:spLocks noGrp="1"/>
          </p:cNvSpPr>
          <p:nvPr/>
        </p:nvSpPr>
        <p:spPr>
          <a:xfrm>
            <a:off x="2857500" y="4933950"/>
            <a:ext cx="3714750" cy="666750"/>
          </a:xfrm>
          <a:prstGeom prst="rect">
            <a:avLst/>
          </a:prstGeom>
          <a:noFill/>
          <a:ln w="0">
            <a:noFill/>
          </a:ln>
        </p:spPr>
        <p:txBody>
          <a:bodyPr anchor="ctr">
            <a:normAutofit/>
          </a:bodyPr>
          <a:lstStyle/>
          <a:p>
            <a:pPr algn="l">
              <a:defRPr sz="1650" b="1">
                <a:solidFill>
                  <a:srgbClr val="17324D"/>
                </a:solidFill>
                <a:latin typeface="DejaVu Sans"/>
                <a:ea typeface="DejaVu Sans"/>
                <a:cs typeface="DejaVu Sans"/>
              </a:defRPr>
            </a:pPr>
            <a:r>
              <a:rPr sz="1650" b="1">
                <a:solidFill>
                  <a:srgbClr val="17324D"/>
                </a:solidFill>
                <a:latin typeface="DejaVu Sans"/>
                <a:ea typeface="DejaVu Sans"/>
                <a:cs typeface="DejaVu Sans"/>
              </a:rPr>
              <a:t>16 808 ml + 1 dépôt</a:t>
            </a:r>
          </a:p>
        </p:txBody>
      </p:sp>
      <p:sp>
        <p:nvSpPr>
          <p:cNvPr id="25" name="Rectangle 24">
            <a:extLst>
              <a:ext uri="{FF2B5EF4-FFF2-40B4-BE49-F238E27FC236}">
                <a16:creationId xmlns:a16="http://schemas.microsoft.com/office/drawing/2014/main" id="{BACC1218-C2F1-4778-B1C8-ECC256B480EF}"/>
              </a:ext>
            </a:extLst>
          </p:cNvPr>
          <p:cNvSpPr>
            <a:spLocks noGrp="1"/>
          </p:cNvSpPr>
          <p:nvPr/>
        </p:nvSpPr>
        <p:spPr>
          <a:xfrm>
            <a:off x="6953250" y="4933950"/>
            <a:ext cx="4000500" cy="66675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Secteurs prioritaires et Plateau</a:t>
            </a:r>
          </a:p>
        </p:txBody>
      </p:sp>
    </p:spTree>
    <p:extLst>
      <p:ext uri="{BB962C8B-B14F-4D97-AF65-F5344CB8AC3E}">
        <p14:creationId xmlns:p14="http://schemas.microsoft.com/office/powerpoint/2010/main" val="191421056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C1355E9-7192-4CB9-9F5B-2782931EE03B}"/>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A6C6D79A-7875-4FDE-BDCD-B067B7EE98C4}"/>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Plans types et devis : forage et écoles</a:t>
            </a:r>
          </a:p>
        </p:txBody>
      </p:sp>
      <p:sp>
        <p:nvSpPr>
          <p:cNvPr id="3" name="Rectangle 2">
            <a:extLst>
              <a:ext uri="{FF2B5EF4-FFF2-40B4-BE49-F238E27FC236}">
                <a16:creationId xmlns:a16="http://schemas.microsoft.com/office/drawing/2014/main" id="{FDE04454-8470-4987-9470-A86812CD8612}"/>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V. PLAN D’ACTIONS </a:t>
            </a:r>
          </a:p>
        </p:txBody>
      </p:sp>
      <p:sp>
        <p:nvSpPr>
          <p:cNvPr id="4" name="Rectangle 3">
            <a:extLst>
              <a:ext uri="{FF2B5EF4-FFF2-40B4-BE49-F238E27FC236}">
                <a16:creationId xmlns:a16="http://schemas.microsoft.com/office/drawing/2014/main" id="{FD093975-71B6-46DE-8BDC-385BA9D972AB}"/>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5D1DD22E-5227-4B9A-B237-0C78780C4103}"/>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22</a:t>
            </a:r>
          </a:p>
        </p:txBody>
      </p:sp>
      <p:sp>
        <p:nvSpPr>
          <p:cNvPr id="6" name="Rectangle 5">
            <a:extLst>
              <a:ext uri="{FF2B5EF4-FFF2-40B4-BE49-F238E27FC236}">
                <a16:creationId xmlns:a16="http://schemas.microsoft.com/office/drawing/2014/main" id="{7E99EDC6-0418-4C15-97AF-C0E7E3B206C9}"/>
              </a:ext>
            </a:extLst>
          </p:cNvPr>
          <p:cNvSpPr>
            <a:spLocks noGrp="1"/>
          </p:cNvSpPr>
          <p:nvPr/>
        </p:nvSpPr>
        <p:spPr>
          <a:xfrm>
            <a:off x="762000" y="1666875"/>
            <a:ext cx="3333750" cy="57150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Forage 240 m³/j</a:t>
            </a:r>
          </a:p>
        </p:txBody>
      </p:sp>
      <p:sp>
        <p:nvSpPr>
          <p:cNvPr id="7" name="Rectangle 6">
            <a:extLst>
              <a:ext uri="{FF2B5EF4-FFF2-40B4-BE49-F238E27FC236}">
                <a16:creationId xmlns:a16="http://schemas.microsoft.com/office/drawing/2014/main" id="{C5D13D9E-476B-485B-9FCB-027978C4010B}"/>
              </a:ext>
            </a:extLst>
          </p:cNvPr>
          <p:cNvSpPr>
            <a:spLocks noGrp="1"/>
          </p:cNvSpPr>
          <p:nvPr/>
        </p:nvSpPr>
        <p:spPr>
          <a:xfrm>
            <a:off x="4429125" y="1666875"/>
            <a:ext cx="3714750" cy="571500"/>
          </a:xfrm>
          <a:prstGeom prst="rect">
            <a:avLst/>
          </a:prstGeom>
          <a:noFill/>
          <a:ln w="0">
            <a:noFill/>
          </a:ln>
        </p:spPr>
        <p:txBody>
          <a:bodyPr anchor="ctr">
            <a:normAutofit/>
          </a:bodyPr>
          <a:lstStyle/>
          <a:p>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23 983 500 FCFA TTC</a:t>
            </a:r>
          </a:p>
        </p:txBody>
      </p:sp>
      <p:sp>
        <p:nvSpPr>
          <p:cNvPr id="8" name="Rectangle 7">
            <a:extLst>
              <a:ext uri="{FF2B5EF4-FFF2-40B4-BE49-F238E27FC236}">
                <a16:creationId xmlns:a16="http://schemas.microsoft.com/office/drawing/2014/main" id="{5C448A10-BBAE-460C-A026-25AE5B78567A}"/>
              </a:ext>
            </a:extLst>
          </p:cNvPr>
          <p:cNvSpPr>
            <a:spLocks noGrp="1"/>
          </p:cNvSpPr>
          <p:nvPr/>
        </p:nvSpPr>
        <p:spPr>
          <a:xfrm>
            <a:off x="8572500" y="1666875"/>
            <a:ext cx="2667000" cy="57150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6 unités proposées</a:t>
            </a:r>
          </a:p>
        </p:txBody>
      </p:sp>
      <p:sp>
        <p:nvSpPr>
          <p:cNvPr id="9" name="Rectangle 8">
            <a:extLst>
              <a:ext uri="{FF2B5EF4-FFF2-40B4-BE49-F238E27FC236}">
                <a16:creationId xmlns:a16="http://schemas.microsoft.com/office/drawing/2014/main" id="{3768D27B-1F2B-4C9C-B65B-F88F29CB4D95}"/>
              </a:ext>
            </a:extLst>
          </p:cNvPr>
          <p:cNvSpPr>
            <a:spLocks noGrp="1"/>
          </p:cNvSpPr>
          <p:nvPr/>
        </p:nvSpPr>
        <p:spPr>
          <a:xfrm>
            <a:off x="762000" y="2352675"/>
            <a:ext cx="10096500" cy="9525"/>
          </a:xfrm>
          <a:prstGeom prst="rect">
            <a:avLst/>
          </a:prstGeom>
          <a:solidFill>
            <a:srgbClr val="D9E1E5"/>
          </a:solidFill>
          <a:ln w="0">
            <a:noFill/>
          </a:ln>
        </p:spPr>
        <p:txBody>
          <a:bodyPr/>
          <a:lstStyle/>
          <a:p>
            <a:endParaRPr lang="fr-FR"/>
          </a:p>
        </p:txBody>
      </p:sp>
      <p:sp>
        <p:nvSpPr>
          <p:cNvPr id="10" name="Rectangle 9">
            <a:extLst>
              <a:ext uri="{FF2B5EF4-FFF2-40B4-BE49-F238E27FC236}">
                <a16:creationId xmlns:a16="http://schemas.microsoft.com/office/drawing/2014/main" id="{62E56C6E-B352-49FF-BAAC-DC0BD3D31092}"/>
              </a:ext>
            </a:extLst>
          </p:cNvPr>
          <p:cNvSpPr>
            <a:spLocks noGrp="1"/>
          </p:cNvSpPr>
          <p:nvPr/>
        </p:nvSpPr>
        <p:spPr>
          <a:xfrm>
            <a:off x="762000" y="2857500"/>
            <a:ext cx="3333750" cy="57150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École 1er cycle</a:t>
            </a:r>
          </a:p>
        </p:txBody>
      </p:sp>
      <p:sp>
        <p:nvSpPr>
          <p:cNvPr id="11" name="Rectangle 10">
            <a:extLst>
              <a:ext uri="{FF2B5EF4-FFF2-40B4-BE49-F238E27FC236}">
                <a16:creationId xmlns:a16="http://schemas.microsoft.com/office/drawing/2014/main" id="{B050207D-1FC4-47E9-A1AD-DCED0C10C1E8}"/>
              </a:ext>
            </a:extLst>
          </p:cNvPr>
          <p:cNvSpPr>
            <a:spLocks noGrp="1"/>
          </p:cNvSpPr>
          <p:nvPr/>
        </p:nvSpPr>
        <p:spPr>
          <a:xfrm>
            <a:off x="4429125" y="2857500"/>
            <a:ext cx="3714750" cy="571500"/>
          </a:xfrm>
          <a:prstGeom prst="rect">
            <a:avLst/>
          </a:prstGeom>
          <a:noFill/>
          <a:ln w="0">
            <a:noFill/>
          </a:ln>
        </p:spPr>
        <p:txBody>
          <a:bodyPr anchor="ctr">
            <a:normAutofit/>
          </a:bodyPr>
          <a:lstStyle/>
          <a:p>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84 844 166 FCFA TTC</a:t>
            </a:r>
          </a:p>
        </p:txBody>
      </p:sp>
      <p:sp>
        <p:nvSpPr>
          <p:cNvPr id="12" name="Rectangle 11">
            <a:extLst>
              <a:ext uri="{FF2B5EF4-FFF2-40B4-BE49-F238E27FC236}">
                <a16:creationId xmlns:a16="http://schemas.microsoft.com/office/drawing/2014/main" id="{2BE86A93-8535-46B1-BB05-633D4077317E}"/>
              </a:ext>
            </a:extLst>
          </p:cNvPr>
          <p:cNvSpPr>
            <a:spLocks noGrp="1"/>
          </p:cNvSpPr>
          <p:nvPr/>
        </p:nvSpPr>
        <p:spPr>
          <a:xfrm>
            <a:off x="8572500" y="2857500"/>
            <a:ext cx="2667000" cy="57150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3 unités proposées</a:t>
            </a:r>
          </a:p>
        </p:txBody>
      </p:sp>
      <p:sp>
        <p:nvSpPr>
          <p:cNvPr id="13" name="Rectangle 12">
            <a:extLst>
              <a:ext uri="{FF2B5EF4-FFF2-40B4-BE49-F238E27FC236}">
                <a16:creationId xmlns:a16="http://schemas.microsoft.com/office/drawing/2014/main" id="{0DC62F42-51E8-4491-B399-C4D1978BD08E}"/>
              </a:ext>
            </a:extLst>
          </p:cNvPr>
          <p:cNvSpPr>
            <a:spLocks noGrp="1"/>
          </p:cNvSpPr>
          <p:nvPr/>
        </p:nvSpPr>
        <p:spPr>
          <a:xfrm>
            <a:off x="762000" y="3543300"/>
            <a:ext cx="10096500" cy="9525"/>
          </a:xfrm>
          <a:prstGeom prst="rect">
            <a:avLst/>
          </a:prstGeom>
          <a:solidFill>
            <a:srgbClr val="D9E1E5"/>
          </a:solidFill>
          <a:ln w="0">
            <a:noFill/>
          </a:ln>
        </p:spPr>
        <p:txBody>
          <a:bodyPr/>
          <a:lstStyle/>
          <a:p>
            <a:endParaRPr lang="fr-FR"/>
          </a:p>
        </p:txBody>
      </p:sp>
      <p:sp>
        <p:nvSpPr>
          <p:cNvPr id="14" name="Rectangle 13">
            <a:extLst>
              <a:ext uri="{FF2B5EF4-FFF2-40B4-BE49-F238E27FC236}">
                <a16:creationId xmlns:a16="http://schemas.microsoft.com/office/drawing/2014/main" id="{7A94085C-F5F6-4C22-B06C-6E10E5A330CB}"/>
              </a:ext>
            </a:extLst>
          </p:cNvPr>
          <p:cNvSpPr>
            <a:spLocks noGrp="1"/>
          </p:cNvSpPr>
          <p:nvPr/>
        </p:nvSpPr>
        <p:spPr>
          <a:xfrm>
            <a:off x="762000" y="4048125"/>
            <a:ext cx="3333750" cy="571500"/>
          </a:xfrm>
          <a:prstGeom prst="rect">
            <a:avLst/>
          </a:prstGeom>
          <a:noFill/>
          <a:ln w="0">
            <a:noFill/>
          </a:ln>
        </p:spPr>
        <p:txBody>
          <a:bodyPr anchor="ctr">
            <a:normAutofit/>
          </a:bodyPr>
          <a:lstStyle/>
          <a:p>
            <a:pPr algn="l">
              <a:defRPr sz="1725" b="1">
                <a:solidFill>
                  <a:srgbClr val="276A8C"/>
                </a:solidFill>
                <a:latin typeface="DejaVu Sans"/>
                <a:ea typeface="DejaVu Sans"/>
                <a:cs typeface="DejaVu Sans"/>
              </a:defRPr>
            </a:pPr>
            <a:r>
              <a:rPr sz="1725" b="1">
                <a:solidFill>
                  <a:srgbClr val="276A8C"/>
                </a:solidFill>
                <a:latin typeface="DejaVu Sans"/>
                <a:ea typeface="DejaVu Sans"/>
                <a:cs typeface="DejaVu Sans"/>
              </a:rPr>
              <a:t>École 2e cycle</a:t>
            </a:r>
          </a:p>
        </p:txBody>
      </p:sp>
      <p:sp>
        <p:nvSpPr>
          <p:cNvPr id="15" name="Rectangle 14">
            <a:extLst>
              <a:ext uri="{FF2B5EF4-FFF2-40B4-BE49-F238E27FC236}">
                <a16:creationId xmlns:a16="http://schemas.microsoft.com/office/drawing/2014/main" id="{4F8B19F2-3490-43E1-A64D-2DB0420C61F2}"/>
              </a:ext>
            </a:extLst>
          </p:cNvPr>
          <p:cNvSpPr>
            <a:spLocks noGrp="1"/>
          </p:cNvSpPr>
          <p:nvPr/>
        </p:nvSpPr>
        <p:spPr>
          <a:xfrm>
            <a:off x="4429125" y="4048125"/>
            <a:ext cx="3714750" cy="571500"/>
          </a:xfrm>
          <a:prstGeom prst="rect">
            <a:avLst/>
          </a:prstGeom>
          <a:noFill/>
          <a:ln w="0">
            <a:noFill/>
          </a:ln>
        </p:spPr>
        <p:txBody>
          <a:bodyPr anchor="ctr">
            <a:normAutofit/>
          </a:bodyPr>
          <a:lstStyle/>
          <a:p>
            <a:pPr algn="l">
              <a:defRPr sz="1875" b="1">
                <a:solidFill>
                  <a:srgbClr val="17324D"/>
                </a:solidFill>
                <a:latin typeface="DejaVu Sans"/>
                <a:ea typeface="DejaVu Sans"/>
                <a:cs typeface="DejaVu Sans"/>
              </a:defRPr>
            </a:pPr>
            <a:r>
              <a:rPr sz="1875" b="1">
                <a:solidFill>
                  <a:srgbClr val="17324D"/>
                </a:solidFill>
                <a:latin typeface="DejaVu Sans"/>
                <a:ea typeface="DejaVu Sans"/>
                <a:cs typeface="DejaVu Sans"/>
              </a:rPr>
              <a:t>60 102 740 FCFA TTC</a:t>
            </a:r>
          </a:p>
        </p:txBody>
      </p:sp>
      <p:sp>
        <p:nvSpPr>
          <p:cNvPr id="16" name="Rectangle 15">
            <a:extLst>
              <a:ext uri="{FF2B5EF4-FFF2-40B4-BE49-F238E27FC236}">
                <a16:creationId xmlns:a16="http://schemas.microsoft.com/office/drawing/2014/main" id="{AA0A09A3-9E46-4FA4-8682-ECFF23BC5052}"/>
              </a:ext>
            </a:extLst>
          </p:cNvPr>
          <p:cNvSpPr>
            <a:spLocks noGrp="1"/>
          </p:cNvSpPr>
          <p:nvPr/>
        </p:nvSpPr>
        <p:spPr>
          <a:xfrm>
            <a:off x="8572500" y="4048125"/>
            <a:ext cx="2667000" cy="571500"/>
          </a:xfrm>
          <a:prstGeom prst="rect">
            <a:avLst/>
          </a:prstGeom>
          <a:noFill/>
          <a:ln w="0">
            <a:noFill/>
          </a:ln>
        </p:spPr>
        <p:txBody>
          <a:bodyPr anchor="ctr">
            <a:normAutofit/>
          </a:bodyPr>
          <a:lstStyle/>
          <a:p>
            <a:pPr algn="l">
              <a:defRPr sz="1350" b="0">
                <a:solidFill>
                  <a:srgbClr val="1D2935"/>
                </a:solidFill>
                <a:latin typeface="DejaVu Sans"/>
                <a:ea typeface="DejaVu Sans"/>
                <a:cs typeface="DejaVu Sans"/>
              </a:defRPr>
            </a:pPr>
            <a:r>
              <a:rPr sz="1350" b="0">
                <a:solidFill>
                  <a:srgbClr val="1D2935"/>
                </a:solidFill>
                <a:latin typeface="DejaVu Sans"/>
                <a:ea typeface="DejaVu Sans"/>
                <a:cs typeface="DejaVu Sans"/>
              </a:rPr>
              <a:t>2 unités proposées</a:t>
            </a:r>
          </a:p>
        </p:txBody>
      </p:sp>
      <p:sp>
        <p:nvSpPr>
          <p:cNvPr id="17" name="Rectangle 16">
            <a:extLst>
              <a:ext uri="{FF2B5EF4-FFF2-40B4-BE49-F238E27FC236}">
                <a16:creationId xmlns:a16="http://schemas.microsoft.com/office/drawing/2014/main" id="{3DE12A00-21CA-4909-8CA2-C9440DEDF783}"/>
              </a:ext>
            </a:extLst>
          </p:cNvPr>
          <p:cNvSpPr>
            <a:spLocks noGrp="1"/>
          </p:cNvSpPr>
          <p:nvPr/>
        </p:nvSpPr>
        <p:spPr>
          <a:xfrm>
            <a:off x="762000" y="4733925"/>
            <a:ext cx="10096500" cy="9525"/>
          </a:xfrm>
          <a:prstGeom prst="rect">
            <a:avLst/>
          </a:prstGeom>
          <a:solidFill>
            <a:srgbClr val="D9E1E5"/>
          </a:solidFill>
          <a:ln w="0">
            <a:noFill/>
          </a:ln>
        </p:spPr>
        <p:txBody>
          <a:bodyPr/>
          <a:lstStyle/>
          <a:p>
            <a:endParaRPr lang="fr-FR"/>
          </a:p>
        </p:txBody>
      </p:sp>
      <p:sp>
        <p:nvSpPr>
          <p:cNvPr id="18" name="Rectangle 17">
            <a:extLst>
              <a:ext uri="{FF2B5EF4-FFF2-40B4-BE49-F238E27FC236}">
                <a16:creationId xmlns:a16="http://schemas.microsoft.com/office/drawing/2014/main" id="{3B2FCDDF-71A7-45BD-8454-487EC3FC71CF}"/>
              </a:ext>
            </a:extLst>
          </p:cNvPr>
          <p:cNvSpPr>
            <a:spLocks noGrp="1"/>
          </p:cNvSpPr>
          <p:nvPr/>
        </p:nvSpPr>
        <p:spPr>
          <a:xfrm>
            <a:off x="762000" y="5572125"/>
            <a:ext cx="7620000" cy="333375"/>
          </a:xfrm>
          <a:prstGeom prst="rect">
            <a:avLst/>
          </a:prstGeom>
          <a:noFill/>
          <a:ln w="0">
            <a:noFill/>
          </a:ln>
        </p:spPr>
        <p:txBody>
          <a:bodyPr anchor="ctr">
            <a:normAutofit/>
          </a:bodyPr>
          <a:lstStyle/>
          <a:p>
            <a:pPr algn="l">
              <a:defRPr sz="1125" b="0">
                <a:solidFill>
                  <a:srgbClr val="647481"/>
                </a:solidFill>
                <a:latin typeface="DejaVu Sans"/>
                <a:ea typeface="DejaVu Sans"/>
                <a:cs typeface="DejaVu Sans"/>
              </a:defRPr>
            </a:pPr>
            <a:r>
              <a:rPr sz="1125" b="0">
                <a:solidFill>
                  <a:srgbClr val="647481"/>
                </a:solidFill>
                <a:latin typeface="DejaVu Sans"/>
                <a:ea typeface="DejaVu Sans"/>
                <a:cs typeface="DejaVu Sans"/>
              </a:rPr>
              <a:t>Les montants proviennent des tableaux récapitulatifs du rapport.</a:t>
            </a:r>
          </a:p>
        </p:txBody>
      </p:sp>
    </p:spTree>
    <p:extLst>
      <p:ext uri="{BB962C8B-B14F-4D97-AF65-F5344CB8AC3E}">
        <p14:creationId xmlns:p14="http://schemas.microsoft.com/office/powerpoint/2010/main" val="54079707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6BDC02E-25A7-43BE-97FD-1696ACE76DA0}"/>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8AAB4414-AAD4-47ED-8043-6ADFC79344F8}"/>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Plans types et devis : CSCOM et dépôt de transit</a:t>
            </a:r>
          </a:p>
        </p:txBody>
      </p:sp>
      <p:sp>
        <p:nvSpPr>
          <p:cNvPr id="3" name="Rectangle 2">
            <a:extLst>
              <a:ext uri="{FF2B5EF4-FFF2-40B4-BE49-F238E27FC236}">
                <a16:creationId xmlns:a16="http://schemas.microsoft.com/office/drawing/2014/main" id="{F0E69CCB-EA37-4B69-ACE9-363D7759F1E3}"/>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dirty="0">
                <a:solidFill>
                  <a:srgbClr val="276A8C"/>
                </a:solidFill>
                <a:latin typeface="DejaVu Sans"/>
                <a:ea typeface="DejaVu Sans"/>
                <a:cs typeface="DejaVu Sans"/>
              </a:rPr>
              <a:t>V. PLAN D’ACTIONS</a:t>
            </a:r>
          </a:p>
        </p:txBody>
      </p:sp>
      <p:sp>
        <p:nvSpPr>
          <p:cNvPr id="4" name="Rectangle 3">
            <a:extLst>
              <a:ext uri="{FF2B5EF4-FFF2-40B4-BE49-F238E27FC236}">
                <a16:creationId xmlns:a16="http://schemas.microsoft.com/office/drawing/2014/main" id="{663C8A33-6687-4CE9-BD1C-8977FBFB1F75}"/>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1289288A-17F8-4960-87B9-D523D0110C6E}"/>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23</a:t>
            </a:r>
          </a:p>
        </p:txBody>
      </p:sp>
      <p:sp>
        <p:nvSpPr>
          <p:cNvPr id="6" name="Rectangle 5">
            <a:extLst>
              <a:ext uri="{FF2B5EF4-FFF2-40B4-BE49-F238E27FC236}">
                <a16:creationId xmlns:a16="http://schemas.microsoft.com/office/drawing/2014/main" id="{C565DEAC-DC18-480A-BDEE-D6741A5DEA07}"/>
              </a:ext>
            </a:extLst>
          </p:cNvPr>
          <p:cNvSpPr>
            <a:spLocks noGrp="1"/>
          </p:cNvSpPr>
          <p:nvPr/>
        </p:nvSpPr>
        <p:spPr>
          <a:xfrm>
            <a:off x="762000" y="1714500"/>
            <a:ext cx="371475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97 166 709</a:t>
            </a:r>
          </a:p>
        </p:txBody>
      </p:sp>
      <p:sp>
        <p:nvSpPr>
          <p:cNvPr id="7" name="Rectangle 6">
            <a:extLst>
              <a:ext uri="{FF2B5EF4-FFF2-40B4-BE49-F238E27FC236}">
                <a16:creationId xmlns:a16="http://schemas.microsoft.com/office/drawing/2014/main" id="{F91D9DEE-D39A-45D8-87A0-AACA25EC35E3}"/>
              </a:ext>
            </a:extLst>
          </p:cNvPr>
          <p:cNvSpPr>
            <a:spLocks noGrp="1"/>
          </p:cNvSpPr>
          <p:nvPr/>
        </p:nvSpPr>
        <p:spPr>
          <a:xfrm>
            <a:off x="762000" y="2305050"/>
            <a:ext cx="3714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FCFA TTC par CSCOM</a:t>
            </a:r>
          </a:p>
        </p:txBody>
      </p:sp>
      <p:sp>
        <p:nvSpPr>
          <p:cNvPr id="8" name="Rectangle 7">
            <a:extLst>
              <a:ext uri="{FF2B5EF4-FFF2-40B4-BE49-F238E27FC236}">
                <a16:creationId xmlns:a16="http://schemas.microsoft.com/office/drawing/2014/main" id="{455F16E9-05B5-4D9E-B62D-32AE15FB8B78}"/>
              </a:ext>
            </a:extLst>
          </p:cNvPr>
          <p:cNvSpPr>
            <a:spLocks noGrp="1"/>
          </p:cNvSpPr>
          <p:nvPr/>
        </p:nvSpPr>
        <p:spPr>
          <a:xfrm>
            <a:off x="6286500" y="1714500"/>
            <a:ext cx="4476750" cy="590550"/>
          </a:xfrm>
          <a:prstGeom prst="rect">
            <a:avLst/>
          </a:prstGeom>
          <a:noFill/>
          <a:ln w="0">
            <a:noFill/>
          </a:ln>
        </p:spPr>
        <p:txBody>
          <a:bodyPr anchor="ctr">
            <a:normAutofit/>
          </a:bodyPr>
          <a:lstStyle/>
          <a:p>
            <a:pPr algn="l">
              <a:defRPr sz="2775" b="1">
                <a:solidFill>
                  <a:srgbClr val="276A8C"/>
                </a:solidFill>
                <a:latin typeface="DejaVu Sans"/>
                <a:ea typeface="DejaVu Sans"/>
                <a:cs typeface="DejaVu Sans"/>
              </a:defRPr>
            </a:pPr>
            <a:r>
              <a:rPr sz="2775" b="1">
                <a:solidFill>
                  <a:srgbClr val="276A8C"/>
                </a:solidFill>
                <a:latin typeface="DejaVu Sans"/>
                <a:ea typeface="DejaVu Sans"/>
                <a:cs typeface="DejaVu Sans"/>
              </a:rPr>
              <a:t>53 014 026</a:t>
            </a:r>
          </a:p>
        </p:txBody>
      </p:sp>
      <p:sp>
        <p:nvSpPr>
          <p:cNvPr id="9" name="Rectangle 8">
            <a:extLst>
              <a:ext uri="{FF2B5EF4-FFF2-40B4-BE49-F238E27FC236}">
                <a16:creationId xmlns:a16="http://schemas.microsoft.com/office/drawing/2014/main" id="{4C65F0F6-4B47-4460-9C66-49F3A6C99C5D}"/>
              </a:ext>
            </a:extLst>
          </p:cNvPr>
          <p:cNvSpPr>
            <a:spLocks noGrp="1"/>
          </p:cNvSpPr>
          <p:nvPr/>
        </p:nvSpPr>
        <p:spPr>
          <a:xfrm>
            <a:off x="6286500" y="2305050"/>
            <a:ext cx="447675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FCFA TTC pour le dépôt de 600 m²</a:t>
            </a:r>
          </a:p>
        </p:txBody>
      </p:sp>
      <p:sp>
        <p:nvSpPr>
          <p:cNvPr id="10" name="Rectangle 9">
            <a:extLst>
              <a:ext uri="{FF2B5EF4-FFF2-40B4-BE49-F238E27FC236}">
                <a16:creationId xmlns:a16="http://schemas.microsoft.com/office/drawing/2014/main" id="{8F610EFE-59B8-4511-A623-A48CF9F92053}"/>
              </a:ext>
            </a:extLst>
          </p:cNvPr>
          <p:cNvSpPr>
            <a:spLocks noGrp="1"/>
          </p:cNvSpPr>
          <p:nvPr/>
        </p:nvSpPr>
        <p:spPr>
          <a:xfrm>
            <a:off x="762000" y="3238500"/>
            <a:ext cx="10096500" cy="19050"/>
          </a:xfrm>
          <a:prstGeom prst="rect">
            <a:avLst/>
          </a:prstGeom>
          <a:solidFill>
            <a:srgbClr val="D9E1E5"/>
          </a:solidFill>
          <a:ln w="0">
            <a:noFill/>
          </a:ln>
        </p:spPr>
        <p:txBody>
          <a:bodyPr/>
          <a:lstStyle/>
          <a:p>
            <a:endParaRPr lang="fr-FR"/>
          </a:p>
        </p:txBody>
      </p:sp>
      <p:sp>
        <p:nvSpPr>
          <p:cNvPr id="11" name="Rectangle 10">
            <a:extLst>
              <a:ext uri="{FF2B5EF4-FFF2-40B4-BE49-F238E27FC236}">
                <a16:creationId xmlns:a16="http://schemas.microsoft.com/office/drawing/2014/main" id="{8BC38F45-A654-40B1-9523-4AAE0CF12D94}"/>
              </a:ext>
            </a:extLst>
          </p:cNvPr>
          <p:cNvSpPr>
            <a:spLocks noGrp="1"/>
          </p:cNvSpPr>
          <p:nvPr/>
        </p:nvSpPr>
        <p:spPr>
          <a:xfrm>
            <a:off x="762000" y="3619500"/>
            <a:ext cx="3333750" cy="333375"/>
          </a:xfrm>
          <a:prstGeom prst="rect">
            <a:avLst/>
          </a:prstGeom>
          <a:noFill/>
          <a:ln w="0">
            <a:noFill/>
          </a:ln>
        </p:spPr>
        <p:txBody>
          <a:bodyPr anchor="ctr">
            <a:normAutofit/>
          </a:bodyPr>
          <a:lstStyle/>
          <a:p>
            <a:pPr algn="l">
              <a:defRPr sz="1500" b="1">
                <a:solidFill>
                  <a:srgbClr val="276A8C"/>
                </a:solidFill>
                <a:latin typeface="DejaVu Sans"/>
                <a:ea typeface="DejaVu Sans"/>
                <a:cs typeface="DejaVu Sans"/>
              </a:defRPr>
            </a:pPr>
            <a:r>
              <a:rPr sz="1500" b="1">
                <a:solidFill>
                  <a:srgbClr val="276A8C"/>
                </a:solidFill>
                <a:latin typeface="DejaVu Sans"/>
                <a:ea typeface="DejaVu Sans"/>
                <a:cs typeface="DejaVu Sans"/>
              </a:rPr>
              <a:t>CSCOM proposé</a:t>
            </a:r>
          </a:p>
        </p:txBody>
      </p:sp>
      <p:sp>
        <p:nvSpPr>
          <p:cNvPr id="12" name="Rectangle 11">
            <a:extLst>
              <a:ext uri="{FF2B5EF4-FFF2-40B4-BE49-F238E27FC236}">
                <a16:creationId xmlns:a16="http://schemas.microsoft.com/office/drawing/2014/main" id="{B2E83525-44CE-44C8-9619-B9F653F2EC02}"/>
              </a:ext>
            </a:extLst>
          </p:cNvPr>
          <p:cNvSpPr>
            <a:spLocks noGrp="1"/>
          </p:cNvSpPr>
          <p:nvPr/>
        </p:nvSpPr>
        <p:spPr>
          <a:xfrm>
            <a:off x="762000" y="4048125"/>
            <a:ext cx="4095750" cy="1000125"/>
          </a:xfrm>
          <a:prstGeom prst="rect">
            <a:avLst/>
          </a:prstGeom>
          <a:noFill/>
          <a:ln w="0">
            <a:noFill/>
          </a:ln>
        </p:spPr>
        <p:txBody>
          <a:bodyPr anchor="ctr">
            <a:normAutofit/>
          </a:bodyPr>
          <a:lstStyle/>
          <a:p>
            <a:pPr algn="l">
              <a:defRPr sz="1425" b="0">
                <a:solidFill>
                  <a:srgbClr val="1D2935"/>
                </a:solidFill>
                <a:latin typeface="DejaVu Sans"/>
                <a:ea typeface="DejaVu Sans"/>
                <a:cs typeface="DejaVu Sans"/>
              </a:defRPr>
            </a:pPr>
            <a:r>
              <a:rPr sz="1425" b="0">
                <a:solidFill>
                  <a:srgbClr val="1D2935"/>
                </a:solidFill>
                <a:latin typeface="DejaVu Sans"/>
                <a:ea typeface="DejaVu Sans"/>
                <a:cs typeface="DejaVu Sans"/>
              </a:rPr>
              <a:t>Dispensaire, maternité, logements, latrines et hangar de vaccination.</a:t>
            </a:r>
          </a:p>
        </p:txBody>
      </p:sp>
      <p:sp>
        <p:nvSpPr>
          <p:cNvPr id="13" name="Rectangle 12">
            <a:extLst>
              <a:ext uri="{FF2B5EF4-FFF2-40B4-BE49-F238E27FC236}">
                <a16:creationId xmlns:a16="http://schemas.microsoft.com/office/drawing/2014/main" id="{61240019-2928-4600-925F-23F6D9E5D331}"/>
              </a:ext>
            </a:extLst>
          </p:cNvPr>
          <p:cNvSpPr>
            <a:spLocks noGrp="1"/>
          </p:cNvSpPr>
          <p:nvPr/>
        </p:nvSpPr>
        <p:spPr>
          <a:xfrm>
            <a:off x="6286500" y="3619500"/>
            <a:ext cx="3333750" cy="333375"/>
          </a:xfrm>
          <a:prstGeom prst="rect">
            <a:avLst/>
          </a:prstGeom>
          <a:noFill/>
          <a:ln w="0">
            <a:noFill/>
          </a:ln>
        </p:spPr>
        <p:txBody>
          <a:bodyPr anchor="ctr">
            <a:normAutofit/>
          </a:bodyPr>
          <a:lstStyle/>
          <a:p>
            <a:pPr algn="l">
              <a:defRPr sz="1500" b="1">
                <a:solidFill>
                  <a:srgbClr val="276A8C"/>
                </a:solidFill>
                <a:latin typeface="DejaVu Sans"/>
                <a:ea typeface="DejaVu Sans"/>
                <a:cs typeface="DejaVu Sans"/>
              </a:defRPr>
            </a:pPr>
            <a:r>
              <a:rPr sz="1500" b="1">
                <a:solidFill>
                  <a:srgbClr val="276A8C"/>
                </a:solidFill>
                <a:latin typeface="DejaVu Sans"/>
                <a:ea typeface="DejaVu Sans"/>
                <a:cs typeface="DejaVu Sans"/>
              </a:rPr>
              <a:t>Dépôt proposé</a:t>
            </a:r>
          </a:p>
        </p:txBody>
      </p:sp>
      <p:sp>
        <p:nvSpPr>
          <p:cNvPr id="14" name="Rectangle 13">
            <a:extLst>
              <a:ext uri="{FF2B5EF4-FFF2-40B4-BE49-F238E27FC236}">
                <a16:creationId xmlns:a16="http://schemas.microsoft.com/office/drawing/2014/main" id="{62949BCE-EC1C-4129-BC15-2AEA22A15C83}"/>
              </a:ext>
            </a:extLst>
          </p:cNvPr>
          <p:cNvSpPr>
            <a:spLocks noGrp="1"/>
          </p:cNvSpPr>
          <p:nvPr/>
        </p:nvSpPr>
        <p:spPr>
          <a:xfrm>
            <a:off x="6286500" y="4048125"/>
            <a:ext cx="4095750" cy="1000125"/>
          </a:xfrm>
          <a:prstGeom prst="rect">
            <a:avLst/>
          </a:prstGeom>
          <a:noFill/>
          <a:ln w="0">
            <a:noFill/>
          </a:ln>
        </p:spPr>
        <p:txBody>
          <a:bodyPr anchor="ctr">
            <a:normAutofit/>
          </a:bodyPr>
          <a:lstStyle/>
          <a:p>
            <a:pPr algn="l">
              <a:defRPr sz="1425" b="0">
                <a:solidFill>
                  <a:srgbClr val="1D2935"/>
                </a:solidFill>
                <a:latin typeface="DejaVu Sans"/>
                <a:ea typeface="DejaVu Sans"/>
                <a:cs typeface="DejaVu Sans"/>
              </a:defRPr>
            </a:pPr>
            <a:r>
              <a:rPr sz="1425" b="0">
                <a:solidFill>
                  <a:srgbClr val="1D2935"/>
                </a:solidFill>
                <a:latin typeface="DejaVu Sans"/>
                <a:ea typeface="DejaVu Sans"/>
                <a:cs typeface="DejaVu Sans"/>
              </a:rPr>
              <a:t>Bloc administratif, supports de caissons, équipements et clôture.</a:t>
            </a:r>
          </a:p>
        </p:txBody>
      </p:sp>
    </p:spTree>
    <p:extLst>
      <p:ext uri="{BB962C8B-B14F-4D97-AF65-F5344CB8AC3E}">
        <p14:creationId xmlns:p14="http://schemas.microsoft.com/office/powerpoint/2010/main" val="51993384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3C5AADE-837A-4A88-B472-449ECA55B6C5}"/>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A0171003-72DB-4F67-B11D-75C441613CD0}"/>
              </a:ext>
            </a:extLst>
          </p:cNvPr>
          <p:cNvSpPr>
            <a:spLocks noGrp="1"/>
          </p:cNvSpPr>
          <p:nvPr/>
        </p:nvSpPr>
        <p:spPr>
          <a:xfrm>
            <a:off x="533400" y="323850"/>
            <a:ext cx="10858500" cy="571500"/>
          </a:xfrm>
          <a:prstGeom prst="rect">
            <a:avLst/>
          </a:prstGeom>
          <a:noFill/>
          <a:ln w="0">
            <a:noFill/>
          </a:ln>
        </p:spPr>
        <p:txBody>
          <a:bodyPr anchor="ctr">
            <a:normAutofit/>
          </a:bodyPr>
          <a:lstStyle/>
          <a:p>
            <a:pPr algn="l">
              <a:defRPr sz="2325" b="1">
                <a:solidFill>
                  <a:srgbClr val="17324D"/>
                </a:solidFill>
                <a:latin typeface="DejaVu Sans"/>
                <a:ea typeface="DejaVu Sans"/>
                <a:cs typeface="DejaVu Sans"/>
              </a:defRPr>
            </a:pPr>
            <a:r>
              <a:rPr sz="2325" b="1">
                <a:solidFill>
                  <a:srgbClr val="17324D"/>
                </a:solidFill>
                <a:latin typeface="DejaVu Sans"/>
                <a:ea typeface="DejaVu Sans"/>
                <a:cs typeface="DejaVu Sans"/>
              </a:rPr>
              <a:t>Synthèse financière du plan d’actions chiffré</a:t>
            </a:r>
          </a:p>
        </p:txBody>
      </p:sp>
      <p:sp>
        <p:nvSpPr>
          <p:cNvPr id="3" name="Rectangle 2">
            <a:extLst>
              <a:ext uri="{FF2B5EF4-FFF2-40B4-BE49-F238E27FC236}">
                <a16:creationId xmlns:a16="http://schemas.microsoft.com/office/drawing/2014/main" id="{0FA48953-5545-4C02-857D-189AFC656663}"/>
              </a:ext>
            </a:extLst>
          </p:cNvPr>
          <p:cNvSpPr>
            <a:spLocks noGrp="1"/>
          </p:cNvSpPr>
          <p:nvPr/>
        </p:nvSpPr>
        <p:spPr>
          <a:xfrm>
            <a:off x="552450" y="914400"/>
            <a:ext cx="7620000" cy="219075"/>
          </a:xfrm>
          <a:prstGeom prst="rect">
            <a:avLst/>
          </a:prstGeom>
          <a:noFill/>
          <a:ln w="0">
            <a:noFill/>
          </a:ln>
        </p:spPr>
        <p:txBody>
          <a:bodyPr anchor="ctr">
            <a:normAutofit fontScale="93056"/>
          </a:bodyPr>
          <a:lstStyle/>
          <a:p>
            <a:pPr algn="l">
              <a:defRPr sz="900" b="1">
                <a:solidFill>
                  <a:srgbClr val="276A8C"/>
                </a:solidFill>
                <a:latin typeface="DejaVu Sans"/>
                <a:ea typeface="DejaVu Sans"/>
                <a:cs typeface="DejaVu Sans"/>
              </a:defRPr>
            </a:pPr>
            <a:r>
              <a:rPr sz="900" b="1">
                <a:solidFill>
                  <a:srgbClr val="276A8C"/>
                </a:solidFill>
                <a:latin typeface="DejaVu Sans"/>
                <a:ea typeface="DejaVu Sans"/>
                <a:cs typeface="DejaVu Sans"/>
              </a:rPr>
              <a:t>V. PLAN D’ACTIONS</a:t>
            </a:r>
          </a:p>
        </p:txBody>
      </p:sp>
      <p:sp>
        <p:nvSpPr>
          <p:cNvPr id="4" name="Rectangle 3">
            <a:extLst>
              <a:ext uri="{FF2B5EF4-FFF2-40B4-BE49-F238E27FC236}">
                <a16:creationId xmlns:a16="http://schemas.microsoft.com/office/drawing/2014/main" id="{052906A3-78D2-4AC6-83B3-9843018883A3}"/>
              </a:ext>
            </a:extLst>
          </p:cNvPr>
          <p:cNvSpPr>
            <a:spLocks noGrp="1"/>
          </p:cNvSpPr>
          <p:nvPr/>
        </p:nvSpPr>
        <p:spPr>
          <a:xfrm>
            <a:off x="533400" y="1162050"/>
            <a:ext cx="11125200" cy="19050"/>
          </a:xfrm>
          <a:prstGeom prst="rect">
            <a:avLst/>
          </a:prstGeom>
          <a:solidFill>
            <a:srgbClr val="D9E1E5"/>
          </a:solidFill>
          <a:ln w="0">
            <a:noFill/>
          </a:ln>
        </p:spPr>
        <p:txBody>
          <a:bodyPr/>
          <a:lstStyle/>
          <a:p>
            <a:endParaRPr lang="fr-FR"/>
          </a:p>
        </p:txBody>
      </p:sp>
      <p:sp>
        <p:nvSpPr>
          <p:cNvPr id="5" name="Rectangle 4">
            <a:extLst>
              <a:ext uri="{FF2B5EF4-FFF2-40B4-BE49-F238E27FC236}">
                <a16:creationId xmlns:a16="http://schemas.microsoft.com/office/drawing/2014/main" id="{BD2E1E69-4793-444E-87CA-BBDF80EE7666}"/>
              </a:ext>
            </a:extLst>
          </p:cNvPr>
          <p:cNvSpPr>
            <a:spLocks noGrp="1"/>
          </p:cNvSpPr>
          <p:nvPr/>
        </p:nvSpPr>
        <p:spPr>
          <a:xfrm>
            <a:off x="11191875" y="6429375"/>
            <a:ext cx="428625" cy="190500"/>
          </a:xfrm>
          <a:prstGeom prst="rect">
            <a:avLst/>
          </a:prstGeom>
          <a:noFill/>
          <a:ln w="0">
            <a:noFill/>
          </a:ln>
        </p:spPr>
        <p:txBody>
          <a:bodyPr anchor="ctr">
            <a:normAutofit fontScale="86288" lnSpcReduction="10000"/>
          </a:bodyPr>
          <a:lstStyle/>
          <a:p>
            <a:pPr algn="r">
              <a:defRPr sz="825" b="0">
                <a:solidFill>
                  <a:srgbClr val="647481"/>
                </a:solidFill>
                <a:latin typeface="DejaVu Sans"/>
                <a:ea typeface="DejaVu Sans"/>
                <a:cs typeface="DejaVu Sans"/>
              </a:defRPr>
            </a:pPr>
            <a:r>
              <a:rPr sz="825" b="0">
                <a:solidFill>
                  <a:srgbClr val="647481"/>
                </a:solidFill>
                <a:latin typeface="DejaVu Sans"/>
                <a:ea typeface="DejaVu Sans"/>
                <a:cs typeface="DejaVu Sans"/>
              </a:rPr>
              <a:t>24</a:t>
            </a:r>
          </a:p>
        </p:txBody>
      </p:sp>
      <p:graphicFrame>
        <p:nvGraphicFramePr>
          <p:cNvPr id="16" name="Chart"/>
          <p:cNvGraphicFramePr/>
          <p:nvPr>
            <p:extLst>
              <p:ext uri="{D42A27DB-BD31-4B8C-83A1-F6EECF244321}">
                <p14:modId xmlns:p14="http://schemas.microsoft.com/office/powerpoint/2010/main" val="499137214"/>
              </p:ext>
            </p:extLst>
          </p:nvPr>
        </p:nvGraphicFramePr>
        <p:xfrm>
          <a:off x="666750" y="1476375"/>
          <a:ext cx="723900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a:extLst>
              <a:ext uri="{FF2B5EF4-FFF2-40B4-BE49-F238E27FC236}">
                <a16:creationId xmlns:a16="http://schemas.microsoft.com/office/drawing/2014/main" id="{15E781EF-488F-45CA-8CEE-95AD556F91D7}"/>
              </a:ext>
            </a:extLst>
          </p:cNvPr>
          <p:cNvSpPr>
            <a:spLocks noGrp="1"/>
          </p:cNvSpPr>
          <p:nvPr/>
        </p:nvSpPr>
        <p:spPr>
          <a:xfrm>
            <a:off x="8763000" y="1714500"/>
            <a:ext cx="2476500" cy="590550"/>
          </a:xfrm>
          <a:prstGeom prst="rect">
            <a:avLst/>
          </a:prstGeom>
          <a:noFill/>
          <a:ln w="0">
            <a:noFill/>
          </a:ln>
        </p:spPr>
        <p:txBody>
          <a:bodyPr anchor="ctr">
            <a:normAutofit/>
          </a:bodyPr>
          <a:lstStyle/>
          <a:p>
            <a:pPr algn="l">
              <a:defRPr sz="2775" b="1">
                <a:solidFill>
                  <a:srgbClr val="17324D"/>
                </a:solidFill>
                <a:latin typeface="DejaVu Sans"/>
                <a:ea typeface="DejaVu Sans"/>
                <a:cs typeface="DejaVu Sans"/>
              </a:defRPr>
            </a:pPr>
            <a:r>
              <a:rPr sz="2775" b="1">
                <a:solidFill>
                  <a:srgbClr val="17324D"/>
                </a:solidFill>
                <a:latin typeface="DejaVu Sans"/>
                <a:ea typeface="DejaVu Sans"/>
                <a:cs typeface="DejaVu Sans"/>
              </a:rPr>
              <a:t>≈ 766 M</a:t>
            </a:r>
          </a:p>
        </p:txBody>
      </p:sp>
      <p:sp>
        <p:nvSpPr>
          <p:cNvPr id="8" name="Rectangle 7">
            <a:extLst>
              <a:ext uri="{FF2B5EF4-FFF2-40B4-BE49-F238E27FC236}">
                <a16:creationId xmlns:a16="http://schemas.microsoft.com/office/drawing/2014/main" id="{8AAE924E-0737-4122-9625-7F45B37B0597}"/>
              </a:ext>
            </a:extLst>
          </p:cNvPr>
          <p:cNvSpPr>
            <a:spLocks noGrp="1"/>
          </p:cNvSpPr>
          <p:nvPr/>
        </p:nvSpPr>
        <p:spPr>
          <a:xfrm>
            <a:off x="8763000" y="2305050"/>
            <a:ext cx="2476500" cy="495300"/>
          </a:xfrm>
          <a:prstGeom prst="rect">
            <a:avLst/>
          </a:prstGeom>
          <a:noFill/>
          <a:ln w="0">
            <a:noFill/>
          </a:ln>
        </p:spPr>
        <p:txBody>
          <a:bodyPr anchor="ctr">
            <a:normAutofit/>
          </a:bodyPr>
          <a:lstStyle/>
          <a:p>
            <a:pPr algn="l">
              <a:defRPr sz="1200" b="0">
                <a:solidFill>
                  <a:srgbClr val="647481"/>
                </a:solidFill>
                <a:latin typeface="DejaVu Sans"/>
                <a:ea typeface="DejaVu Sans"/>
                <a:cs typeface="DejaVu Sans"/>
              </a:defRPr>
            </a:pPr>
            <a:r>
              <a:rPr sz="1200" b="0">
                <a:solidFill>
                  <a:srgbClr val="647481"/>
                </a:solidFill>
                <a:latin typeface="DejaVu Sans"/>
                <a:ea typeface="DejaVu Sans"/>
                <a:cs typeface="DejaVu Sans"/>
              </a:rPr>
              <a:t>FCFA TTC</a:t>
            </a:r>
          </a:p>
        </p:txBody>
      </p:sp>
      <p:sp>
        <p:nvSpPr>
          <p:cNvPr id="9" name="Rectangle 8">
            <a:extLst>
              <a:ext uri="{FF2B5EF4-FFF2-40B4-BE49-F238E27FC236}">
                <a16:creationId xmlns:a16="http://schemas.microsoft.com/office/drawing/2014/main" id="{22C7774B-4A44-450D-AD59-1DAF28C45BCA}"/>
              </a:ext>
            </a:extLst>
          </p:cNvPr>
          <p:cNvSpPr>
            <a:spLocks noGrp="1"/>
          </p:cNvSpPr>
          <p:nvPr/>
        </p:nvSpPr>
        <p:spPr>
          <a:xfrm>
            <a:off x="8763000" y="3238500"/>
            <a:ext cx="2571750" cy="904875"/>
          </a:xfrm>
          <a:prstGeom prst="rect">
            <a:avLst/>
          </a:prstGeom>
          <a:noFill/>
          <a:ln w="0">
            <a:noFill/>
          </a:ln>
        </p:spPr>
        <p:txBody>
          <a:bodyPr anchor="ctr">
            <a:normAutofit fontScale="99544"/>
          </a:bodyPr>
          <a:lstStyle/>
          <a:p>
            <a:pPr algn="l">
              <a:defRPr sz="1275" b="1">
                <a:solidFill>
                  <a:srgbClr val="C94B45"/>
                </a:solidFill>
                <a:latin typeface="DejaVu Sans"/>
                <a:ea typeface="DejaVu Sans"/>
                <a:cs typeface="DejaVu Sans"/>
              </a:defRPr>
            </a:pPr>
            <a:r>
              <a:rPr sz="1275" b="1" dirty="0">
                <a:solidFill>
                  <a:srgbClr val="C94B45"/>
                </a:solidFill>
                <a:latin typeface="DejaVu Sans"/>
                <a:ea typeface="DejaVu Sans"/>
                <a:cs typeface="DejaVu Sans"/>
              </a:rPr>
              <a:t>Hors </a:t>
            </a:r>
            <a:r>
              <a:rPr sz="1275" b="1" dirty="0" err="1">
                <a:solidFill>
                  <a:srgbClr val="C94B45"/>
                </a:solidFill>
                <a:latin typeface="DejaVu Sans"/>
                <a:ea typeface="DejaVu Sans"/>
                <a:cs typeface="DejaVu Sans"/>
              </a:rPr>
              <a:t>coûts</a:t>
            </a:r>
            <a:r>
              <a:rPr lang="fr-FR" sz="1275" b="1" dirty="0">
                <a:solidFill>
                  <a:srgbClr val="C94B45"/>
                </a:solidFill>
                <a:latin typeface="DejaVu Sans"/>
                <a:ea typeface="DejaVu Sans"/>
                <a:cs typeface="DejaVu Sans"/>
              </a:rPr>
              <a:t> du</a:t>
            </a:r>
            <a:r>
              <a:rPr sz="1275" b="1" dirty="0">
                <a:solidFill>
                  <a:srgbClr val="C94B45"/>
                </a:solidFill>
                <a:latin typeface="DejaVu Sans"/>
                <a:ea typeface="DejaVu Sans"/>
                <a:cs typeface="DejaVu Sans"/>
              </a:rPr>
              <a:t> </a:t>
            </a:r>
            <a:r>
              <a:rPr sz="1275" b="1" dirty="0" err="1">
                <a:solidFill>
                  <a:srgbClr val="C94B45"/>
                </a:solidFill>
                <a:latin typeface="DejaVu Sans"/>
                <a:ea typeface="DejaVu Sans"/>
                <a:cs typeface="DejaVu Sans"/>
              </a:rPr>
              <a:t>foncier</a:t>
            </a:r>
            <a:r>
              <a:rPr sz="1275" b="1" dirty="0">
                <a:solidFill>
                  <a:srgbClr val="C94B45"/>
                </a:solidFill>
                <a:latin typeface="DejaVu Sans"/>
                <a:ea typeface="DejaVu Sans"/>
                <a:cs typeface="DejaVu Sans"/>
              </a:rPr>
              <a:t>,</a:t>
            </a:r>
            <a:r>
              <a:rPr lang="fr-FR" sz="1275" b="1" dirty="0">
                <a:solidFill>
                  <a:srgbClr val="C94B45"/>
                </a:solidFill>
                <a:latin typeface="DejaVu Sans"/>
                <a:ea typeface="DejaVu Sans"/>
                <a:cs typeface="DejaVu Sans"/>
              </a:rPr>
              <a:t> des</a:t>
            </a:r>
            <a:r>
              <a:rPr sz="1275" b="1" dirty="0">
                <a:solidFill>
                  <a:srgbClr val="C94B45"/>
                </a:solidFill>
                <a:latin typeface="DejaVu Sans"/>
                <a:ea typeface="DejaVu Sans"/>
                <a:cs typeface="DejaVu Sans"/>
              </a:rPr>
              <a:t> études et </a:t>
            </a:r>
            <a:r>
              <a:rPr sz="1275" b="1" dirty="0" err="1">
                <a:solidFill>
                  <a:srgbClr val="C94B45"/>
                </a:solidFill>
                <a:latin typeface="DejaVu Sans"/>
                <a:ea typeface="DejaVu Sans"/>
                <a:cs typeface="DejaVu Sans"/>
              </a:rPr>
              <a:t>maîtrise</a:t>
            </a:r>
            <a:r>
              <a:rPr sz="1275" b="1" dirty="0">
                <a:solidFill>
                  <a:srgbClr val="C94B45"/>
                </a:solidFill>
                <a:latin typeface="DejaVu Sans"/>
                <a:ea typeface="DejaVu Sans"/>
                <a:cs typeface="DejaVu Sans"/>
              </a:rPr>
              <a:t> </a:t>
            </a:r>
            <a:r>
              <a:rPr sz="1275" b="1" dirty="0" err="1">
                <a:solidFill>
                  <a:srgbClr val="C94B45"/>
                </a:solidFill>
                <a:latin typeface="DejaVu Sans"/>
                <a:ea typeface="DejaVu Sans"/>
                <a:cs typeface="DejaVu Sans"/>
              </a:rPr>
              <a:t>d’œuvre</a:t>
            </a:r>
            <a:r>
              <a:rPr sz="1275" b="1" dirty="0">
                <a:solidFill>
                  <a:srgbClr val="C94B45"/>
                </a:solidFill>
                <a:latin typeface="DejaVu Sans"/>
                <a:ea typeface="DejaVu Sans"/>
                <a:cs typeface="DejaVu Sans"/>
              </a:rPr>
              <a:t>.</a:t>
            </a:r>
          </a:p>
        </p:txBody>
      </p:sp>
      <p:sp>
        <p:nvSpPr>
          <p:cNvPr id="10" name="Rectangle 9">
            <a:extLst>
              <a:ext uri="{FF2B5EF4-FFF2-40B4-BE49-F238E27FC236}">
                <a16:creationId xmlns:a16="http://schemas.microsoft.com/office/drawing/2014/main" id="{1FFCD912-B0FB-468D-936C-6207DDE3DFF2}"/>
              </a:ext>
            </a:extLst>
          </p:cNvPr>
          <p:cNvSpPr>
            <a:spLocks noGrp="1"/>
          </p:cNvSpPr>
          <p:nvPr/>
        </p:nvSpPr>
        <p:spPr>
          <a:xfrm>
            <a:off x="8763000" y="4524375"/>
            <a:ext cx="2571750" cy="666750"/>
          </a:xfrm>
          <a:prstGeom prst="rect">
            <a:avLst/>
          </a:prstGeom>
          <a:noFill/>
          <a:ln w="0">
            <a:noFill/>
          </a:ln>
        </p:spPr>
        <p:txBody>
          <a:bodyPr anchor="ctr">
            <a:normAutofit fontScale="93210" lnSpcReduction="10000"/>
          </a:bodyPr>
          <a:lstStyle/>
          <a:p>
            <a:pPr algn="l">
              <a:defRPr sz="1350" b="1">
                <a:solidFill>
                  <a:srgbClr val="276A8C"/>
                </a:solidFill>
                <a:latin typeface="DejaVu Sans"/>
                <a:ea typeface="DejaVu Sans"/>
                <a:cs typeface="DejaVu Sans"/>
              </a:defRPr>
            </a:pPr>
            <a:r>
              <a:rPr lang="fr-FR" sz="1350" b="1" noProof="0" dirty="0">
                <a:solidFill>
                  <a:srgbClr val="276A8C"/>
                </a:solidFill>
                <a:latin typeface="DejaVu Sans"/>
                <a:ea typeface="DejaVu Sans"/>
                <a:cs typeface="DejaVu Sans"/>
              </a:rPr>
              <a:t>À valider : quantités, sites, phasage et financement.</a:t>
            </a:r>
          </a:p>
        </p:txBody>
      </p:sp>
    </p:spTree>
    <p:extLst>
      <p:ext uri="{BB962C8B-B14F-4D97-AF65-F5344CB8AC3E}">
        <p14:creationId xmlns:p14="http://schemas.microsoft.com/office/powerpoint/2010/main" val="206172455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8C764797-1630-4938-09A6-7C583806E29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66093491-4F4F-3CD6-0133-BEB71F7F474D}"/>
              </a:ext>
            </a:extLst>
          </p:cNvPr>
          <p:cNvSpPr/>
          <p:nvPr/>
        </p:nvSpPr>
        <p:spPr>
          <a:xfrm>
            <a:off x="-67377" y="2571750"/>
            <a:ext cx="12840101" cy="44931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7526ED8-8913-B36C-2DF7-206EC45044F0}"/>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2" name="Rectangle 1">
            <a:extLst>
              <a:ext uri="{FF2B5EF4-FFF2-40B4-BE49-F238E27FC236}">
                <a16:creationId xmlns:a16="http://schemas.microsoft.com/office/drawing/2014/main" id="{252C44DF-50AD-9157-4D8D-86137C2C7696}"/>
              </a:ext>
            </a:extLst>
          </p:cNvPr>
          <p:cNvSpPr>
            <a:spLocks noGrp="1"/>
          </p:cNvSpPr>
          <p:nvPr/>
        </p:nvSpPr>
        <p:spPr>
          <a:xfrm>
            <a:off x="781050" y="809625"/>
            <a:ext cx="3810000" cy="428625"/>
          </a:xfrm>
          <a:prstGeom prst="rect">
            <a:avLst/>
          </a:prstGeom>
          <a:noFill/>
          <a:ln w="0">
            <a:noFill/>
          </a:ln>
        </p:spPr>
        <p:txBody>
          <a:bodyPr anchor="ctr">
            <a:normAutofit/>
          </a:bodyPr>
          <a:lstStyle/>
          <a:p>
            <a:pPr algn="l">
              <a:defRPr sz="1500" b="1">
                <a:solidFill>
                  <a:srgbClr val="E8C47A"/>
                </a:solidFill>
                <a:latin typeface="DejaVu Sans"/>
                <a:ea typeface="DejaVu Sans"/>
                <a:cs typeface="DejaVu Sans"/>
              </a:defRPr>
            </a:pPr>
            <a:r>
              <a:rPr sz="1500" b="1">
                <a:solidFill>
                  <a:srgbClr val="E8C47A"/>
                </a:solidFill>
                <a:latin typeface="DejaVu Sans"/>
                <a:ea typeface="DejaVu Sans"/>
                <a:cs typeface="DejaVu Sans"/>
              </a:rPr>
              <a:t>VI. CONCLUSION</a:t>
            </a:r>
          </a:p>
        </p:txBody>
      </p:sp>
      <p:sp>
        <p:nvSpPr>
          <p:cNvPr id="3" name="Rectangle 2">
            <a:extLst>
              <a:ext uri="{FF2B5EF4-FFF2-40B4-BE49-F238E27FC236}">
                <a16:creationId xmlns:a16="http://schemas.microsoft.com/office/drawing/2014/main" id="{247B3DD8-59E6-0FB6-E885-8221A0F510C1}"/>
              </a:ext>
            </a:extLst>
          </p:cNvPr>
          <p:cNvSpPr>
            <a:spLocks noGrp="1"/>
          </p:cNvSpPr>
          <p:nvPr/>
        </p:nvSpPr>
        <p:spPr>
          <a:xfrm>
            <a:off x="781050" y="1571625"/>
            <a:ext cx="10001250" cy="1000125"/>
          </a:xfrm>
          <a:prstGeom prst="rect">
            <a:avLst/>
          </a:prstGeom>
          <a:noFill/>
          <a:ln w="0">
            <a:noFill/>
          </a:ln>
        </p:spPr>
        <p:txBody>
          <a:bodyPr anchor="ctr">
            <a:normAutofit fontScale="92500"/>
          </a:bodyPr>
          <a:lstStyle/>
          <a:p>
            <a:pPr algn="l">
              <a:defRPr sz="2925" b="1">
                <a:solidFill>
                  <a:srgbClr val="FFFFFF"/>
                </a:solidFill>
                <a:latin typeface="DejaVu Sans"/>
                <a:ea typeface="DejaVu Sans"/>
                <a:cs typeface="DejaVu Sans"/>
              </a:defRPr>
            </a:pPr>
            <a:r>
              <a:rPr lang="fr-FR" sz="2925" b="1" noProof="0" dirty="0">
                <a:solidFill>
                  <a:srgbClr val="FFFFFF"/>
                </a:solidFill>
                <a:latin typeface="DejaVu Sans"/>
                <a:ea typeface="DejaVu Sans"/>
                <a:cs typeface="DejaVu Sans"/>
              </a:rPr>
              <a:t>Les écarts d’accès aux services sociaux de base restent marqués entre les quartiers de Kayes</a:t>
            </a:r>
          </a:p>
        </p:txBody>
      </p:sp>
      <p:sp>
        <p:nvSpPr>
          <p:cNvPr id="6" name="ZoneTexte 5">
            <a:extLst>
              <a:ext uri="{FF2B5EF4-FFF2-40B4-BE49-F238E27FC236}">
                <a16:creationId xmlns:a16="http://schemas.microsoft.com/office/drawing/2014/main" id="{C55BD834-FDEE-F07D-A8DF-6EA11F9E5382}"/>
              </a:ext>
            </a:extLst>
          </p:cNvPr>
          <p:cNvSpPr txBox="1"/>
          <p:nvPr/>
        </p:nvSpPr>
        <p:spPr>
          <a:xfrm>
            <a:off x="781051" y="2905125"/>
            <a:ext cx="10744200" cy="3477875"/>
          </a:xfrm>
          <a:prstGeom prst="rect">
            <a:avLst/>
          </a:prstGeom>
          <a:noFill/>
        </p:spPr>
        <p:txBody>
          <a:bodyPr wrap="square">
            <a:spAutoFit/>
          </a:bodyPr>
          <a:lstStyle/>
          <a:p>
            <a:pPr algn="just">
              <a:buNone/>
            </a:pPr>
            <a:r>
              <a:rPr lang="fr-FR" sz="2200" b="1" dirty="0">
                <a:solidFill>
                  <a:schemeClr val="tx2"/>
                </a:solidFill>
              </a:rPr>
              <a:t>L’étude met en évidence d’importantes disparités entre les quartiers de Kayes dans l’accès à l’eau potable, à l’électricité, à la santé, à l’éducation et à l’assainissement. Liées notamment à la croissance démographique, à l’extension rapide de la ville et à l’insuffisance des investissements, ces inégalités nécessitent des interventions ciblées et coordonnées. </a:t>
            </a:r>
          </a:p>
          <a:p>
            <a:pPr algn="just">
              <a:buNone/>
            </a:pPr>
            <a:endParaRPr lang="fr-FR" sz="2200" b="1" dirty="0">
              <a:solidFill>
                <a:schemeClr val="tx2"/>
              </a:solidFill>
            </a:endParaRPr>
          </a:p>
          <a:p>
            <a:pPr algn="just">
              <a:buNone/>
            </a:pPr>
            <a:r>
              <a:rPr lang="fr-FR" sz="2200" b="1" dirty="0">
                <a:solidFill>
                  <a:schemeClr val="tx2"/>
                </a:solidFill>
              </a:rPr>
              <a:t>Les besoins prioritaires et les actions proposées constituent ainsi une base opérationnelle pour orienter les interventions de l’État, de la Commune urbaine de Kayes, de l’ONAV et des partenaires au développement, afin de garantir un accès plus équitable aux services sociaux de base et de construire une ville plus inclusive, résiliente et durable.</a:t>
            </a:r>
          </a:p>
        </p:txBody>
      </p:sp>
    </p:spTree>
    <p:extLst>
      <p:ext uri="{BB962C8B-B14F-4D97-AF65-F5344CB8AC3E}">
        <p14:creationId xmlns:p14="http://schemas.microsoft.com/office/powerpoint/2010/main" val="1192437774"/>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a:extLst>
            <a:ext uri="{FF2B5EF4-FFF2-40B4-BE49-F238E27FC236}">
              <a16:creationId xmlns:a16="http://schemas.microsoft.com/office/drawing/2014/main" id="{0342A9BD-EF3B-FB01-7DE6-CC4491AD68B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A773A76-0D6D-8F4C-F892-02295BDD25C2}"/>
              </a:ext>
            </a:extLst>
          </p:cNvPr>
          <p:cNvSpPr/>
          <p:nvPr/>
        </p:nvSpPr>
        <p:spPr>
          <a:xfrm>
            <a:off x="-67377" y="2571750"/>
            <a:ext cx="12840101" cy="44931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EE88B8-7F5B-95FA-76BB-DA3893D1B918}"/>
              </a:ext>
            </a:extLst>
          </p:cNvPr>
          <p:cNvSpPr>
            <a:spLocks noGrp="1"/>
          </p:cNvSpPr>
          <p:nvPr/>
        </p:nvSpPr>
        <p:spPr>
          <a:xfrm>
            <a:off x="0" y="0"/>
            <a:ext cx="171450" cy="6858000"/>
          </a:xfrm>
          <a:prstGeom prst="rect">
            <a:avLst/>
          </a:prstGeom>
          <a:solidFill>
            <a:srgbClr val="E8C47A"/>
          </a:solidFill>
          <a:ln w="0">
            <a:noFill/>
          </a:ln>
        </p:spPr>
        <p:txBody>
          <a:bodyPr/>
          <a:lstStyle/>
          <a:p>
            <a:endParaRPr lang="fr-FR"/>
          </a:p>
        </p:txBody>
      </p:sp>
      <p:sp>
        <p:nvSpPr>
          <p:cNvPr id="3" name="Rectangle 2">
            <a:extLst>
              <a:ext uri="{FF2B5EF4-FFF2-40B4-BE49-F238E27FC236}">
                <a16:creationId xmlns:a16="http://schemas.microsoft.com/office/drawing/2014/main" id="{0A9E70D1-5A68-C1B1-AA34-4ABF2B1B1835}"/>
              </a:ext>
            </a:extLst>
          </p:cNvPr>
          <p:cNvSpPr>
            <a:spLocks noGrp="1"/>
          </p:cNvSpPr>
          <p:nvPr/>
        </p:nvSpPr>
        <p:spPr>
          <a:xfrm>
            <a:off x="171450" y="1571625"/>
            <a:ext cx="12020550" cy="1000125"/>
          </a:xfrm>
          <a:prstGeom prst="rect">
            <a:avLst/>
          </a:prstGeom>
          <a:noFill/>
          <a:ln w="0">
            <a:noFill/>
          </a:ln>
        </p:spPr>
        <p:txBody>
          <a:bodyPr anchor="ctr">
            <a:normAutofit/>
          </a:bodyPr>
          <a:lstStyle/>
          <a:p>
            <a:pPr algn="ctr">
              <a:defRPr sz="2925" b="1">
                <a:solidFill>
                  <a:srgbClr val="FFFFFF"/>
                </a:solidFill>
                <a:latin typeface="DejaVu Sans"/>
                <a:ea typeface="DejaVu Sans"/>
                <a:cs typeface="DejaVu Sans"/>
              </a:defRPr>
            </a:pPr>
            <a:r>
              <a:rPr lang="fr-FR" sz="2925" b="1" noProof="0" dirty="0">
                <a:solidFill>
                  <a:srgbClr val="FFFFFF"/>
                </a:solidFill>
                <a:latin typeface="DejaVu Sans"/>
                <a:ea typeface="DejaVu Sans"/>
                <a:cs typeface="DejaVu Sans"/>
              </a:rPr>
              <a:t>Je vous remercie.</a:t>
            </a:r>
          </a:p>
        </p:txBody>
      </p:sp>
    </p:spTree>
    <p:extLst>
      <p:ext uri="{BB962C8B-B14F-4D97-AF65-F5344CB8AC3E}">
        <p14:creationId xmlns:p14="http://schemas.microsoft.com/office/powerpoint/2010/main" val="3523263384"/>
      </p:ext>
    </p:extLst>
  </p:cSld>
  <p:clrMapOvr>
    <a:masterClrMapping/>
  </p:clrMapOvr>
  <p:transition spd="slow">
    <p:cover/>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1411</Words>
  <Application>Microsoft Office PowerPoint</Application>
  <DocSecurity>0</DocSecurity>
  <PresentationFormat>Grand écran</PresentationFormat>
  <Paragraphs>273</Paragraphs>
  <Slides>29</Slides>
  <Notes>29</Notes>
  <HiddenSlides>0</HiddenSlides>
  <MMClips>0</MMClips>
  <ScaleCrop>false</ScaleCrop>
  <HeadingPairs>
    <vt:vector size="4" baseType="variant">
      <vt:variant>
        <vt:lpstr>Thème</vt:lpstr>
      </vt:variant>
      <vt:variant>
        <vt:i4>1</vt:i4>
      </vt:variant>
      <vt:variant>
        <vt:lpstr>Titres des diapositives</vt:lpstr>
      </vt:variant>
      <vt:variant>
        <vt:i4>29</vt:i4>
      </vt:variant>
    </vt:vector>
  </HeadingPairs>
  <TitlesOfParts>
    <vt:vector size="30" baseType="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François DANIOKO</cp:lastModifiedBy>
  <cp:revision>2</cp:revision>
  <dcterms:created xsi:type="dcterms:W3CDTF">2026-09-11T17:03:46Z</dcterms:created>
  <dcterms:modified xsi:type="dcterms:W3CDTF">2026-09-17T00:19:02Z</dcterms:modified>
</cp:coreProperties>
</file>